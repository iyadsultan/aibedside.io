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10.jpg"/><Relationship Id="rId5"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1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 Id="rId4" Type="http://schemas.openxmlformats.org/officeDocument/2006/relationships/image" Target="../media/image2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2.png"/><Relationship Id="rId4" Type="http://schemas.openxmlformats.org/officeDocument/2006/relationships/image" Target="../media/image2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 Id="rId4" Type="http://schemas.openxmlformats.org/officeDocument/2006/relationships/image" Target="../media/image2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 Id="rId4" Type="http://schemas.openxmlformats.org/officeDocument/2006/relationships/image" Target="../media/image2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0.png"/><Relationship Id="rId4" Type="http://schemas.openxmlformats.org/officeDocument/2006/relationships/image" Target="../media/image3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0.png"/><Relationship Id="rId4" Type="http://schemas.openxmlformats.org/officeDocument/2006/relationships/image" Target="../media/image32.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0.png"/><Relationship Id="rId4" Type="http://schemas.openxmlformats.org/officeDocument/2006/relationships/image" Target="../media/image33.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02336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0"/>
            <a:ext cx="146304"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766560"/>
            <a:ext cx="12191695" cy="9144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685800"/>
            <a:ext cx="7315200" cy="320040"/>
          </a:xfrm>
          <a:prstGeom prst="rect">
            <a:avLst/>
          </a:prstGeom>
          <a:noFill/>
        </p:spPr>
        <p:txBody>
          <a:bodyPr wrap="square" anchor="t" lIns="0" rIns="0" tIns="0" bIns="0"/>
          <a:lstStyle/>
          <a:p>
            <a:pPr algn="l">
              <a:lnSpc>
                <a:spcPct val="115000"/>
              </a:lnSpc>
              <a:spcAft>
                <a:spcPts val="400"/>
              </a:spcAft>
            </a:pPr>
            <a:r>
              <a:rPr sz="1300" b="1" i="0">
                <a:solidFill>
                  <a:srgbClr val="EC008C"/>
                </a:solidFill>
                <a:latin typeface="Calibri"/>
              </a:rPr>
              <a:t>SIOP 2026  ·  GLOBAL HEALTH SESSION</a:t>
            </a:r>
          </a:p>
        </p:txBody>
      </p:sp>
      <p:sp>
        <p:nvSpPr>
          <p:cNvPr id="7" name="TextBox 6"/>
          <p:cNvSpPr txBox="1"/>
          <p:nvPr/>
        </p:nvSpPr>
        <p:spPr>
          <a:xfrm>
            <a:off x="731520" y="1051560"/>
            <a:ext cx="7315200" cy="1280160"/>
          </a:xfrm>
          <a:prstGeom prst="rect">
            <a:avLst/>
          </a:prstGeom>
          <a:noFill/>
        </p:spPr>
        <p:txBody>
          <a:bodyPr wrap="square" anchor="t" lIns="0" rIns="0" tIns="0" bIns="0"/>
          <a:lstStyle/>
          <a:p>
            <a:pPr algn="l">
              <a:lnSpc>
                <a:spcPct val="100000"/>
              </a:lnSpc>
              <a:spcAft>
                <a:spcPts val="400"/>
              </a:spcAft>
            </a:pPr>
            <a:r>
              <a:rPr sz="6000" b="1" i="0">
                <a:solidFill>
                  <a:srgbClr val="21409A"/>
                </a:solidFill>
                <a:latin typeface="Calibri"/>
              </a:rPr>
              <a:t>AI at the Bedside</a:t>
            </a:r>
          </a:p>
        </p:txBody>
      </p:sp>
      <p:sp>
        <p:nvSpPr>
          <p:cNvPr id="8" name="TextBox 7"/>
          <p:cNvSpPr txBox="1"/>
          <p:nvPr/>
        </p:nvSpPr>
        <p:spPr>
          <a:xfrm>
            <a:off x="731520" y="2286000"/>
            <a:ext cx="6583680" cy="1097280"/>
          </a:xfrm>
          <a:prstGeom prst="rect">
            <a:avLst/>
          </a:prstGeom>
          <a:noFill/>
        </p:spPr>
        <p:txBody>
          <a:bodyPr wrap="square" anchor="t" lIns="0" rIns="0" tIns="0" bIns="0"/>
          <a:lstStyle/>
          <a:p>
            <a:pPr algn="l">
              <a:lnSpc>
                <a:spcPct val="115000"/>
              </a:lnSpc>
              <a:spcAft>
                <a:spcPts val="400"/>
              </a:spcAft>
            </a:pPr>
            <a:r>
              <a:rPr sz="1800" b="0" i="0">
                <a:solidFill>
                  <a:srgbClr val="607D8B"/>
                </a:solidFill>
                <a:latin typeface="Calibri"/>
              </a:rPr>
              <a:t>A practical introduction for the whole childhood-cancer team. One hour, ten short blocks, every demo runnable at home.</a:t>
            </a:r>
          </a:p>
        </p:txBody>
      </p:sp>
      <p:sp>
        <p:nvSpPr>
          <p:cNvPr id="9" name="TextBox 8"/>
          <p:cNvSpPr txBox="1"/>
          <p:nvPr/>
        </p:nvSpPr>
        <p:spPr>
          <a:xfrm>
            <a:off x="731520" y="3291840"/>
            <a:ext cx="7315200" cy="365760"/>
          </a:xfrm>
          <a:prstGeom prst="rect">
            <a:avLst/>
          </a:prstGeom>
          <a:noFill/>
        </p:spPr>
        <p:txBody>
          <a:bodyPr wrap="square" anchor="t" lIns="0" rIns="0" tIns="0" bIns="0"/>
          <a:lstStyle/>
          <a:p>
            <a:pPr algn="l">
              <a:lnSpc>
                <a:spcPct val="115000"/>
              </a:lnSpc>
              <a:spcAft>
                <a:spcPts val="400"/>
              </a:spcAft>
            </a:pPr>
            <a:r>
              <a:rPr sz="1500" b="1" i="0">
                <a:solidFill>
                  <a:srgbClr val="1B2A4A"/>
                </a:solidFill>
                <a:latin typeface="Calibri"/>
              </a:rPr>
              <a:t>Iyad Sultan, MD  ·  King Hussein Cancer Center</a:t>
            </a:r>
          </a:p>
        </p:txBody>
      </p:sp>
      <p:pic>
        <p:nvPicPr>
          <p:cNvPr id="10" name="Picture 9" descr="logo-siop.png"/>
          <p:cNvPicPr>
            <a:picLocks noChangeAspect="1"/>
          </p:cNvPicPr>
          <p:nvPr/>
        </p:nvPicPr>
        <p:blipFill>
          <a:blip r:embed="rId2"/>
          <a:stretch>
            <a:fillRect/>
          </a:stretch>
        </p:blipFill>
        <p:spPr>
          <a:xfrm>
            <a:off x="731520" y="4448359"/>
            <a:ext cx="4206240" cy="1527442"/>
          </a:xfrm>
          <a:prstGeom prst="rect">
            <a:avLst/>
          </a:prstGeom>
        </p:spPr>
      </p:pic>
      <p:sp>
        <p:nvSpPr>
          <p:cNvPr id="11" name="TextBox 10"/>
          <p:cNvSpPr txBox="1"/>
          <p:nvPr/>
        </p:nvSpPr>
        <p:spPr>
          <a:xfrm>
            <a:off x="731520" y="5989320"/>
            <a:ext cx="5486400"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SAN ANTONIO  ·  15–18 SEPTEMBER 2026</a:t>
            </a:r>
          </a:p>
        </p:txBody>
      </p:sp>
      <p:sp>
        <p:nvSpPr>
          <p:cNvPr id="12" name="Rounded Rectangle 11"/>
          <p:cNvSpPr/>
          <p:nvPr/>
        </p:nvSpPr>
        <p:spPr>
          <a:xfrm>
            <a:off x="7711135" y="4343400"/>
            <a:ext cx="3931920" cy="1828800"/>
          </a:xfrm>
          <a:prstGeom prst="roundRect">
            <a:avLst>
              <a:gd name="adj" fmla="val 10000"/>
            </a:avLst>
          </a:prstGeom>
          <a:solidFill>
            <a:srgbClr val="FDE8F4"/>
          </a:solidFill>
          <a:ln w="9525">
            <a:solidFill>
              <a:srgbClr val="B8D0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894015" y="4526280"/>
            <a:ext cx="146304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qr-home.png"/>
          <p:cNvPicPr>
            <a:picLocks noChangeAspect="1"/>
          </p:cNvPicPr>
          <p:nvPr/>
        </p:nvPicPr>
        <p:blipFill>
          <a:blip r:embed="rId3"/>
          <a:stretch>
            <a:fillRect/>
          </a:stretch>
        </p:blipFill>
        <p:spPr>
          <a:xfrm>
            <a:off x="7939735" y="4572000"/>
            <a:ext cx="1371600" cy="1371600"/>
          </a:xfrm>
          <a:prstGeom prst="rect">
            <a:avLst/>
          </a:prstGeom>
        </p:spPr>
      </p:pic>
      <p:sp>
        <p:nvSpPr>
          <p:cNvPr id="15" name="TextBox 14"/>
          <p:cNvSpPr txBox="1"/>
          <p:nvPr/>
        </p:nvSpPr>
        <p:spPr>
          <a:xfrm>
            <a:off x="9539935" y="4663440"/>
            <a:ext cx="2011680" cy="320040"/>
          </a:xfrm>
          <a:prstGeom prst="rect">
            <a:avLst/>
          </a:prstGeom>
          <a:noFill/>
        </p:spPr>
        <p:txBody>
          <a:bodyPr wrap="square" anchor="t" lIns="0" rIns="0" tIns="0" bIns="0"/>
          <a:lstStyle/>
          <a:p>
            <a:pPr algn="l">
              <a:lnSpc>
                <a:spcPct val="115000"/>
              </a:lnSpc>
              <a:spcAft>
                <a:spcPts val="400"/>
              </a:spcAft>
            </a:pPr>
            <a:r>
              <a:rPr sz="1500" b="1" i="0">
                <a:solidFill>
                  <a:srgbClr val="034EA2"/>
                </a:solidFill>
                <a:latin typeface="Calibri"/>
              </a:rPr>
              <a:t>Quick Access</a:t>
            </a:r>
          </a:p>
        </p:txBody>
      </p:sp>
      <p:sp>
        <p:nvSpPr>
          <p:cNvPr id="16" name="TextBox 15"/>
          <p:cNvSpPr txBox="1"/>
          <p:nvPr/>
        </p:nvSpPr>
        <p:spPr>
          <a:xfrm>
            <a:off x="9539935" y="5029200"/>
            <a:ext cx="2011680" cy="100584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Open your phone camera and scan to bookmark the companion site. Every demo in this deck is there, runnable at home.</a:t>
            </a:r>
          </a:p>
        </p:txBody>
      </p:sp>
      <p:sp>
        <p:nvSpPr>
          <p:cNvPr id="17" name="TextBox 16"/>
          <p:cNvSpPr txBox="1"/>
          <p:nvPr/>
        </p:nvSpPr>
        <p:spPr>
          <a:xfrm>
            <a:off x="7711135" y="6208776"/>
            <a:ext cx="3931920" cy="274320"/>
          </a:xfrm>
          <a:prstGeom prst="rect">
            <a:avLst/>
          </a:prstGeom>
          <a:noFill/>
        </p:spPr>
        <p:txBody>
          <a:bodyPr wrap="none" anchor="ctr" lIns="0" rIns="0" tIns="0" bIns="0"/>
          <a:lstStyle/>
          <a:p>
            <a:pPr algn="ctr"/>
            <a:fld id="{a8661155-48a9-4424-abe3-4b4d6de72f82}" type="datetime9">
              <a:rPr lang="en-US" sz="1600" b="1" dirty="0" smtClean="0">
                <a:solidFill>
                  <a:srgbClr val="21409A"/>
                </a:solidFill>
                <a:latin typeface="Calibri"/>
              </a:rPr>
              <a:t>1:03 AM</a:t>
            </a:fld>
          </a:p>
        </p:txBody>
      </p:sp>
      <p:pic>
        <p:nvPicPr>
          <p:cNvPr id="18" name="Picture 17" descr="android-chrome-512x512.png"/>
          <p:cNvPicPr>
            <a:picLocks noChangeAspect="1"/>
          </p:cNvPicPr>
          <p:nvPr/>
        </p:nvPicPr>
        <p:blipFill>
          <a:blip r:embed="rId4"/>
          <a:stretch>
            <a:fillRect/>
          </a:stretch>
        </p:blipFill>
        <p:spPr>
          <a:xfrm>
            <a:off x="8716975" y="822960"/>
            <a:ext cx="2560320" cy="2560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RUN OF SHOW</a:t>
            </a:r>
          </a:p>
        </p:txBody>
      </p:sp>
      <p:sp>
        <p:nvSpPr>
          <p:cNvPr id="8" name="Rounded Rectangle 7"/>
          <p:cNvSpPr/>
          <p:nvPr/>
        </p:nvSpPr>
        <p:spPr>
          <a:xfrm>
            <a:off x="11222431" y="658368"/>
            <a:ext cx="822960" cy="34747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204143" y="713232"/>
            <a:ext cx="859536" cy="237744"/>
          </a:xfrm>
          <a:prstGeom prst="rect">
            <a:avLst/>
          </a:prstGeom>
          <a:noFill/>
        </p:spPr>
        <p:txBody>
          <a:bodyPr wrap="none" anchor="ctr" lIns="0" rIns="0" tIns="0" bIns="0"/>
          <a:lstStyle/>
          <a:p>
            <a:pPr algn="ctr"/>
            <a:fld id="{5862bd2a-ab26-40a8-9b0d-631df5ca7f5e}" type="datetime9">
              <a:rPr lang="en-US" sz="1400" b="1" dirty="0" smtClean="0">
                <a:solidFill>
                  <a:srgbClr val="21409A"/>
                </a:solidFill>
                <a:latin typeface="Calibri"/>
              </a:rPr>
              <a:t>1:03 AM</a:t>
            </a:fld>
          </a:p>
        </p:txBody>
      </p:sp>
      <p:sp>
        <p:nvSpPr>
          <p:cNvPr id="10" name="TextBox 9"/>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1" name="TextBox 10"/>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a:t>
            </a:r>
          </a:p>
        </p:txBody>
      </p:sp>
      <p:sp>
        <p:nvSpPr>
          <p:cNvPr id="12" name="TextBox 11"/>
          <p:cNvSpPr txBox="1"/>
          <p:nvPr/>
        </p:nvSpPr>
        <p:spPr>
          <a:xfrm>
            <a:off x="548640" y="941832"/>
            <a:ext cx="1109441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SIXTY MINUTES · TIMES ARE MINUTES FROM THE START</a:t>
            </a:r>
          </a:p>
        </p:txBody>
      </p:sp>
      <p:sp>
        <p:nvSpPr>
          <p:cNvPr id="13" name="TextBox 12"/>
          <p:cNvSpPr txBox="1"/>
          <p:nvPr/>
        </p:nvSpPr>
        <p:spPr>
          <a:xfrm>
            <a:off x="548640" y="1234440"/>
            <a:ext cx="1109441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Run of show</a:t>
            </a:r>
          </a:p>
        </p:txBody>
      </p:sp>
      <p:sp>
        <p:nvSpPr>
          <p:cNvPr id="14" name="Rounded Rectangle 13"/>
          <p:cNvSpPr/>
          <p:nvPr/>
        </p:nvSpPr>
        <p:spPr>
          <a:xfrm>
            <a:off x="548640" y="1920240"/>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85800" y="2075688"/>
            <a:ext cx="402336" cy="402336"/>
          </a:xfrm>
          <a:prstGeom prst="roundRect">
            <a:avLst>
              <a:gd name="adj" fmla="val 25000"/>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a:t>
            </a:r>
          </a:p>
        </p:txBody>
      </p:sp>
      <p:sp>
        <p:nvSpPr>
          <p:cNvPr id="16" name="TextBox 15"/>
          <p:cNvSpPr txBox="1"/>
          <p:nvPr/>
        </p:nvSpPr>
        <p:spPr>
          <a:xfrm>
            <a:off x="1207008" y="1993392"/>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Open — no conflicts, four similar tools</a:t>
            </a:r>
          </a:p>
        </p:txBody>
      </p:sp>
      <p:sp>
        <p:nvSpPr>
          <p:cNvPr id="17" name="TextBox 16"/>
          <p:cNvSpPr txBox="1"/>
          <p:nvPr/>
        </p:nvSpPr>
        <p:spPr>
          <a:xfrm>
            <a:off x="1207008" y="2249424"/>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Disclosures, four similar tools, Wachter, Chat versus Cowork.</a:t>
            </a:r>
          </a:p>
        </p:txBody>
      </p:sp>
      <p:sp>
        <p:nvSpPr>
          <p:cNvPr id="18" name="TextBox 17"/>
          <p:cNvSpPr txBox="1"/>
          <p:nvPr/>
        </p:nvSpPr>
        <p:spPr>
          <a:xfrm>
            <a:off x="5135727" y="2011680"/>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00:00</a:t>
            </a:r>
          </a:p>
        </p:txBody>
      </p:sp>
      <p:sp>
        <p:nvSpPr>
          <p:cNvPr id="19" name="Rounded Rectangle 18"/>
          <p:cNvSpPr/>
          <p:nvPr/>
        </p:nvSpPr>
        <p:spPr>
          <a:xfrm>
            <a:off x="6233007" y="1920240"/>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370167" y="2075688"/>
            <a:ext cx="402336" cy="402336"/>
          </a:xfrm>
          <a:prstGeom prst="roundRect">
            <a:avLst>
              <a:gd name="adj" fmla="val 2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21" name="TextBox 20"/>
          <p:cNvSpPr txBox="1"/>
          <p:nvPr/>
        </p:nvSpPr>
        <p:spPr>
          <a:xfrm>
            <a:off x="6891375" y="1993392"/>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Prompting like a guru</a:t>
            </a:r>
          </a:p>
        </p:txBody>
      </p:sp>
      <p:sp>
        <p:nvSpPr>
          <p:cNvPr id="22" name="TextBox 21"/>
          <p:cNvSpPr txBox="1"/>
          <p:nvPr/>
        </p:nvSpPr>
        <p:spPr>
          <a:xfrm>
            <a:off x="6891375" y="2249424"/>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Build the prompt: role, context, constraints, format.</a:t>
            </a:r>
          </a:p>
        </p:txBody>
      </p:sp>
      <p:sp>
        <p:nvSpPr>
          <p:cNvPr id="23" name="TextBox 22"/>
          <p:cNvSpPr txBox="1"/>
          <p:nvPr/>
        </p:nvSpPr>
        <p:spPr>
          <a:xfrm>
            <a:off x="10820095" y="2011680"/>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00:04</a:t>
            </a:r>
          </a:p>
        </p:txBody>
      </p:sp>
      <p:sp>
        <p:nvSpPr>
          <p:cNvPr id="24" name="Rounded Rectangle 23"/>
          <p:cNvSpPr/>
          <p:nvPr/>
        </p:nvSpPr>
        <p:spPr>
          <a:xfrm>
            <a:off x="548640" y="2724912"/>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85800" y="2880360"/>
            <a:ext cx="402336" cy="402336"/>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6" name="TextBox 25"/>
          <p:cNvSpPr txBox="1"/>
          <p:nvPr/>
        </p:nvSpPr>
        <p:spPr>
          <a:xfrm>
            <a:off x="1207008" y="2798064"/>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Reading the literature</a:t>
            </a:r>
          </a:p>
        </p:txBody>
      </p:sp>
      <p:sp>
        <p:nvSpPr>
          <p:cNvPr id="27" name="TextBox 26"/>
          <p:cNvSpPr txBox="1"/>
          <p:nvPr/>
        </p:nvSpPr>
        <p:spPr>
          <a:xfrm>
            <a:off x="1207008" y="3054096"/>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One guideline: NotebookLM, infographic, video, artifact, mermaid.</a:t>
            </a:r>
          </a:p>
        </p:txBody>
      </p:sp>
      <p:sp>
        <p:nvSpPr>
          <p:cNvPr id="28" name="TextBox 27"/>
          <p:cNvSpPr txBox="1"/>
          <p:nvPr/>
        </p:nvSpPr>
        <p:spPr>
          <a:xfrm>
            <a:off x="5135727" y="2816352"/>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00:12</a:t>
            </a:r>
          </a:p>
        </p:txBody>
      </p:sp>
      <p:sp>
        <p:nvSpPr>
          <p:cNvPr id="29" name="Rounded Rectangle 28"/>
          <p:cNvSpPr/>
          <p:nvPr/>
        </p:nvSpPr>
        <p:spPr>
          <a:xfrm>
            <a:off x="6233007" y="2724912"/>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370167" y="2880360"/>
            <a:ext cx="402336" cy="402336"/>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31" name="TextBox 30"/>
          <p:cNvSpPr txBox="1"/>
          <p:nvPr/>
        </p:nvSpPr>
        <p:spPr>
          <a:xfrm>
            <a:off x="6891375" y="2798064"/>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Skills — your house style</a:t>
            </a:r>
          </a:p>
        </p:txBody>
      </p:sp>
      <p:sp>
        <p:nvSpPr>
          <p:cNvPr id="32" name="TextBox 31"/>
          <p:cNvSpPr txBox="1"/>
          <p:nvPr/>
        </p:nvSpPr>
        <p:spPr>
          <a:xfrm>
            <a:off x="6891375" y="3054096"/>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Build one skill. Find a stats library. A sample-size calculator.</a:t>
            </a:r>
          </a:p>
        </p:txBody>
      </p:sp>
      <p:sp>
        <p:nvSpPr>
          <p:cNvPr id="33" name="TextBox 32"/>
          <p:cNvSpPr txBox="1"/>
          <p:nvPr/>
        </p:nvSpPr>
        <p:spPr>
          <a:xfrm>
            <a:off x="10820095" y="2816352"/>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00:22</a:t>
            </a:r>
          </a:p>
        </p:txBody>
      </p:sp>
      <p:sp>
        <p:nvSpPr>
          <p:cNvPr id="34" name="Rounded Rectangle 33"/>
          <p:cNvSpPr/>
          <p:nvPr/>
        </p:nvSpPr>
        <p:spPr>
          <a:xfrm>
            <a:off x="548640" y="3529584"/>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85800" y="3685032"/>
            <a:ext cx="402336" cy="402336"/>
          </a:xfrm>
          <a:prstGeom prst="roundRect">
            <a:avLst>
              <a:gd name="adj" fmla="val 25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6" name="TextBox 35"/>
          <p:cNvSpPr txBox="1"/>
          <p:nvPr/>
        </p:nvSpPr>
        <p:spPr>
          <a:xfrm>
            <a:off x="1207008" y="3602736"/>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MCP — connect your own work</a:t>
            </a:r>
          </a:p>
        </p:txBody>
      </p:sp>
      <p:sp>
        <p:nvSpPr>
          <p:cNvPr id="37" name="TextBox 36"/>
          <p:cNvSpPr txBox="1"/>
          <p:nvPr/>
        </p:nvSpPr>
        <p:spPr>
          <a:xfrm>
            <a:off x="1207008" y="3858768"/>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USB for AI. Haiku with and without a medical-terms plug.</a:t>
            </a:r>
          </a:p>
        </p:txBody>
      </p:sp>
      <p:sp>
        <p:nvSpPr>
          <p:cNvPr id="38" name="TextBox 37"/>
          <p:cNvSpPr txBox="1"/>
          <p:nvPr/>
        </p:nvSpPr>
        <p:spPr>
          <a:xfrm>
            <a:off x="5135727" y="3621024"/>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00:29</a:t>
            </a:r>
          </a:p>
        </p:txBody>
      </p:sp>
      <p:sp>
        <p:nvSpPr>
          <p:cNvPr id="39" name="Rounded Rectangle 38"/>
          <p:cNvSpPr/>
          <p:nvPr/>
        </p:nvSpPr>
        <p:spPr>
          <a:xfrm>
            <a:off x="6233007" y="3529584"/>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6370167" y="3685032"/>
            <a:ext cx="402336" cy="402336"/>
          </a:xfrm>
          <a:prstGeom prst="roundRect">
            <a:avLst>
              <a:gd name="adj" fmla="val 25000"/>
            </a:avLst>
          </a:prstGeom>
          <a:solidFill>
            <a:srgbClr val="6D4C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5</a:t>
            </a:r>
          </a:p>
        </p:txBody>
      </p:sp>
      <p:sp>
        <p:nvSpPr>
          <p:cNvPr id="41" name="TextBox 40"/>
          <p:cNvSpPr txBox="1"/>
          <p:nvPr/>
        </p:nvSpPr>
        <p:spPr>
          <a:xfrm>
            <a:off x="6891375" y="3602736"/>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CLAUDE.md — the kitchen contract</a:t>
            </a:r>
          </a:p>
        </p:txBody>
      </p:sp>
      <p:sp>
        <p:nvSpPr>
          <p:cNvPr id="42" name="TextBox 41"/>
          <p:cNvSpPr txBox="1"/>
          <p:nvPr/>
        </p:nvSpPr>
        <p:spPr>
          <a:xfrm>
            <a:off x="6891375" y="3858768"/>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Standing orders for a folder. Five policies in; a wiki and a review out.</a:t>
            </a:r>
          </a:p>
        </p:txBody>
      </p:sp>
      <p:sp>
        <p:nvSpPr>
          <p:cNvPr id="43" name="TextBox 42"/>
          <p:cNvSpPr txBox="1"/>
          <p:nvPr/>
        </p:nvSpPr>
        <p:spPr>
          <a:xfrm>
            <a:off x="10820095" y="3621024"/>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00:34</a:t>
            </a:r>
          </a:p>
        </p:txBody>
      </p:sp>
      <p:sp>
        <p:nvSpPr>
          <p:cNvPr id="44" name="Rounded Rectangle 43"/>
          <p:cNvSpPr/>
          <p:nvPr/>
        </p:nvSpPr>
        <p:spPr>
          <a:xfrm>
            <a:off x="548640" y="4334256"/>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685800" y="4489704"/>
            <a:ext cx="402336" cy="402336"/>
          </a:xfrm>
          <a:prstGeom prst="roundRect">
            <a:avLst>
              <a:gd name="adj" fmla="val 25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6</a:t>
            </a:r>
          </a:p>
        </p:txBody>
      </p:sp>
      <p:sp>
        <p:nvSpPr>
          <p:cNvPr id="46" name="TextBox 45"/>
          <p:cNvSpPr txBox="1"/>
          <p:nvPr/>
        </p:nvSpPr>
        <p:spPr>
          <a:xfrm>
            <a:off x="1207008" y="4407408"/>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Small models &amp; the edge</a:t>
            </a:r>
          </a:p>
        </p:txBody>
      </p:sp>
      <p:sp>
        <p:nvSpPr>
          <p:cNvPr id="47" name="TextBox 46"/>
          <p:cNvSpPr txBox="1"/>
          <p:nvPr/>
        </p:nvSpPr>
        <p:spPr>
          <a:xfrm>
            <a:off x="1207008" y="4663440"/>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Four places a model can live. Fine-tune here. Federate across hospitals.</a:t>
            </a:r>
          </a:p>
        </p:txBody>
      </p:sp>
      <p:sp>
        <p:nvSpPr>
          <p:cNvPr id="48" name="TextBox 47"/>
          <p:cNvSpPr txBox="1"/>
          <p:nvPr/>
        </p:nvSpPr>
        <p:spPr>
          <a:xfrm>
            <a:off x="5135727" y="4425696"/>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00:37</a:t>
            </a:r>
          </a:p>
        </p:txBody>
      </p:sp>
      <p:sp>
        <p:nvSpPr>
          <p:cNvPr id="49" name="Rounded Rectangle 48"/>
          <p:cNvSpPr/>
          <p:nvPr/>
        </p:nvSpPr>
        <p:spPr>
          <a:xfrm>
            <a:off x="6233007" y="4334256"/>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6370167" y="4489704"/>
            <a:ext cx="402336" cy="402336"/>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7</a:t>
            </a:r>
          </a:p>
        </p:txBody>
      </p:sp>
      <p:sp>
        <p:nvSpPr>
          <p:cNvPr id="51" name="TextBox 50"/>
          <p:cNvSpPr txBox="1"/>
          <p:nvPr/>
        </p:nvSpPr>
        <p:spPr>
          <a:xfrm>
            <a:off x="6891375" y="4407408"/>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A small app in five minutes</a:t>
            </a:r>
          </a:p>
        </p:txBody>
      </p:sp>
      <p:sp>
        <p:nvSpPr>
          <p:cNvPr id="52" name="TextBox 51"/>
          <p:cNvSpPr txBox="1"/>
          <p:nvPr/>
        </p:nvSpPr>
        <p:spPr>
          <a:xfrm>
            <a:off x="6891375" y="4663440"/>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A prompt, a PRD, a roster app — then eight jobs a hospital still owes.</a:t>
            </a:r>
          </a:p>
        </p:txBody>
      </p:sp>
      <p:sp>
        <p:nvSpPr>
          <p:cNvPr id="53" name="TextBox 52"/>
          <p:cNvSpPr txBox="1"/>
          <p:nvPr/>
        </p:nvSpPr>
        <p:spPr>
          <a:xfrm>
            <a:off x="10820095" y="4425696"/>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00:43</a:t>
            </a:r>
          </a:p>
        </p:txBody>
      </p:sp>
      <p:sp>
        <p:nvSpPr>
          <p:cNvPr id="54" name="Rounded Rectangle 53"/>
          <p:cNvSpPr/>
          <p:nvPr/>
        </p:nvSpPr>
        <p:spPr>
          <a:xfrm>
            <a:off x="548640" y="5138928"/>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685800" y="5294376"/>
            <a:ext cx="402336" cy="402336"/>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8</a:t>
            </a:r>
          </a:p>
        </p:txBody>
      </p:sp>
      <p:sp>
        <p:nvSpPr>
          <p:cNvPr id="56" name="TextBox 55"/>
          <p:cNvSpPr txBox="1"/>
          <p:nvPr/>
        </p:nvSpPr>
        <p:spPr>
          <a:xfrm>
            <a:off x="1207008" y="5212080"/>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AI for research</a:t>
            </a:r>
          </a:p>
        </p:txBody>
      </p:sp>
      <p:sp>
        <p:nvSpPr>
          <p:cNvPr id="57" name="TextBox 56"/>
          <p:cNvSpPr txBox="1"/>
          <p:nvPr/>
        </p:nvSpPr>
        <p:spPr>
          <a:xfrm>
            <a:off x="1207008" y="5468112"/>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Plug the chat into your own Zotero library. The model writes the code; you remain the author.</a:t>
            </a:r>
          </a:p>
        </p:txBody>
      </p:sp>
      <p:sp>
        <p:nvSpPr>
          <p:cNvPr id="58" name="TextBox 57"/>
          <p:cNvSpPr txBox="1"/>
          <p:nvPr/>
        </p:nvSpPr>
        <p:spPr>
          <a:xfrm>
            <a:off x="5135727" y="5230368"/>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00:48</a:t>
            </a:r>
          </a:p>
        </p:txBody>
      </p:sp>
      <p:sp>
        <p:nvSpPr>
          <p:cNvPr id="59" name="Rounded Rectangle 58"/>
          <p:cNvSpPr/>
          <p:nvPr/>
        </p:nvSpPr>
        <p:spPr>
          <a:xfrm>
            <a:off x="6233007" y="5138928"/>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6370167" y="5294376"/>
            <a:ext cx="402336" cy="402336"/>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9</a:t>
            </a:r>
          </a:p>
        </p:txBody>
      </p:sp>
      <p:sp>
        <p:nvSpPr>
          <p:cNvPr id="61" name="TextBox 60"/>
          <p:cNvSpPr txBox="1"/>
          <p:nvPr/>
        </p:nvSpPr>
        <p:spPr>
          <a:xfrm>
            <a:off x="6891375" y="5212080"/>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What we learned at KHCC</a:t>
            </a:r>
          </a:p>
        </p:txBody>
      </p:sp>
      <p:sp>
        <p:nvSpPr>
          <p:cNvPr id="62" name="TextBox 61"/>
          <p:cNvSpPr txBox="1"/>
          <p:nvPr/>
        </p:nvSpPr>
        <p:spPr>
          <a:xfrm>
            <a:off x="6891375" y="5468112"/>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People first. Then agents, with their own rules. Cybersecurity before everything.</a:t>
            </a:r>
          </a:p>
        </p:txBody>
      </p:sp>
      <p:sp>
        <p:nvSpPr>
          <p:cNvPr id="63" name="TextBox 62"/>
          <p:cNvSpPr txBox="1"/>
          <p:nvPr/>
        </p:nvSpPr>
        <p:spPr>
          <a:xfrm>
            <a:off x="10820095" y="5230368"/>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00:54</a:t>
            </a:r>
          </a:p>
        </p:txBody>
      </p:sp>
      <p:sp>
        <p:nvSpPr>
          <p:cNvPr id="64" name="Rounded Rectangle 63"/>
          <p:cNvSpPr/>
          <p:nvPr/>
        </p:nvSpPr>
        <p:spPr>
          <a:xfrm>
            <a:off x="548640" y="5943600"/>
            <a:ext cx="5410047" cy="713232"/>
          </a:xfrm>
          <a:prstGeom prst="roundRect">
            <a:avLst>
              <a:gd name="adj" fmla="val 1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unded Rectangle 64"/>
          <p:cNvSpPr/>
          <p:nvPr/>
        </p:nvSpPr>
        <p:spPr>
          <a:xfrm>
            <a:off x="685800" y="6099048"/>
            <a:ext cx="402336" cy="402336"/>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10</a:t>
            </a:r>
          </a:p>
        </p:txBody>
      </p:sp>
      <p:sp>
        <p:nvSpPr>
          <p:cNvPr id="66" name="TextBox 65"/>
          <p:cNvSpPr txBox="1"/>
          <p:nvPr/>
        </p:nvSpPr>
        <p:spPr>
          <a:xfrm>
            <a:off x="1207008" y="6016752"/>
            <a:ext cx="385556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Close — what to try on Monday</a:t>
            </a:r>
          </a:p>
        </p:txBody>
      </p:sp>
      <p:sp>
        <p:nvSpPr>
          <p:cNvPr id="67" name="TextBox 66"/>
          <p:cNvSpPr txBox="1"/>
          <p:nvPr/>
        </p:nvSpPr>
        <p:spPr>
          <a:xfrm>
            <a:off x="1207008" y="6272784"/>
            <a:ext cx="3855567" cy="384048"/>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Crash cart, patient guide, six point-of-care tools. One task per role.</a:t>
            </a:r>
          </a:p>
        </p:txBody>
      </p:sp>
      <p:sp>
        <p:nvSpPr>
          <p:cNvPr id="68" name="TextBox 67"/>
          <p:cNvSpPr txBox="1"/>
          <p:nvPr/>
        </p:nvSpPr>
        <p:spPr>
          <a:xfrm>
            <a:off x="5135727" y="6035040"/>
            <a:ext cx="731520" cy="274320"/>
          </a:xfrm>
          <a:prstGeom prst="rect">
            <a:avLst/>
          </a:prstGeom>
          <a:noFill/>
        </p:spPr>
        <p:txBody>
          <a:bodyPr wrap="square" anchor="t" lIns="0" rIns="0" tIns="0" bIns="0"/>
          <a:lstStyle/>
          <a:p>
            <a:pPr algn="r">
              <a:lnSpc>
                <a:spcPct val="100000"/>
              </a:lnSpc>
              <a:spcAft>
                <a:spcPts val="0"/>
              </a:spcAft>
            </a:pPr>
            <a:r>
              <a:rPr sz="1100" b="1" i="0">
                <a:solidFill>
                  <a:srgbClr val="90A4AE"/>
                </a:solidFill>
                <a:latin typeface="Consolas"/>
              </a:rPr>
              <a:t>00:57</a:t>
            </a:r>
          </a:p>
        </p:txBody>
      </p:sp>
      <p:sp>
        <p:nvSpPr>
          <p:cNvPr id="69" name="Rounded Rectangle 68"/>
          <p:cNvSpPr/>
          <p:nvPr/>
        </p:nvSpPr>
        <p:spPr>
          <a:xfrm>
            <a:off x="6233007" y="5943600"/>
            <a:ext cx="5410047" cy="713232"/>
          </a:xfrm>
          <a:prstGeom prst="roundRect">
            <a:avLst>
              <a:gd name="adj" fmla="val 10000"/>
            </a:avLst>
          </a:prstGeom>
          <a:solidFill>
            <a:srgbClr val="FAFBFD"/>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ounded Rectangle 69"/>
          <p:cNvSpPr/>
          <p:nvPr/>
        </p:nvSpPr>
        <p:spPr>
          <a:xfrm>
            <a:off x="6370167" y="6099048"/>
            <a:ext cx="402336" cy="402336"/>
          </a:xfrm>
          <a:prstGeom prst="roundRect">
            <a:avLst>
              <a:gd name="adj" fmla="val 25000"/>
            </a:avLst>
          </a:prstGeom>
          <a:solidFill>
            <a:srgbClr val="F451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a:t>
            </a:r>
          </a:p>
        </p:txBody>
      </p:sp>
      <p:sp>
        <p:nvSpPr>
          <p:cNvPr id="71" name="TextBox 70"/>
          <p:cNvSpPr txBox="1"/>
          <p:nvPr/>
        </p:nvSpPr>
        <p:spPr>
          <a:xfrm>
            <a:off x="6891375" y="6016752"/>
            <a:ext cx="4495647" cy="274320"/>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Companion sessions</a:t>
            </a:r>
          </a:p>
        </p:txBody>
      </p:sp>
      <p:sp>
        <p:nvSpPr>
          <p:cNvPr id="72" name="TextBox 71"/>
          <p:cNvSpPr txBox="1"/>
          <p:nvPr/>
        </p:nvSpPr>
        <p:spPr>
          <a:xfrm>
            <a:off x="6891375" y="6272784"/>
            <a:ext cx="4495647" cy="365760"/>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Precision medicine tool, then Q&amp;A with an AI avatar.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0</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OPEN  ·  00:00</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Open — no conflicts,
four similar tools</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Disclosures, then Claude / ChatGPT / Gemini / Perplexity, then Wachter, then Chat versus Cowork.</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0-open.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59d3a0c5-2091-4dc3-9184-05f00ca030cb}" type="datetime9">
              <a:rPr lang="en-US" sz="1400" b="1" dirty="0" smtClean="0">
                <a:solidFill>
                  <a:srgbClr val="FFFFFF"/>
                </a:solidFill>
                <a:latin typeface="Calibri"/>
              </a:rPr>
              <a:t>1:03 AM</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188720"/>
            <a:ext cx="9144000" cy="365760"/>
          </a:xfrm>
          <a:prstGeom prst="rect">
            <a:avLst/>
          </a:prstGeom>
          <a:noFill/>
        </p:spPr>
        <p:txBody>
          <a:bodyPr wrap="square" anchor="t" lIns="0" rIns="0" tIns="0" bIns="0"/>
          <a:lstStyle/>
          <a:p>
            <a:pPr algn="l">
              <a:lnSpc>
                <a:spcPct val="115000"/>
              </a:lnSpc>
              <a:spcAft>
                <a:spcPts val="400"/>
              </a:spcAft>
            </a:pPr>
            <a:r>
              <a:rPr sz="1400" b="1" i="0">
                <a:solidFill>
                  <a:srgbClr val="FFC20E"/>
                </a:solidFill>
                <a:latin typeface="Calibri"/>
              </a:rPr>
              <a:t>DISCLOSURE</a:t>
            </a:r>
          </a:p>
        </p:txBody>
      </p:sp>
      <p:sp>
        <p:nvSpPr>
          <p:cNvPr id="5" name="TextBox 4"/>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No conflicts.
Only KHCC.</a:t>
            </a:r>
          </a:p>
        </p:txBody>
      </p:sp>
      <p:sp>
        <p:nvSpPr>
          <p:cNvPr id="6" name="TextBox 5"/>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I have no conflict of interest. I am not affiliated with Anthropic, OpenAI, Google, Perplexity, or any other AI company. My only institutional affiliation is King Hussein Cancer Center.</a:t>
            </a:r>
          </a:p>
        </p:txBody>
      </p:sp>
      <p:sp>
        <p:nvSpPr>
          <p:cNvPr id="7" name="Rounded Rectangle 6"/>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block-00-open.png"/>
          <p:cNvPicPr>
            <a:picLocks noChangeAspect="1"/>
          </p:cNvPicPr>
          <p:nvPr/>
        </p:nvPicPr>
        <p:blipFill>
          <a:blip r:embed="rId2"/>
          <a:stretch>
            <a:fillRect/>
          </a:stretch>
        </p:blipFill>
        <p:spPr>
          <a:xfrm>
            <a:off x="11277295" y="713232"/>
            <a:ext cx="713232" cy="713232"/>
          </a:xfrm>
          <a:prstGeom prst="rect">
            <a:avLst/>
          </a:prstGeom>
        </p:spPr>
      </p:pic>
      <p:sp>
        <p:nvSpPr>
          <p:cNvPr id="9" name="TextBox 8"/>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0" name="TextBox 9"/>
          <p:cNvSpPr txBox="1"/>
          <p:nvPr/>
        </p:nvSpPr>
        <p:spPr>
          <a:xfrm>
            <a:off x="11204143" y="1572768"/>
            <a:ext cx="859536" cy="219456"/>
          </a:xfrm>
          <a:prstGeom prst="rect">
            <a:avLst/>
          </a:prstGeom>
          <a:noFill/>
        </p:spPr>
        <p:txBody>
          <a:bodyPr wrap="none" anchor="ctr" lIns="0" rIns="0" tIns="0" bIns="0"/>
          <a:lstStyle/>
          <a:p>
            <a:pPr algn="ctr"/>
            <a:fld id="{d872006c-218c-4611-96dc-cfa3851aa056}" type="datetime9">
              <a:rPr lang="en-US" sz="1200" b="1" dirty="0" smtClean="0">
                <a:solidFill>
                  <a:srgbClr val="21409A"/>
                </a:solidFill>
                <a:latin typeface="Calibri"/>
              </a:rPr>
              <a:t>1:03 AM</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OPEN · 00:00</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0-open.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5387907-63b5-44fe-8f13-70052ccfd141}"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LANGUAGE MODELS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Four names. Same work.</a:t>
            </a:r>
          </a:p>
        </p:txBody>
      </p:sp>
      <p:sp>
        <p:nvSpPr>
          <p:cNvPr id="16" name="Rounded Rectangle 15"/>
          <p:cNvSpPr/>
          <p:nvPr/>
        </p:nvSpPr>
        <p:spPr>
          <a:xfrm>
            <a:off x="548640" y="2103120"/>
            <a:ext cx="2567863"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2103120"/>
            <a:ext cx="2567863"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560320"/>
            <a:ext cx="2567863" cy="320040"/>
          </a:xfrm>
          <a:prstGeom prst="rect">
            <a:avLst/>
          </a:prstGeom>
          <a:noFill/>
        </p:spPr>
        <p:txBody>
          <a:bodyPr wrap="square" anchor="t" lIns="0" rIns="0" tIns="0" bIns="0"/>
          <a:lstStyle/>
          <a:p>
            <a:pPr algn="ctr">
              <a:lnSpc>
                <a:spcPct val="115000"/>
              </a:lnSpc>
              <a:spcAft>
                <a:spcPts val="400"/>
              </a:spcAft>
            </a:pPr>
            <a:r>
              <a:rPr sz="1100" b="1" i="0">
                <a:solidFill>
                  <a:srgbClr val="607D8B"/>
                </a:solidFill>
                <a:latin typeface="Calibri"/>
              </a:rPr>
              <a:t>ANTHROPIC</a:t>
            </a:r>
          </a:p>
        </p:txBody>
      </p:sp>
      <p:sp>
        <p:nvSpPr>
          <p:cNvPr id="19" name="TextBox 18"/>
          <p:cNvSpPr txBox="1"/>
          <p:nvPr/>
        </p:nvSpPr>
        <p:spPr>
          <a:xfrm>
            <a:off x="548640" y="2926080"/>
            <a:ext cx="2567863" cy="731520"/>
          </a:xfrm>
          <a:prstGeom prst="rect">
            <a:avLst/>
          </a:prstGeom>
          <a:noFill/>
        </p:spPr>
        <p:txBody>
          <a:bodyPr wrap="square" anchor="t" lIns="0" rIns="0" tIns="0" bIns="0"/>
          <a:lstStyle/>
          <a:p>
            <a:pPr algn="ctr">
              <a:lnSpc>
                <a:spcPct val="115000"/>
              </a:lnSpc>
              <a:spcAft>
                <a:spcPts val="400"/>
              </a:spcAft>
            </a:pPr>
            <a:r>
              <a:rPr sz="3000" b="1" i="0">
                <a:solidFill>
                  <a:srgbClr val="1B2A4A"/>
                </a:solidFill>
                <a:latin typeface="Calibri"/>
              </a:rPr>
              <a:t>Claude</a:t>
            </a:r>
          </a:p>
        </p:txBody>
      </p:sp>
      <p:sp>
        <p:nvSpPr>
          <p:cNvPr id="20" name="Rounded Rectangle 19"/>
          <p:cNvSpPr/>
          <p:nvPr/>
        </p:nvSpPr>
        <p:spPr>
          <a:xfrm>
            <a:off x="3390823" y="2103120"/>
            <a:ext cx="2567863"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390823" y="2103120"/>
            <a:ext cx="2567863" cy="109728"/>
          </a:xfrm>
          <a:prstGeom prst="rect">
            <a:avLst/>
          </a:prstGeom>
          <a:solidFill>
            <a:srgbClr val="10A3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90823" y="2560320"/>
            <a:ext cx="2567863" cy="320040"/>
          </a:xfrm>
          <a:prstGeom prst="rect">
            <a:avLst/>
          </a:prstGeom>
          <a:noFill/>
        </p:spPr>
        <p:txBody>
          <a:bodyPr wrap="square" anchor="t" lIns="0" rIns="0" tIns="0" bIns="0"/>
          <a:lstStyle/>
          <a:p>
            <a:pPr algn="ctr">
              <a:lnSpc>
                <a:spcPct val="115000"/>
              </a:lnSpc>
              <a:spcAft>
                <a:spcPts val="400"/>
              </a:spcAft>
            </a:pPr>
            <a:r>
              <a:rPr sz="1100" b="1" i="0">
                <a:solidFill>
                  <a:srgbClr val="607D8B"/>
                </a:solidFill>
                <a:latin typeface="Calibri"/>
              </a:rPr>
              <a:t>OPENAI</a:t>
            </a:r>
          </a:p>
        </p:txBody>
      </p:sp>
      <p:sp>
        <p:nvSpPr>
          <p:cNvPr id="23" name="TextBox 22"/>
          <p:cNvSpPr txBox="1"/>
          <p:nvPr/>
        </p:nvSpPr>
        <p:spPr>
          <a:xfrm>
            <a:off x="3390823" y="2926080"/>
            <a:ext cx="2567863" cy="731520"/>
          </a:xfrm>
          <a:prstGeom prst="rect">
            <a:avLst/>
          </a:prstGeom>
          <a:noFill/>
        </p:spPr>
        <p:txBody>
          <a:bodyPr wrap="square" anchor="t" lIns="0" rIns="0" tIns="0" bIns="0"/>
          <a:lstStyle/>
          <a:p>
            <a:pPr algn="ctr">
              <a:lnSpc>
                <a:spcPct val="115000"/>
              </a:lnSpc>
              <a:spcAft>
                <a:spcPts val="400"/>
              </a:spcAft>
            </a:pPr>
            <a:r>
              <a:rPr sz="3000" b="1" i="0">
                <a:solidFill>
                  <a:srgbClr val="1B2A4A"/>
                </a:solidFill>
                <a:latin typeface="Calibri"/>
              </a:rPr>
              <a:t>ChatGPT</a:t>
            </a:r>
          </a:p>
        </p:txBody>
      </p:sp>
      <p:sp>
        <p:nvSpPr>
          <p:cNvPr id="24" name="Rounded Rectangle 23"/>
          <p:cNvSpPr/>
          <p:nvPr/>
        </p:nvSpPr>
        <p:spPr>
          <a:xfrm>
            <a:off x="6233007" y="2103120"/>
            <a:ext cx="2567863"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33007" y="2103120"/>
            <a:ext cx="2567863" cy="109728"/>
          </a:xfrm>
          <a:prstGeom prst="rect">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33007" y="2560320"/>
            <a:ext cx="2567863" cy="320040"/>
          </a:xfrm>
          <a:prstGeom prst="rect">
            <a:avLst/>
          </a:prstGeom>
          <a:noFill/>
        </p:spPr>
        <p:txBody>
          <a:bodyPr wrap="square" anchor="t" lIns="0" rIns="0" tIns="0" bIns="0"/>
          <a:lstStyle/>
          <a:p>
            <a:pPr algn="ctr">
              <a:lnSpc>
                <a:spcPct val="115000"/>
              </a:lnSpc>
              <a:spcAft>
                <a:spcPts val="400"/>
              </a:spcAft>
            </a:pPr>
            <a:r>
              <a:rPr sz="1100" b="1" i="0">
                <a:solidFill>
                  <a:srgbClr val="607D8B"/>
                </a:solidFill>
                <a:latin typeface="Calibri"/>
              </a:rPr>
              <a:t>GOOGLE</a:t>
            </a:r>
          </a:p>
        </p:txBody>
      </p:sp>
      <p:sp>
        <p:nvSpPr>
          <p:cNvPr id="27" name="TextBox 26"/>
          <p:cNvSpPr txBox="1"/>
          <p:nvPr/>
        </p:nvSpPr>
        <p:spPr>
          <a:xfrm>
            <a:off x="6233007" y="2926080"/>
            <a:ext cx="2567863" cy="731520"/>
          </a:xfrm>
          <a:prstGeom prst="rect">
            <a:avLst/>
          </a:prstGeom>
          <a:noFill/>
        </p:spPr>
        <p:txBody>
          <a:bodyPr wrap="square" anchor="t" lIns="0" rIns="0" tIns="0" bIns="0"/>
          <a:lstStyle/>
          <a:p>
            <a:pPr algn="ctr">
              <a:lnSpc>
                <a:spcPct val="115000"/>
              </a:lnSpc>
              <a:spcAft>
                <a:spcPts val="400"/>
              </a:spcAft>
            </a:pPr>
            <a:r>
              <a:rPr sz="3000" b="1" i="0">
                <a:solidFill>
                  <a:srgbClr val="1B2A4A"/>
                </a:solidFill>
                <a:latin typeface="Calibri"/>
              </a:rPr>
              <a:t>Gemini</a:t>
            </a:r>
          </a:p>
        </p:txBody>
      </p:sp>
      <p:sp>
        <p:nvSpPr>
          <p:cNvPr id="28" name="Rounded Rectangle 27"/>
          <p:cNvSpPr/>
          <p:nvPr/>
        </p:nvSpPr>
        <p:spPr>
          <a:xfrm>
            <a:off x="9075191" y="2103120"/>
            <a:ext cx="2567863"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075191" y="2103120"/>
            <a:ext cx="2567863" cy="109728"/>
          </a:xfrm>
          <a:prstGeom prst="rect">
            <a:avLst/>
          </a:prstGeom>
          <a:solidFill>
            <a:srgbClr val="2080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075191" y="2560320"/>
            <a:ext cx="2567863" cy="320040"/>
          </a:xfrm>
          <a:prstGeom prst="rect">
            <a:avLst/>
          </a:prstGeom>
          <a:noFill/>
        </p:spPr>
        <p:txBody>
          <a:bodyPr wrap="square" anchor="t" lIns="0" rIns="0" tIns="0" bIns="0"/>
          <a:lstStyle/>
          <a:p>
            <a:pPr algn="ctr">
              <a:lnSpc>
                <a:spcPct val="115000"/>
              </a:lnSpc>
              <a:spcAft>
                <a:spcPts val="400"/>
              </a:spcAft>
            </a:pPr>
            <a:r>
              <a:rPr sz="1100" b="1" i="0">
                <a:solidFill>
                  <a:srgbClr val="607D8B"/>
                </a:solidFill>
                <a:latin typeface="Calibri"/>
              </a:rPr>
              <a:t>PERPLEXITY</a:t>
            </a:r>
          </a:p>
        </p:txBody>
      </p:sp>
      <p:sp>
        <p:nvSpPr>
          <p:cNvPr id="31" name="TextBox 30"/>
          <p:cNvSpPr txBox="1"/>
          <p:nvPr/>
        </p:nvSpPr>
        <p:spPr>
          <a:xfrm>
            <a:off x="9075191" y="2926080"/>
            <a:ext cx="2567863" cy="731520"/>
          </a:xfrm>
          <a:prstGeom prst="rect">
            <a:avLst/>
          </a:prstGeom>
          <a:noFill/>
        </p:spPr>
        <p:txBody>
          <a:bodyPr wrap="square" anchor="t" lIns="0" rIns="0" tIns="0" bIns="0"/>
          <a:lstStyle/>
          <a:p>
            <a:pPr algn="ctr">
              <a:lnSpc>
                <a:spcPct val="115000"/>
              </a:lnSpc>
              <a:spcAft>
                <a:spcPts val="400"/>
              </a:spcAft>
            </a:pPr>
            <a:r>
              <a:rPr sz="3000" b="1" i="0">
                <a:solidFill>
                  <a:srgbClr val="1B2A4A"/>
                </a:solidFill>
                <a:latin typeface="Calibri"/>
              </a:rPr>
              <a:t>Perplexity</a:t>
            </a:r>
          </a:p>
        </p:txBody>
      </p:sp>
      <p:sp>
        <p:nvSpPr>
          <p:cNvPr id="32" name="TextBox 31"/>
          <p:cNvSpPr txBox="1"/>
          <p:nvPr/>
        </p:nvSpPr>
        <p:spPr>
          <a:xfrm>
            <a:off x="548640" y="4480560"/>
            <a:ext cx="5486400" cy="274320"/>
          </a:xfrm>
          <a:prstGeom prst="rect">
            <a:avLst/>
          </a:prstGeom>
          <a:noFill/>
        </p:spPr>
        <p:txBody>
          <a:bodyPr wrap="square" anchor="t" lIns="0" rIns="0" tIns="0" bIns="0"/>
          <a:lstStyle/>
          <a:p>
            <a:pPr algn="l">
              <a:lnSpc>
                <a:spcPct val="115000"/>
              </a:lnSpc>
              <a:spcAft>
                <a:spcPts val="400"/>
              </a:spcAft>
            </a:pPr>
            <a:r>
              <a:rPr sz="1100" b="1" i="0">
                <a:solidFill>
                  <a:srgbClr val="607D8B"/>
                </a:solidFill>
                <a:latin typeface="Calibri"/>
              </a:rPr>
              <a:t>ALL FOUR NOW OFFER</a:t>
            </a:r>
          </a:p>
        </p:txBody>
      </p:sp>
      <p:sp>
        <p:nvSpPr>
          <p:cNvPr id="33" name="Rounded Rectangle 32"/>
          <p:cNvSpPr/>
          <p:nvPr/>
        </p:nvSpPr>
        <p:spPr>
          <a:xfrm>
            <a:off x="548640" y="4800600"/>
            <a:ext cx="1060704"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300" b="1" i="0">
                <a:solidFill>
                  <a:srgbClr val="034EA2"/>
                </a:solidFill>
                <a:latin typeface="Calibri"/>
              </a:rPr>
              <a:t>Skills</a:t>
            </a:r>
          </a:p>
        </p:txBody>
      </p:sp>
      <p:sp>
        <p:nvSpPr>
          <p:cNvPr id="34" name="Rounded Rectangle 33"/>
          <p:cNvSpPr/>
          <p:nvPr/>
        </p:nvSpPr>
        <p:spPr>
          <a:xfrm>
            <a:off x="1746504" y="4800600"/>
            <a:ext cx="1563624"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300" b="1" i="0">
                <a:solidFill>
                  <a:srgbClr val="034EA2"/>
                </a:solidFill>
                <a:latin typeface="Calibri"/>
              </a:rPr>
              <a:t>Tools (MCP)</a:t>
            </a:r>
          </a:p>
        </p:txBody>
      </p:sp>
      <p:sp>
        <p:nvSpPr>
          <p:cNvPr id="35" name="Rounded Rectangle 34"/>
          <p:cNvSpPr/>
          <p:nvPr/>
        </p:nvSpPr>
        <p:spPr>
          <a:xfrm>
            <a:off x="3447288" y="4800600"/>
            <a:ext cx="1261872"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300" b="1" i="0">
                <a:solidFill>
                  <a:srgbClr val="034EA2"/>
                </a:solidFill>
                <a:latin typeface="Calibri"/>
              </a:rPr>
              <a:t>Internet</a:t>
            </a:r>
          </a:p>
        </p:txBody>
      </p:sp>
      <p:sp>
        <p:nvSpPr>
          <p:cNvPr id="36" name="Rounded Rectangle 35"/>
          <p:cNvSpPr/>
          <p:nvPr/>
        </p:nvSpPr>
        <p:spPr>
          <a:xfrm>
            <a:off x="4846320" y="4800600"/>
            <a:ext cx="1764792"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300" b="1" i="0">
                <a:solidFill>
                  <a:srgbClr val="034EA2"/>
                </a:solidFill>
                <a:latin typeface="Calibri"/>
              </a:rPr>
              <a:t>Deep research</a:t>
            </a:r>
          </a:p>
        </p:txBody>
      </p:sp>
      <p:sp>
        <p:nvSpPr>
          <p:cNvPr id="37" name="Rounded Rectangle 36"/>
          <p:cNvSpPr/>
          <p:nvPr/>
        </p:nvSpPr>
        <p:spPr>
          <a:xfrm>
            <a:off x="6748272" y="4800600"/>
            <a:ext cx="2468880" cy="384048"/>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300" b="1" i="0">
                <a:solidFill>
                  <a:srgbClr val="034EA2"/>
                </a:solidFill>
                <a:latin typeface="Calibri"/>
              </a:rPr>
              <a:t>Large context window</a:t>
            </a:r>
          </a:p>
        </p:txBody>
      </p:sp>
      <p:sp>
        <p:nvSpPr>
          <p:cNvPr id="38" name="TextBox 37"/>
          <p:cNvSpPr txBox="1"/>
          <p:nvPr/>
        </p:nvSpPr>
        <p:spPr>
          <a:xfrm>
            <a:off x="548640" y="5486400"/>
            <a:ext cx="11094415" cy="548640"/>
          </a:xfrm>
          <a:prstGeom prst="rect">
            <a:avLst/>
          </a:prstGeom>
          <a:noFill/>
        </p:spPr>
        <p:txBody>
          <a:bodyPr wrap="square" anchor="t" lIns="0" rIns="0" tIns="0" bIns="0"/>
          <a:lstStyle/>
          <a:p>
            <a:pPr algn="l">
              <a:lnSpc>
                <a:spcPct val="115000"/>
              </a:lnSpc>
              <a:spcAft>
                <a:spcPts val="400"/>
              </a:spcAft>
            </a:pPr>
            <a:r>
              <a:rPr sz="1600" b="0" i="0">
                <a:solidFill>
                  <a:srgbClr val="607D8B"/>
                </a:solidFill>
                <a:latin typeface="Calibri"/>
              </a:rPr>
              <a:t>Pick the one your hospital allows. The way of working is the same in all four.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And they all </a:t>
            </a:r>
            <a:r>
              <a:rPr sz="4600" b="1" i="0">
                <a:solidFill>
                  <a:srgbClr val="FFC20E"/>
                </a:solidFill>
                <a:latin typeface="Calibri"/>
              </a:rPr>
              <a:t>hallucinate</a:t>
            </a:r>
            <a:r>
              <a:rPr sz="4600" b="1" i="0">
                <a:solidFill>
                  <a:srgbClr val="FFFFFF"/>
                </a:solidFill>
                <a:latin typeface="Calibri"/>
              </a:rPr>
              <a:t>.</a:t>
            </a:r>
          </a:p>
        </p:txBody>
      </p:sp>
      <p:sp>
        <p:nvSpPr>
          <p:cNvPr id="5" name="TextBox 4"/>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Right often enough to be useful. Wrong often enough not to be trusted.</a:t>
            </a:r>
          </a:p>
        </p:txBody>
      </p:sp>
      <p:sp>
        <p:nvSpPr>
          <p:cNvPr id="6" name="Rounded Rectangle 5"/>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qr-block-00-open.png"/>
          <p:cNvPicPr>
            <a:picLocks noChangeAspect="1"/>
          </p:cNvPicPr>
          <p:nvPr/>
        </p:nvPicPr>
        <p:blipFill>
          <a:blip r:embed="rId2"/>
          <a:stretch>
            <a:fillRect/>
          </a:stretch>
        </p:blipFill>
        <p:spPr>
          <a:xfrm>
            <a:off x="11277295" y="713232"/>
            <a:ext cx="713232" cy="713232"/>
          </a:xfrm>
          <a:prstGeom prst="rect">
            <a:avLst/>
          </a:prstGeom>
        </p:spPr>
      </p:pic>
      <p:sp>
        <p:nvSpPr>
          <p:cNvPr id="8" name="TextBox 7"/>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9" name="TextBox 8"/>
          <p:cNvSpPr txBox="1"/>
          <p:nvPr/>
        </p:nvSpPr>
        <p:spPr>
          <a:xfrm>
            <a:off x="11204143" y="1572768"/>
            <a:ext cx="859536" cy="219456"/>
          </a:xfrm>
          <a:prstGeom prst="rect">
            <a:avLst/>
          </a:prstGeom>
          <a:noFill/>
        </p:spPr>
        <p:txBody>
          <a:bodyPr wrap="none" anchor="ctr" lIns="0" rIns="0" tIns="0" bIns="0"/>
          <a:lstStyle/>
          <a:p>
            <a:pPr algn="ctr"/>
            <a:fld id="{89c4a913-2431-420b-8081-9dcb1a20b70c}" type="datetime9">
              <a:rPr lang="en-US" sz="1200" b="1" dirty="0" smtClean="0">
                <a:solidFill>
                  <a:srgbClr val="21409A"/>
                </a:solidFill>
                <a:latin typeface="Calibri"/>
              </a:rPr>
              <a:t>1:03 AM</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OPEN · 00:00</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0-open.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fbd80c2-20c3-497d-98f6-7f657a646dc7}"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CU ANSCHUTZ · 19 MARCH 2026</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‘The greatest experiment in the history of medicine’</a:t>
            </a:r>
          </a:p>
        </p:txBody>
      </p:sp>
      <p:pic>
        <p:nvPicPr>
          <p:cNvPr id="16" name="Picture 15" descr="wachter-article.jpg"/>
          <p:cNvPicPr>
            <a:picLocks noChangeAspect="1"/>
          </p:cNvPicPr>
          <p:nvPr/>
        </p:nvPicPr>
        <p:blipFill>
          <a:blip r:embed="rId4"/>
          <a:stretch>
            <a:fillRect/>
          </a:stretch>
        </p:blipFill>
        <p:spPr>
          <a:xfrm>
            <a:off x="548640" y="1938528"/>
            <a:ext cx="5669280" cy="4251960"/>
          </a:xfrm>
          <a:prstGeom prst="rect">
            <a:avLst/>
          </a:prstGeom>
          <a:ln w="9525">
            <a:solidFill>
              <a:srgbClr val="E0E0E0"/>
            </a:solidFill>
          </a:ln>
        </p:spPr>
      </p:pic>
      <p:sp>
        <p:nvSpPr>
          <p:cNvPr id="17" name="TextBox 16"/>
          <p:cNvSpPr txBox="1"/>
          <p:nvPr/>
        </p:nvSpPr>
        <p:spPr>
          <a:xfrm>
            <a:off x="6492240" y="2029968"/>
            <a:ext cx="5150815" cy="1645920"/>
          </a:xfrm>
          <a:prstGeom prst="rect">
            <a:avLst/>
          </a:prstGeom>
          <a:noFill/>
        </p:spPr>
        <p:txBody>
          <a:bodyPr wrap="square" anchor="t" lIns="0" rIns="0" tIns="0" bIns="0"/>
          <a:lstStyle/>
          <a:p>
            <a:pPr algn="l">
              <a:lnSpc>
                <a:spcPct val="115000"/>
              </a:lnSpc>
              <a:spcAft>
                <a:spcPts val="400"/>
              </a:spcAft>
            </a:pPr>
            <a:r>
              <a:rPr sz="2200" b="1" i="1">
                <a:solidFill>
                  <a:srgbClr val="21409A"/>
                </a:solidFill>
                <a:latin typeface="Calibri"/>
              </a:rPr>
              <a:t>“I think we are in the early stages of probably the greatest experiment in the history of medicine.”</a:t>
            </a:r>
          </a:p>
        </p:txBody>
      </p:sp>
      <p:sp>
        <p:nvSpPr>
          <p:cNvPr id="18" name="TextBox 17"/>
          <p:cNvSpPr txBox="1"/>
          <p:nvPr/>
        </p:nvSpPr>
        <p:spPr>
          <a:xfrm>
            <a:off x="6492240" y="3767328"/>
            <a:ext cx="5150815" cy="73152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Robert Wachter, MD · UCSF
Interviewed by Tayler Shaw, Department of Medicine, CU Anschutz</a:t>
            </a:r>
          </a:p>
        </p:txBody>
      </p:sp>
      <p:sp>
        <p:nvSpPr>
          <p:cNvPr id="19" name="TextBox 18"/>
          <p:cNvSpPr txBox="1"/>
          <p:nvPr/>
        </p:nvSpPr>
        <p:spPr>
          <a:xfrm>
            <a:off x="6492240" y="4590288"/>
            <a:ext cx="5150815" cy="73152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Right often enough to be useful.
Wrong often enough not to be trusted.</a:t>
            </a:r>
          </a:p>
        </p:txBody>
      </p:sp>
      <p:sp>
        <p:nvSpPr>
          <p:cNvPr id="20" name="TextBox 19"/>
          <p:cNvSpPr txBox="1"/>
          <p:nvPr/>
        </p:nvSpPr>
        <p:spPr>
          <a:xfrm>
            <a:off x="6492240" y="5413248"/>
            <a:ext cx="5150815" cy="640080"/>
          </a:xfrm>
          <a:prstGeom prst="rect">
            <a:avLst/>
          </a:prstGeom>
          <a:noFill/>
        </p:spPr>
        <p:txBody>
          <a:bodyPr wrap="square" anchor="t" lIns="0" rIns="0" tIns="0" bIns="0"/>
          <a:lstStyle/>
          <a:p>
            <a:pPr algn="l">
              <a:lnSpc>
                <a:spcPct val="115000"/>
              </a:lnSpc>
              <a:spcAft>
                <a:spcPts val="400"/>
              </a:spcAft>
            </a:pPr>
            <a:r>
              <a:rPr sz="1000" b="0" i="0">
                <a:solidFill>
                  <a:srgbClr val="90A4AE"/>
                </a:solidFill>
                <a:latin typeface="Calibri"/>
              </a:rPr>
              <a:t>Hear it in his own voice: instagram.com/reels/DVrUy7okp2N
Article: news.cuanschutz.edu/department-of-medicine/artificial-intelligence-health-care-impact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We are not here to pick a brand.
We are here to learn a way of working.</a:t>
            </a:r>
          </a:p>
        </p:txBody>
      </p:sp>
      <p:sp>
        <p:nvSpPr>
          <p:cNvPr id="5" name="TextBox 4"/>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First: two seats at the same desk.</a:t>
            </a:r>
          </a:p>
        </p:txBody>
      </p:sp>
      <p:sp>
        <p:nvSpPr>
          <p:cNvPr id="6" name="Rounded Rectangle 5"/>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qr-block-00-open.png"/>
          <p:cNvPicPr>
            <a:picLocks noChangeAspect="1"/>
          </p:cNvPicPr>
          <p:nvPr/>
        </p:nvPicPr>
        <p:blipFill>
          <a:blip r:embed="rId2"/>
          <a:stretch>
            <a:fillRect/>
          </a:stretch>
        </p:blipFill>
        <p:spPr>
          <a:xfrm>
            <a:off x="11277295" y="713232"/>
            <a:ext cx="713232" cy="713232"/>
          </a:xfrm>
          <a:prstGeom prst="rect">
            <a:avLst/>
          </a:prstGeom>
        </p:spPr>
      </p:pic>
      <p:sp>
        <p:nvSpPr>
          <p:cNvPr id="8" name="TextBox 7"/>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9" name="TextBox 8"/>
          <p:cNvSpPr txBox="1"/>
          <p:nvPr/>
        </p:nvSpPr>
        <p:spPr>
          <a:xfrm>
            <a:off x="11204143" y="1572768"/>
            <a:ext cx="859536" cy="219456"/>
          </a:xfrm>
          <a:prstGeom prst="rect">
            <a:avLst/>
          </a:prstGeom>
          <a:noFill/>
        </p:spPr>
        <p:txBody>
          <a:bodyPr wrap="none" anchor="ctr" lIns="0" rIns="0" tIns="0" bIns="0"/>
          <a:lstStyle/>
          <a:p>
            <a:pPr algn="ctr"/>
            <a:fld id="{ea040d7d-d1bd-4c87-9a03-e1f65af17a9e}" type="datetime9">
              <a:rPr lang="en-US" sz="1200" b="1" dirty="0" smtClean="0">
                <a:solidFill>
                  <a:srgbClr val="21409A"/>
                </a:solidFill>
                <a:latin typeface="Calibri"/>
              </a:rPr>
              <a:t>1:03 AM</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OPEN · 00:00</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0-open.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2fbb21a-590a-4677-bd64-9e4c97fcc7f8}"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CLAUDE.AI</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Chat versus Cowork</a:t>
            </a:r>
          </a:p>
        </p:txBody>
      </p:sp>
      <p:sp>
        <p:nvSpPr>
          <p:cNvPr id="16" name="Rounded Rectangle 15"/>
          <p:cNvSpPr/>
          <p:nvPr/>
        </p:nvSpPr>
        <p:spPr>
          <a:xfrm>
            <a:off x="548640" y="2011680"/>
            <a:ext cx="5364327" cy="32004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2194560"/>
            <a:ext cx="4815687" cy="457200"/>
          </a:xfrm>
          <a:prstGeom prst="rect">
            <a:avLst/>
          </a:prstGeom>
          <a:noFill/>
        </p:spPr>
        <p:txBody>
          <a:bodyPr wrap="square" anchor="t" lIns="0" rIns="0" tIns="0" bIns="0"/>
          <a:lstStyle/>
          <a:p>
            <a:pPr algn="l">
              <a:lnSpc>
                <a:spcPct val="115000"/>
              </a:lnSpc>
              <a:spcAft>
                <a:spcPts val="400"/>
              </a:spcAft>
            </a:pPr>
            <a:r>
              <a:rPr sz="2600" b="1" i="0">
                <a:solidFill>
                  <a:srgbClr val="21409A"/>
                </a:solidFill>
                <a:latin typeface="Calibri"/>
              </a:rPr>
              <a:t>Chat</a:t>
            </a:r>
          </a:p>
        </p:txBody>
      </p:sp>
      <p:sp>
        <p:nvSpPr>
          <p:cNvPr id="18" name="TextBox 17"/>
          <p:cNvSpPr txBox="1"/>
          <p:nvPr/>
        </p:nvSpPr>
        <p:spPr>
          <a:xfrm>
            <a:off x="822960" y="2697480"/>
            <a:ext cx="4815687" cy="365760"/>
          </a:xfrm>
          <a:prstGeom prst="rect">
            <a:avLst/>
          </a:prstGeom>
          <a:noFill/>
        </p:spPr>
        <p:txBody>
          <a:bodyPr wrap="square" anchor="t" lIns="0" rIns="0" tIns="0" bIns="0"/>
          <a:lstStyle/>
          <a:p>
            <a:pPr algn="l">
              <a:lnSpc>
                <a:spcPct val="115000"/>
              </a:lnSpc>
              <a:spcAft>
                <a:spcPts val="400"/>
              </a:spcAft>
            </a:pPr>
            <a:r>
              <a:rPr sz="1500" b="0" i="1">
                <a:solidFill>
                  <a:srgbClr val="607D8B"/>
                </a:solidFill>
                <a:latin typeface="Calibri"/>
              </a:rPr>
              <a:t>A conversation in the window.</a:t>
            </a:r>
          </a:p>
        </p:txBody>
      </p:sp>
      <p:sp>
        <p:nvSpPr>
          <p:cNvPr id="19" name="TextBox 18"/>
          <p:cNvSpPr txBox="1"/>
          <p:nvPr/>
        </p:nvSpPr>
        <p:spPr>
          <a:xfrm>
            <a:off x="822960" y="3200400"/>
            <a:ext cx="4815687" cy="1828800"/>
          </a:xfrm>
          <a:prstGeom prst="rect">
            <a:avLst/>
          </a:prstGeom>
          <a:noFill/>
        </p:spPr>
        <p:txBody>
          <a:bodyPr wrap="square" lIns="73152" rIns="73152" tIns="73152" bIns="73152"/>
          <a:lstStyle/>
          <a:p>
            <a:pPr marL="256032" indent="-256032">
              <a:lnSpc>
                <a:spcPct val="112000"/>
              </a:lnSpc>
              <a:spcAft>
                <a:spcPts val="600"/>
              </a:spcAft>
              <a:buClr>
                <a:srgbClr val="EC008C"/>
              </a:buClr>
              <a:buFont typeface="Arial"/>
              <a:buChar char="•"/>
            </a:pPr>
            <a:r>
              <a:rPr sz="1600" b="0" i="0">
                <a:solidFill>
                  <a:srgbClr val="1B2A4A"/>
                </a:solidFill>
                <a:latin typeface="Calibri"/>
              </a:rPr>
              <a:t>You type. It answers.</a:t>
            </a:r>
          </a:p>
          <a:p>
            <a:pPr marL="256032" indent="-256032">
              <a:lnSpc>
                <a:spcPct val="112000"/>
              </a:lnSpc>
              <a:spcAft>
                <a:spcPts val="600"/>
              </a:spcAft>
              <a:buClr>
                <a:srgbClr val="EC008C"/>
              </a:buClr>
              <a:buFont typeface="Arial"/>
              <a:buChar char="•"/>
            </a:pPr>
            <a:r>
              <a:rPr sz="1600" b="0" i="0">
                <a:solidFill>
                  <a:srgbClr val="1B2A4A"/>
                </a:solidFill>
                <a:latin typeface="Calibri"/>
              </a:rPr>
              <a:t>Attach a file if you need one.</a:t>
            </a:r>
          </a:p>
          <a:p>
            <a:pPr marL="256032" indent="-256032">
              <a:lnSpc>
                <a:spcPct val="112000"/>
              </a:lnSpc>
              <a:spcAft>
                <a:spcPts val="600"/>
              </a:spcAft>
              <a:buClr>
                <a:srgbClr val="EC008C"/>
              </a:buClr>
              <a:buFont typeface="Arial"/>
              <a:buChar char="•"/>
            </a:pPr>
            <a:r>
              <a:rPr sz="1600" b="0" i="0">
                <a:solidFill>
                  <a:srgbClr val="1B2A4A"/>
                </a:solidFill>
                <a:latin typeface="Calibri"/>
              </a:rPr>
              <a:t>Good for thinking, a draft, a quick check.</a:t>
            </a:r>
          </a:p>
        </p:txBody>
      </p:sp>
      <p:sp>
        <p:nvSpPr>
          <p:cNvPr id="20" name="Rounded Rectangle 19"/>
          <p:cNvSpPr/>
          <p:nvPr/>
        </p:nvSpPr>
        <p:spPr>
          <a:xfrm>
            <a:off x="6278727" y="2011680"/>
            <a:ext cx="5364327" cy="3200400"/>
          </a:xfrm>
          <a:prstGeom prst="roundRect">
            <a:avLst>
              <a:gd name="adj" fmla="val 8000"/>
            </a:avLst>
          </a:prstGeom>
          <a:solidFill>
            <a:srgbClr val="FFFFFF"/>
          </a:solidFill>
          <a:ln w="25400">
            <a:solidFill>
              <a:srgbClr val="2140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53047" y="2194560"/>
            <a:ext cx="4815687" cy="457200"/>
          </a:xfrm>
          <a:prstGeom prst="rect">
            <a:avLst/>
          </a:prstGeom>
          <a:noFill/>
        </p:spPr>
        <p:txBody>
          <a:bodyPr wrap="square" anchor="t" lIns="0" rIns="0" tIns="0" bIns="0"/>
          <a:lstStyle/>
          <a:p>
            <a:pPr algn="l">
              <a:lnSpc>
                <a:spcPct val="115000"/>
              </a:lnSpc>
              <a:spcAft>
                <a:spcPts val="400"/>
              </a:spcAft>
            </a:pPr>
            <a:r>
              <a:rPr sz="2600" b="1" i="0">
                <a:solidFill>
                  <a:srgbClr val="21409A"/>
                </a:solidFill>
                <a:latin typeface="Calibri"/>
              </a:rPr>
              <a:t>Cowork</a:t>
            </a:r>
          </a:p>
        </p:txBody>
      </p:sp>
      <p:sp>
        <p:nvSpPr>
          <p:cNvPr id="22" name="TextBox 21"/>
          <p:cNvSpPr txBox="1"/>
          <p:nvPr/>
        </p:nvSpPr>
        <p:spPr>
          <a:xfrm>
            <a:off x="6553047" y="2697480"/>
            <a:ext cx="4815687" cy="365760"/>
          </a:xfrm>
          <a:prstGeom prst="rect">
            <a:avLst/>
          </a:prstGeom>
          <a:noFill/>
        </p:spPr>
        <p:txBody>
          <a:bodyPr wrap="square" anchor="t" lIns="0" rIns="0" tIns="0" bIns="0"/>
          <a:lstStyle/>
          <a:p>
            <a:pPr algn="l">
              <a:lnSpc>
                <a:spcPct val="115000"/>
              </a:lnSpc>
              <a:spcAft>
                <a:spcPts val="400"/>
              </a:spcAft>
            </a:pPr>
            <a:r>
              <a:rPr sz="1500" b="0" i="1">
                <a:solidFill>
                  <a:srgbClr val="607D8B"/>
                </a:solidFill>
                <a:latin typeface="Calibri"/>
              </a:rPr>
              <a:t>You pick a folder on your computer.</a:t>
            </a:r>
          </a:p>
        </p:txBody>
      </p:sp>
      <p:sp>
        <p:nvSpPr>
          <p:cNvPr id="23" name="TextBox 22"/>
          <p:cNvSpPr txBox="1"/>
          <p:nvPr/>
        </p:nvSpPr>
        <p:spPr>
          <a:xfrm>
            <a:off x="6553047" y="3200400"/>
            <a:ext cx="4815687" cy="1828800"/>
          </a:xfrm>
          <a:prstGeom prst="rect">
            <a:avLst/>
          </a:prstGeom>
          <a:noFill/>
        </p:spPr>
        <p:txBody>
          <a:bodyPr wrap="square" lIns="73152" rIns="73152" tIns="73152" bIns="73152"/>
          <a:lstStyle/>
          <a:p>
            <a:pPr marL="256032" indent="-256032">
              <a:lnSpc>
                <a:spcPct val="112000"/>
              </a:lnSpc>
              <a:spcAft>
                <a:spcPts val="600"/>
              </a:spcAft>
              <a:buClr>
                <a:srgbClr val="EC008C"/>
              </a:buClr>
              <a:buFont typeface="Arial"/>
              <a:buChar char="•"/>
            </a:pPr>
            <a:r>
              <a:rPr sz="1600" b="0" i="0">
                <a:solidFill>
                  <a:srgbClr val="1B2A4A"/>
                </a:solidFill>
                <a:latin typeface="Calibri"/>
              </a:rPr>
              <a:t>It can read and write those files.</a:t>
            </a:r>
          </a:p>
          <a:p>
            <a:pPr marL="256032" indent="-256032">
              <a:lnSpc>
                <a:spcPct val="112000"/>
              </a:lnSpc>
              <a:spcAft>
                <a:spcPts val="600"/>
              </a:spcAft>
              <a:buClr>
                <a:srgbClr val="EC008C"/>
              </a:buClr>
              <a:buFont typeface="Arial"/>
              <a:buChar char="•"/>
            </a:pPr>
            <a:r>
              <a:rPr sz="1600" b="0" i="0">
                <a:solidFill>
                  <a:srgbClr val="1B2A4A"/>
                </a:solidFill>
                <a:latin typeface="Calibri"/>
              </a:rPr>
              <a:t>A report, a protocol, a set of slides.</a:t>
            </a:r>
          </a:p>
          <a:p>
            <a:pPr marL="256032" indent="-256032">
              <a:lnSpc>
                <a:spcPct val="112000"/>
              </a:lnSpc>
              <a:spcAft>
                <a:spcPts val="600"/>
              </a:spcAft>
              <a:buClr>
                <a:srgbClr val="EC008C"/>
              </a:buClr>
              <a:buFont typeface="Arial"/>
              <a:buChar char="•"/>
            </a:pPr>
            <a:r>
              <a:rPr sz="1600" b="0" i="0">
                <a:solidFill>
                  <a:srgbClr val="1B2A4A"/>
                </a:solidFill>
                <a:latin typeface="Calibri"/>
              </a:rPr>
              <a:t>Like a colleague at your desk, not a chat box.</a:t>
            </a:r>
          </a:p>
        </p:txBody>
      </p:sp>
      <p:sp>
        <p:nvSpPr>
          <p:cNvPr id="24" name="TextBox 23"/>
          <p:cNvSpPr txBox="1"/>
          <p:nvPr/>
        </p:nvSpPr>
        <p:spPr>
          <a:xfrm>
            <a:off x="548640" y="5440680"/>
            <a:ext cx="11094415" cy="457200"/>
          </a:xfrm>
          <a:prstGeom prst="rect">
            <a:avLst/>
          </a:prstGeom>
          <a:noFill/>
        </p:spPr>
        <p:txBody>
          <a:bodyPr wrap="square" anchor="t" lIns="0" rIns="0" tIns="0" bIns="0"/>
          <a:lstStyle/>
          <a:p>
            <a:pPr algn="ctr">
              <a:lnSpc>
                <a:spcPct val="115000"/>
              </a:lnSpc>
              <a:spcAft>
                <a:spcPts val="400"/>
              </a:spcAft>
            </a:pPr>
            <a:r>
              <a:rPr sz="2200" b="1" i="0">
                <a:solidFill>
                  <a:srgbClr val="EC008C"/>
                </a:solidFill>
                <a:latin typeface="Calibri"/>
              </a:rPr>
              <a:t>Same model. Different job.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OPEN · 00:00</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0-open.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86689402-af10-4f0e-b293-fb6a76db9a41}"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CHAT VERSUS COWORK</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What actually changes</a:t>
            </a:r>
          </a:p>
        </p:txBody>
      </p:sp>
      <p:graphicFrame>
        <p:nvGraphicFramePr>
          <p:cNvPr id="16" name="Table 15"/>
          <p:cNvGraphicFramePr>
            <a:graphicFrameLocks noGrp="1"/>
          </p:cNvGraphicFramePr>
          <p:nvPr/>
        </p:nvGraphicFramePr>
        <p:xfrm>
          <a:off x="548640" y="2011680"/>
          <a:ext cx="11094414" cy="3657600"/>
        </p:xfrm>
        <a:graphic>
          <a:graphicData uri="http://schemas.openxmlformats.org/drawingml/2006/table">
            <a:tbl>
              <a:tblPr firstRow="1" bandRow="1">
                <a:tableStyleId>{5C22544A-7EE6-4342-B048-85BDC9FD1C3A}</a:tableStyleId>
              </a:tblPr>
              <a:tblGrid>
                <a:gridCol w="3698138"/>
                <a:gridCol w="3698138"/>
                <a:gridCol w="3698138"/>
              </a:tblGrid>
              <a:tr h="457200">
                <a:tc>
                  <a:txBody>
                    <a:bodyPr wrap="square"/>
                    <a:lstStyle/>
                    <a:p/>
                  </a:txBody>
                  <a:tcPr marL="73152" marR="73152" marT="36576" marB="36576" anchor="ctr">
                    <a:solidFill>
                      <a:srgbClr val="21409A"/>
                    </a:solidFill>
                  </a:tcPr>
                </a:tc>
                <a:tc>
                  <a:txBody>
                    <a:bodyPr wrap="square"/>
                    <a:lstStyle/>
                    <a:p>
                      <a:r>
                        <a:rPr sz="1400" b="1" i="0">
                          <a:solidFill>
                            <a:srgbClr val="FFFFFF"/>
                          </a:solidFill>
                          <a:latin typeface="Calibri"/>
                        </a:rPr>
                        <a:t>Chat</a:t>
                      </a:r>
                    </a:p>
                  </a:txBody>
                  <a:tcPr marL="73152" marR="73152" marT="36576" marB="36576" anchor="ctr">
                    <a:solidFill>
                      <a:srgbClr val="21409A"/>
                    </a:solidFill>
                  </a:tcPr>
                </a:tc>
                <a:tc>
                  <a:txBody>
                    <a:bodyPr wrap="square"/>
                    <a:lstStyle/>
                    <a:p>
                      <a:r>
                        <a:rPr sz="1400" b="1" i="0">
                          <a:solidFill>
                            <a:srgbClr val="FFFFFF"/>
                          </a:solidFill>
                          <a:latin typeface="Calibri"/>
                        </a:rPr>
                        <a:t>Cowork</a:t>
                      </a:r>
                    </a:p>
                  </a:txBody>
                  <a:tcPr marL="73152" marR="73152" marT="36576" marB="36576" anchor="ctr">
                    <a:solidFill>
                      <a:srgbClr val="21409A"/>
                    </a:solidFill>
                  </a:tcPr>
                </a:tc>
              </a:tr>
              <a:tr h="457200">
                <a:tc>
                  <a:txBody>
                    <a:bodyPr wrap="square"/>
                    <a:lstStyle/>
                    <a:p>
                      <a:r>
                        <a:rPr sz="1400" b="1" i="0">
                          <a:solidFill>
                            <a:srgbClr val="1B2A4A"/>
                          </a:solidFill>
                          <a:latin typeface="Calibri"/>
                        </a:rPr>
                        <a:t>Files stay on your computer</a:t>
                      </a:r>
                    </a:p>
                  </a:txBody>
                  <a:tcPr marL="73152" marR="73152" marT="36576" marB="36576" anchor="ctr">
                    <a:solidFill>
                      <a:srgbClr val="FFFFFF"/>
                    </a:solidFill>
                  </a:tcPr>
                </a:tc>
                <a:tc>
                  <a:txBody>
                    <a:bodyPr wrap="square"/>
                    <a:lstStyle/>
                    <a:p>
                      <a:r>
                        <a:rPr sz="1400" b="0" i="0">
                          <a:solidFill>
                            <a:srgbClr val="1B2A4A"/>
                          </a:solidFill>
                          <a:latin typeface="Calibri"/>
                        </a:rPr>
                        <a:t>No — you attach them</a:t>
                      </a:r>
                    </a:p>
                  </a:txBody>
                  <a:tcPr marL="73152" marR="73152" marT="36576" marB="36576" anchor="ctr">
                    <a:solidFill>
                      <a:srgbClr val="FFFFFF"/>
                    </a:solidFill>
                  </a:tcPr>
                </a:tc>
                <a:tc>
                  <a:txBody>
                    <a:bodyPr wrap="square"/>
                    <a:lstStyle/>
                    <a:p>
                      <a:r>
                        <a:rPr sz="1400" b="0" i="0">
                          <a:solidFill>
                            <a:srgbClr val="1B2A4A"/>
                          </a:solidFill>
                          <a:latin typeface="Calibri"/>
                        </a:rPr>
                        <a:t>Yes — they stay in the folder</a:t>
                      </a:r>
                    </a:p>
                  </a:txBody>
                  <a:tcPr marL="73152" marR="73152" marT="36576" marB="36576" anchor="ctr">
                    <a:solidFill>
                      <a:srgbClr val="E8F1FB"/>
                    </a:solidFill>
                  </a:tcPr>
                </a:tc>
              </a:tr>
              <a:tr h="457200">
                <a:tc>
                  <a:txBody>
                    <a:bodyPr wrap="square"/>
                    <a:lstStyle/>
                    <a:p>
                      <a:r>
                        <a:rPr sz="1400" b="1" i="0">
                          <a:solidFill>
                            <a:srgbClr val="1B2A4A"/>
                          </a:solidFill>
                          <a:latin typeface="Calibri"/>
                        </a:rPr>
                        <a:t>File size limit</a:t>
                      </a:r>
                    </a:p>
                  </a:txBody>
                  <a:tcPr marL="73152" marR="73152" marT="36576" marB="36576" anchor="ctr">
                    <a:solidFill>
                      <a:srgbClr val="FAFBFD"/>
                    </a:solidFill>
                  </a:tcPr>
                </a:tc>
                <a:tc>
                  <a:txBody>
                    <a:bodyPr wrap="square"/>
                    <a:lstStyle/>
                    <a:p>
                      <a:r>
                        <a:rPr sz="1400" b="0" i="0">
                          <a:solidFill>
                            <a:srgbClr val="1B2A4A"/>
                          </a:solidFill>
                          <a:latin typeface="Calibri"/>
                        </a:rPr>
                        <a:t>Upload cap</a:t>
                      </a:r>
                    </a:p>
                  </a:txBody>
                  <a:tcPr marL="73152" marR="73152" marT="36576" marB="36576" anchor="ctr">
                    <a:solidFill>
                      <a:srgbClr val="FAFBFD"/>
                    </a:solidFill>
                  </a:tcPr>
                </a:tc>
                <a:tc>
                  <a:txBody>
                    <a:bodyPr wrap="square"/>
                    <a:lstStyle/>
                    <a:p>
                      <a:r>
                        <a:rPr sz="1400" b="0" i="0">
                          <a:solidFill>
                            <a:srgbClr val="1B2A4A"/>
                          </a:solidFill>
                          <a:latin typeface="Calibri"/>
                        </a:rPr>
                        <a:t>No upload cap</a:t>
                      </a:r>
                    </a:p>
                  </a:txBody>
                  <a:tcPr marL="73152" marR="73152" marT="36576" marB="36576" anchor="ctr">
                    <a:solidFill>
                      <a:srgbClr val="E8F1FB"/>
                    </a:solidFill>
                  </a:tcPr>
                </a:tc>
              </a:tr>
              <a:tr h="457200">
                <a:tc>
                  <a:txBody>
                    <a:bodyPr wrap="square"/>
                    <a:lstStyle/>
                    <a:p>
                      <a:r>
                        <a:rPr sz="1400" b="1" i="0">
                          <a:solidFill>
                            <a:srgbClr val="1B2A4A"/>
                          </a:solidFill>
                          <a:latin typeface="Calibri"/>
                        </a:rPr>
                        <a:t>Data still goes to Anthropic</a:t>
                      </a:r>
                    </a:p>
                  </a:txBody>
                  <a:tcPr marL="73152" marR="73152" marT="36576" marB="36576" anchor="ctr">
                    <a:solidFill>
                      <a:srgbClr val="FFFFFF"/>
                    </a:solidFill>
                  </a:tcPr>
                </a:tc>
                <a:tc>
                  <a:txBody>
                    <a:bodyPr wrap="square"/>
                    <a:lstStyle/>
                    <a:p>
                      <a:r>
                        <a:rPr sz="1400" b="0" i="0">
                          <a:solidFill>
                            <a:srgbClr val="1B2A4A"/>
                          </a:solidFill>
                          <a:latin typeface="Calibri"/>
                        </a:rPr>
                        <a:t>Yes</a:t>
                      </a:r>
                    </a:p>
                  </a:txBody>
                  <a:tcPr marL="73152" marR="73152" marT="36576" marB="36576" anchor="ctr">
                    <a:solidFill>
                      <a:srgbClr val="FFF8E1"/>
                    </a:solidFill>
                  </a:tcPr>
                </a:tc>
                <a:tc>
                  <a:txBody>
                    <a:bodyPr wrap="square"/>
                    <a:lstStyle/>
                    <a:p>
                      <a:r>
                        <a:rPr sz="1400" b="0" i="0">
                          <a:solidFill>
                            <a:srgbClr val="1B2A4A"/>
                          </a:solidFill>
                          <a:latin typeface="Calibri"/>
                        </a:rPr>
                        <a:t>Yes</a:t>
                      </a:r>
                    </a:p>
                  </a:txBody>
                  <a:tcPr marL="73152" marR="73152" marT="36576" marB="36576" anchor="ctr">
                    <a:solidFill>
                      <a:srgbClr val="FFF8E1"/>
                    </a:solidFill>
                  </a:tcPr>
                </a:tc>
              </a:tr>
              <a:tr h="457200">
                <a:tc>
                  <a:txBody>
                    <a:bodyPr wrap="square"/>
                    <a:lstStyle/>
                    <a:p>
                      <a:r>
                        <a:rPr sz="1400" b="1" i="0">
                          <a:solidFill>
                            <a:srgbClr val="1B2A4A"/>
                          </a:solidFill>
                          <a:latin typeface="Calibri"/>
                        </a:rPr>
                        <a:t>Rules so PHI does not leave</a:t>
                      </a:r>
                    </a:p>
                  </a:txBody>
                  <a:tcPr marL="73152" marR="73152" marT="36576" marB="36576" anchor="ctr">
                    <a:solidFill>
                      <a:srgbClr val="FAFBFD"/>
                    </a:solidFill>
                  </a:tcPr>
                </a:tc>
                <a:tc>
                  <a:txBody>
                    <a:bodyPr wrap="square"/>
                    <a:lstStyle/>
                    <a:p>
                      <a:r>
                        <a:rPr sz="1400" b="0" i="0">
                          <a:solidFill>
                            <a:srgbClr val="1B2A4A"/>
                          </a:solidFill>
                          <a:latin typeface="Calibri"/>
                        </a:rPr>
                        <a:t>Too late — you already pasted it</a:t>
                      </a:r>
                    </a:p>
                  </a:txBody>
                  <a:tcPr marL="73152" marR="73152" marT="36576" marB="36576" anchor="ctr">
                    <a:solidFill>
                      <a:srgbClr val="FAFBFD"/>
                    </a:solidFill>
                  </a:tcPr>
                </a:tc>
                <a:tc>
                  <a:txBody>
                    <a:bodyPr wrap="square"/>
                    <a:lstStyle/>
                    <a:p>
                      <a:r>
                        <a:rPr sz="1400" b="0" i="0">
                          <a:solidFill>
                            <a:srgbClr val="1B2A4A"/>
                          </a:solidFill>
                          <a:latin typeface="Calibri"/>
                        </a:rPr>
                        <a:t>Possible. Needs work.</a:t>
                      </a:r>
                    </a:p>
                  </a:txBody>
                  <a:tcPr marL="73152" marR="73152" marT="36576" marB="36576" anchor="ctr">
                    <a:solidFill>
                      <a:srgbClr val="FAFBFD"/>
                    </a:solidFill>
                  </a:tcPr>
                </a:tc>
              </a:tr>
              <a:tr h="457200">
                <a:tc>
                  <a:txBody>
                    <a:bodyPr wrap="square"/>
                    <a:lstStyle/>
                    <a:p>
                      <a:r>
                        <a:rPr sz="1400" b="1" i="0">
                          <a:solidFill>
                            <a:srgbClr val="1B2A4A"/>
                          </a:solidFill>
                          <a:latin typeface="Calibri"/>
                        </a:rPr>
                        <a:t>Organizing a project</a:t>
                      </a:r>
                    </a:p>
                  </a:txBody>
                  <a:tcPr marL="73152" marR="73152" marT="36576" marB="36576" anchor="ctr">
                    <a:solidFill>
                      <a:srgbClr val="FFFFFF"/>
                    </a:solidFill>
                  </a:tcPr>
                </a:tc>
                <a:tc>
                  <a:txBody>
                    <a:bodyPr wrap="square"/>
                    <a:lstStyle/>
                    <a:p>
                      <a:r>
                        <a:rPr sz="1400" b="0" i="0">
                          <a:solidFill>
                            <a:srgbClr val="1B2A4A"/>
                          </a:solidFill>
                          <a:latin typeface="Calibri"/>
                        </a:rPr>
                        <a:t>One long chat</a:t>
                      </a:r>
                    </a:p>
                  </a:txBody>
                  <a:tcPr marL="73152" marR="73152" marT="36576" marB="36576" anchor="ctr">
                    <a:solidFill>
                      <a:srgbClr val="FFFFFF"/>
                    </a:solidFill>
                  </a:tcPr>
                </a:tc>
                <a:tc>
                  <a:txBody>
                    <a:bodyPr wrap="square"/>
                    <a:lstStyle/>
                    <a:p>
                      <a:r>
                        <a:rPr sz="1400" b="0" i="0">
                          <a:solidFill>
                            <a:srgbClr val="1B2A4A"/>
                          </a:solidFill>
                          <a:latin typeface="Calibri"/>
                        </a:rPr>
                        <a:t>A folder. Easier.</a:t>
                      </a:r>
                    </a:p>
                  </a:txBody>
                  <a:tcPr marL="73152" marR="73152" marT="36576" marB="36576" anchor="ctr">
                    <a:solidFill>
                      <a:srgbClr val="E8F1FB"/>
                    </a:solidFill>
                  </a:tcPr>
                </a:tc>
              </a:tr>
              <a:tr h="457200">
                <a:tc>
                  <a:txBody>
                    <a:bodyPr wrap="square"/>
                    <a:lstStyle/>
                    <a:p>
                      <a:r>
                        <a:rPr sz="1400" b="1" i="0">
                          <a:solidFill>
                            <a:srgbClr val="1B2A4A"/>
                          </a:solidFill>
                          <a:latin typeface="Calibri"/>
                        </a:rPr>
                        <a:t>Skills and extra tools</a:t>
                      </a:r>
                    </a:p>
                  </a:txBody>
                  <a:tcPr marL="73152" marR="73152" marT="36576" marB="36576" anchor="ctr">
                    <a:solidFill>
                      <a:srgbClr val="FAFBFD"/>
                    </a:solidFill>
                  </a:tcPr>
                </a:tc>
                <a:tc>
                  <a:txBody>
                    <a:bodyPr wrap="square"/>
                    <a:lstStyle/>
                    <a:p>
                      <a:r>
                        <a:rPr sz="1400" b="0" i="0">
                          <a:solidFill>
                            <a:srgbClr val="1B2A4A"/>
                          </a:solidFill>
                          <a:latin typeface="Calibri"/>
                        </a:rPr>
                        <a:t>In the window</a:t>
                      </a:r>
                    </a:p>
                  </a:txBody>
                  <a:tcPr marL="73152" marR="73152" marT="36576" marB="36576" anchor="ctr">
                    <a:solidFill>
                      <a:srgbClr val="FAFBFD"/>
                    </a:solidFill>
                  </a:tcPr>
                </a:tc>
                <a:tc>
                  <a:txBody>
                    <a:bodyPr wrap="square"/>
                    <a:lstStyle/>
                    <a:p>
                      <a:r>
                        <a:rPr sz="1400" b="0" i="0">
                          <a:solidFill>
                            <a:srgbClr val="1B2A4A"/>
                          </a:solidFill>
                          <a:latin typeface="Calibri"/>
                        </a:rPr>
                        <a:t>Easier to import and use</a:t>
                      </a:r>
                    </a:p>
                  </a:txBody>
                  <a:tcPr marL="73152" marR="73152" marT="36576" marB="36576" anchor="ctr">
                    <a:solidFill>
                      <a:srgbClr val="E8F1FB"/>
                    </a:solidFill>
                  </a:tcPr>
                </a:tc>
              </a:tr>
              <a:tr h="457200">
                <a:tc>
                  <a:txBody>
                    <a:bodyPr wrap="square"/>
                    <a:lstStyle/>
                    <a:p>
                      <a:r>
                        <a:rPr sz="1400" b="1" i="0">
                          <a:solidFill>
                            <a:srgbClr val="1B2A4A"/>
                          </a:solidFill>
                          <a:latin typeface="Calibri"/>
                        </a:rPr>
                        <a:t>Work from anywhere</a:t>
                      </a:r>
                    </a:p>
                  </a:txBody>
                  <a:tcPr marL="73152" marR="73152" marT="36576" marB="36576" anchor="ctr">
                    <a:solidFill>
                      <a:srgbClr val="FFFFFF"/>
                    </a:solidFill>
                  </a:tcPr>
                </a:tc>
                <a:tc>
                  <a:txBody>
                    <a:bodyPr wrap="square"/>
                    <a:lstStyle/>
                    <a:p>
                      <a:r>
                        <a:rPr sz="1400" b="0" i="0">
                          <a:solidFill>
                            <a:srgbClr val="1B2A4A"/>
                          </a:solidFill>
                          <a:latin typeface="Calibri"/>
                        </a:rPr>
                        <a:t>Everywhere</a:t>
                      </a:r>
                    </a:p>
                  </a:txBody>
                  <a:tcPr marL="73152" marR="73152" marT="36576" marB="36576" anchor="ctr">
                    <a:solidFill>
                      <a:srgbClr val="FFFFFF"/>
                    </a:solidFill>
                  </a:tcPr>
                </a:tc>
                <a:tc>
                  <a:txBody>
                    <a:bodyPr wrap="square"/>
                    <a:lstStyle/>
                    <a:p>
                      <a:r>
                        <a:rPr sz="1400" b="0" i="0">
                          <a:solidFill>
                            <a:srgbClr val="1B2A4A"/>
                          </a:solidFill>
                          <a:latin typeface="Calibri"/>
                        </a:rPr>
                        <a:t>Everywhere</a:t>
                      </a:r>
                    </a:p>
                  </a:txBody>
                  <a:tcPr marL="73152" marR="73152" marT="36576" marB="36576"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OPEN · 00:00</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0-open.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e52c1e17-2458-4440-92b0-98228fb1a538}"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CLAUDE.AI HOME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The same switch, on the screen</a:t>
            </a:r>
          </a:p>
        </p:txBody>
      </p:sp>
      <p:pic>
        <p:nvPicPr>
          <p:cNvPr id="16" name="Picture 15" descr="claude-cowork.png"/>
          <p:cNvPicPr>
            <a:picLocks noChangeAspect="1"/>
          </p:cNvPicPr>
          <p:nvPr/>
        </p:nvPicPr>
        <p:blipFill>
          <a:blip r:embed="rId4"/>
          <a:stretch>
            <a:fillRect/>
          </a:stretch>
        </p:blipFill>
        <p:spPr>
          <a:xfrm>
            <a:off x="2462153" y="1920240"/>
            <a:ext cx="7267388" cy="4343400"/>
          </a:xfrm>
          <a:prstGeom prst="rect">
            <a:avLst/>
          </a:prstGeom>
          <a:ln w="9525">
            <a:solidFill>
              <a:srgbClr val="E0E0E0"/>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1</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1  ·  00:04</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Prompting
like a guru</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Build the prompt in four pieces: role, context, constraints, format.</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1-prompting.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ebda8541-dfce-4d41-8ca6-a378bfc96f34}" type="datetime9">
              <a:rPr lang="en-US" sz="1400" b="1" dirty="0" smtClean="0">
                <a:solidFill>
                  <a:srgbClr val="FFFFFF"/>
                </a:solidFill>
                <a:latin typeface="Calibri"/>
              </a:rPr>
              <a:t>1:03 AM</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 · 00:04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1-prompting.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c866cccf-99b6-42d2-b50e-6ad03abc6601}"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3F51B5"/>
                </a:solidFill>
                <a:latin typeface="Calibri"/>
              </a:rPr>
              <a:t>SYNTHETIC CASE · NOT A REAL PATIENT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6-year-old — fever on day 10</a:t>
            </a:r>
          </a:p>
        </p:txBody>
      </p:sp>
      <p:sp>
        <p:nvSpPr>
          <p:cNvPr id="16" name="Rounded Rectangle 15"/>
          <p:cNvSpPr/>
          <p:nvPr/>
        </p:nvSpPr>
        <p:spPr>
          <a:xfrm>
            <a:off x="548640" y="1965960"/>
            <a:ext cx="137160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SYNTHETIC CASE</a:t>
            </a:r>
          </a:p>
        </p:txBody>
      </p:sp>
      <p:sp>
        <p:nvSpPr>
          <p:cNvPr id="17" name="Rounded Rectangle 16"/>
          <p:cNvSpPr/>
          <p:nvPr/>
        </p:nvSpPr>
        <p:spPr>
          <a:xfrm>
            <a:off x="2057400" y="1965960"/>
            <a:ext cx="1645920" cy="274320"/>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8D6E00"/>
                </a:solidFill>
                <a:latin typeface="Calibri"/>
              </a:rPr>
              <a:t>NOT A REAL PATIENT</a:t>
            </a:r>
          </a:p>
        </p:txBody>
      </p:sp>
      <p:sp>
        <p:nvSpPr>
          <p:cNvPr id="18" name="TextBox 17"/>
          <p:cNvSpPr txBox="1"/>
          <p:nvPr/>
        </p:nvSpPr>
        <p:spPr>
          <a:xfrm>
            <a:off x="548640" y="2377440"/>
            <a:ext cx="6400800" cy="2377440"/>
          </a:xfrm>
          <a:prstGeom prst="rect">
            <a:avLst/>
          </a:prstGeom>
          <a:noFill/>
        </p:spPr>
        <p:txBody>
          <a:bodyPr wrap="square" lIns="73152" rIns="73152" tIns="73152" bIns="73152"/>
          <a:lstStyle/>
          <a:p>
            <a:pPr marL="256032" indent="-256032">
              <a:lnSpc>
                <a:spcPct val="112000"/>
              </a:lnSpc>
              <a:spcAft>
                <a:spcPts val="1000"/>
              </a:spcAft>
              <a:buClr>
                <a:srgbClr val="EC008C"/>
              </a:buClr>
              <a:buFont typeface="Arial"/>
              <a:buChar char="•"/>
            </a:pPr>
            <a:r>
              <a:rPr sz="1900" b="0" i="0">
                <a:solidFill>
                  <a:srgbClr val="1B2A4A"/>
                </a:solidFill>
                <a:latin typeface="Calibri"/>
              </a:rPr>
              <a:t>B-ALL, day 10 after intensification. Tunneled central line.</a:t>
            </a:r>
          </a:p>
          <a:p>
            <a:pPr marL="256032" indent="-256032">
              <a:lnSpc>
                <a:spcPct val="112000"/>
              </a:lnSpc>
              <a:spcAft>
                <a:spcPts val="1000"/>
              </a:spcAft>
              <a:buClr>
                <a:srgbClr val="EC008C"/>
              </a:buClr>
              <a:buFont typeface="Arial"/>
              <a:buChar char="•"/>
            </a:pPr>
            <a:r>
              <a:rPr sz="1900" b="0" i="0">
                <a:solidFill>
                  <a:srgbClr val="1B2A4A"/>
                </a:solidFill>
                <a:latin typeface="Calibri"/>
              </a:rPr>
              <a:t>Temperature 38.8 °C at home for 2 hours. ANC this morning: 80 /µL.</a:t>
            </a:r>
          </a:p>
          <a:p>
            <a:pPr marL="256032" indent="-256032">
              <a:lnSpc>
                <a:spcPct val="112000"/>
              </a:lnSpc>
              <a:spcAft>
                <a:spcPts val="1000"/>
              </a:spcAft>
              <a:buClr>
                <a:srgbClr val="EC008C"/>
              </a:buClr>
              <a:buFont typeface="Arial"/>
              <a:buChar char="•"/>
            </a:pPr>
            <a:r>
              <a:rPr sz="1900" b="0" i="0">
                <a:solidFill>
                  <a:srgbClr val="1B2A4A"/>
                </a:solidFill>
                <a:latin typeface="Calibri"/>
              </a:rPr>
              <a:t>Penicillin allergy (rash). Parents ask: can we wait for the morning clinic?</a:t>
            </a:r>
          </a:p>
        </p:txBody>
      </p:sp>
      <p:sp>
        <p:nvSpPr>
          <p:cNvPr id="19" name="Rounded Rectangle 18"/>
          <p:cNvSpPr/>
          <p:nvPr/>
        </p:nvSpPr>
        <p:spPr>
          <a:xfrm>
            <a:off x="7406640" y="2011680"/>
            <a:ext cx="4236415" cy="27432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5240" y="2148840"/>
            <a:ext cx="3779215" cy="2468880"/>
          </a:xfrm>
          <a:prstGeom prst="rect">
            <a:avLst/>
          </a:prstGeom>
          <a:noFill/>
        </p:spPr>
        <p:txBody>
          <a:bodyPr wrap="square" anchor="t" lIns="0" rIns="0" tIns="0" bIns="0"/>
          <a:lstStyle/>
          <a:p>
            <a:pPr algn="l">
              <a:lnSpc>
                <a:spcPct val="115000"/>
              </a:lnSpc>
              <a:spcAft>
                <a:spcPts val="400"/>
              </a:spcAft>
            </a:pPr>
            <a:r>
              <a:rPr sz="1000" b="1" i="0">
                <a:solidFill>
                  <a:srgbClr val="034EA2"/>
                </a:solidFill>
                <a:latin typeface="Calibri"/>
              </a:rPr>
              <a:t>THE JOB</a:t>
            </a:r>
          </a:p>
          <a:p>
            <a:pPr algn="l">
              <a:lnSpc>
                <a:spcPct val="115000"/>
              </a:lnSpc>
              <a:spcAft>
                <a:spcPts val="400"/>
              </a:spcAft>
            </a:pPr>
            <a:r>
              <a:rPr sz="1800" b="1" i="0">
                <a:solidFill>
                  <a:srgbClr val="1B2A4A"/>
                </a:solidFill>
                <a:latin typeface="Calibri"/>
              </a:rPr>
              <a:t>Write a note the parents can take home about tonight.</a:t>
            </a:r>
          </a:p>
          <a:p>
            <a:pPr algn="l">
              <a:lnSpc>
                <a:spcPct val="115000"/>
              </a:lnSpc>
              <a:spcAft>
                <a:spcPts val="400"/>
              </a:spcAft>
            </a:pPr>
            <a:r>
              <a:rPr sz="1300" b="0" i="0">
                <a:solidFill>
                  <a:srgbClr val="607D8B"/>
                </a:solidFill>
                <a:latin typeface="Calibri"/>
              </a:rPr>
              <a:t>The same request, sent four ways. Each piece you add changes the answer.</a:t>
            </a:r>
          </a:p>
        </p:txBody>
      </p:sp>
      <p:sp>
        <p:nvSpPr>
          <p:cNvPr id="21" name="Rounded Rectangle 20"/>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into a consumer AI tool.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 · 00:04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1-prompting.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cef63b9-4661-40db-b809-0bbfc56063a8}"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3F51B5"/>
                </a:solidFill>
                <a:latin typeface="Calibri"/>
              </a:rPr>
              <a:t>THE PROMPT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Four pieces. Add them one at a time.</a:t>
            </a:r>
          </a:p>
        </p:txBody>
      </p:sp>
      <p:sp>
        <p:nvSpPr>
          <p:cNvPr id="16" name="Rounded Rectangle 15"/>
          <p:cNvSpPr/>
          <p:nvPr/>
        </p:nvSpPr>
        <p:spPr>
          <a:xfrm>
            <a:off x="548640" y="1920240"/>
            <a:ext cx="5432907" cy="19659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048256"/>
            <a:ext cx="384048" cy="384048"/>
          </a:xfrm>
          <a:prstGeom prst="roundRect">
            <a:avLst>
              <a:gd name="adj" fmla="val 2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048256"/>
            <a:ext cx="463737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Role</a:t>
            </a:r>
          </a:p>
        </p:txBody>
      </p:sp>
      <p:sp>
        <p:nvSpPr>
          <p:cNvPr id="19" name="TextBox 18"/>
          <p:cNvSpPr txBox="1"/>
          <p:nvPr/>
        </p:nvSpPr>
        <p:spPr>
          <a:xfrm>
            <a:off x="1197864" y="2467051"/>
            <a:ext cx="4637379" cy="133136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You are a pediatric oncology nurse writing for a parent who finished primary school.</a:t>
            </a:r>
          </a:p>
        </p:txBody>
      </p:sp>
      <p:sp>
        <p:nvSpPr>
          <p:cNvPr id="20" name="Rounded Rectangle 19"/>
          <p:cNvSpPr/>
          <p:nvPr/>
        </p:nvSpPr>
        <p:spPr>
          <a:xfrm>
            <a:off x="6210147" y="1920240"/>
            <a:ext cx="5432907" cy="19659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356451" y="2048256"/>
            <a:ext cx="384048" cy="384048"/>
          </a:xfrm>
          <a:prstGeom prst="roundRect">
            <a:avLst>
              <a:gd name="adj" fmla="val 2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2" name="TextBox 21"/>
          <p:cNvSpPr txBox="1"/>
          <p:nvPr/>
        </p:nvSpPr>
        <p:spPr>
          <a:xfrm>
            <a:off x="6859371" y="2048256"/>
            <a:ext cx="463737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Context</a:t>
            </a:r>
          </a:p>
        </p:txBody>
      </p:sp>
      <p:sp>
        <p:nvSpPr>
          <p:cNvPr id="23" name="TextBox 22"/>
          <p:cNvSpPr txBox="1"/>
          <p:nvPr/>
        </p:nvSpPr>
        <p:spPr>
          <a:xfrm>
            <a:off x="6859371" y="2467051"/>
            <a:ext cx="4637379" cy="133136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Synthetic case (not a real patient): 6-year-old, B-ALL, day 10 after intensification · tunneled central line · fever 38.8 °C at home for 2 hours · ANC this morning 80 /µL · penicillin allergy (rash) · the child is coming to the unit now; the parents asked if they could wait until morning clinic.</a:t>
            </a:r>
          </a:p>
        </p:txBody>
      </p:sp>
      <p:sp>
        <p:nvSpPr>
          <p:cNvPr id="24" name="Rounded Rectangle 23"/>
          <p:cNvSpPr/>
          <p:nvPr/>
        </p:nvSpPr>
        <p:spPr>
          <a:xfrm>
            <a:off x="548640" y="4069080"/>
            <a:ext cx="5432907" cy="19659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94944" y="4197096"/>
            <a:ext cx="384048" cy="384048"/>
          </a:xfrm>
          <a:prstGeom prst="roundRect">
            <a:avLst>
              <a:gd name="adj" fmla="val 2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6" name="TextBox 25"/>
          <p:cNvSpPr txBox="1"/>
          <p:nvPr/>
        </p:nvSpPr>
        <p:spPr>
          <a:xfrm>
            <a:off x="1197864" y="4197096"/>
            <a:ext cx="463737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Constraints</a:t>
            </a:r>
          </a:p>
        </p:txBody>
      </p:sp>
      <p:sp>
        <p:nvSpPr>
          <p:cNvPr id="27" name="TextBox 26"/>
          <p:cNvSpPr txBox="1"/>
          <p:nvPr/>
        </p:nvSpPr>
        <p:spPr>
          <a:xfrm>
            <a:off x="1197864" y="4615891"/>
            <a:ext cx="4637379" cy="133136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Do not invent citations · do not use a patient name · grade 6 reading level · this is teaching, not a discharge order · do not tell them they can wait at home.</a:t>
            </a:r>
          </a:p>
        </p:txBody>
      </p:sp>
      <p:sp>
        <p:nvSpPr>
          <p:cNvPr id="28" name="Rounded Rectangle 27"/>
          <p:cNvSpPr/>
          <p:nvPr/>
        </p:nvSpPr>
        <p:spPr>
          <a:xfrm>
            <a:off x="6210147" y="4069080"/>
            <a:ext cx="5432907" cy="19659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356451" y="4197096"/>
            <a:ext cx="384048" cy="384048"/>
          </a:xfrm>
          <a:prstGeom prst="roundRect">
            <a:avLst>
              <a:gd name="adj" fmla="val 2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0" name="TextBox 29"/>
          <p:cNvSpPr txBox="1"/>
          <p:nvPr/>
        </p:nvSpPr>
        <p:spPr>
          <a:xfrm>
            <a:off x="6859371" y="4197096"/>
            <a:ext cx="463737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Format</a:t>
            </a:r>
          </a:p>
        </p:txBody>
      </p:sp>
      <p:sp>
        <p:nvSpPr>
          <p:cNvPr id="31" name="TextBox 30"/>
          <p:cNvSpPr txBox="1"/>
          <p:nvPr/>
        </p:nvSpPr>
        <p:spPr>
          <a:xfrm>
            <a:off x="6859371" y="4615891"/>
            <a:ext cx="4637379" cy="133136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A short note they can keep: 1) what is happening · 2) what we will do tonight · 3) what they should watch for · 4) one sentence they can repeat to family.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 · 00:04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1-prompting.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8b6c32e0-2e12-4c6f-920c-c98cd0bf6561}"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3F51B5"/>
                </a:solidFill>
                <a:latin typeface="Calibri"/>
              </a:rPr>
              <a:t>SAME CASE · THE PIECES CHANGE THE ANSWER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What comes back</a:t>
            </a:r>
          </a:p>
        </p:txBody>
      </p:sp>
      <p:sp>
        <p:nvSpPr>
          <p:cNvPr id="16" name="Rounded Rectangle 15"/>
          <p:cNvSpPr/>
          <p:nvPr/>
        </p:nvSpPr>
        <p:spPr>
          <a:xfrm>
            <a:off x="548640" y="1920240"/>
            <a:ext cx="5410047" cy="14173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1993392"/>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NO PIECES — JUST THE JOB</a:t>
            </a:r>
          </a:p>
        </p:txBody>
      </p:sp>
      <p:sp>
        <p:nvSpPr>
          <p:cNvPr id="18" name="TextBox 17"/>
          <p:cNvSpPr txBox="1"/>
          <p:nvPr/>
        </p:nvSpPr>
        <p:spPr>
          <a:xfrm>
            <a:off x="676656" y="2212848"/>
            <a:ext cx="5154015" cy="105156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Your child has a fever after chemotherapy. Give paracetamol and bring them to the morning clinic if they are otherwise well. A 2019 Smith review found most of these episodes settle at home.</a:t>
            </a:r>
          </a:p>
        </p:txBody>
      </p:sp>
      <p:sp>
        <p:nvSpPr>
          <p:cNvPr id="19" name="TextBox 18"/>
          <p:cNvSpPr txBox="1"/>
          <p:nvPr/>
        </p:nvSpPr>
        <p:spPr>
          <a:xfrm>
            <a:off x="548640" y="3383280"/>
            <a:ext cx="5410047" cy="457200"/>
          </a:xfrm>
          <a:prstGeom prst="rect">
            <a:avLst/>
          </a:prstGeom>
          <a:noFill/>
        </p:spPr>
        <p:txBody>
          <a:bodyPr wrap="square" anchor="t" lIns="0" rIns="0" tIns="0" bIns="0"/>
          <a:lstStyle/>
          <a:p>
            <a:pPr algn="l">
              <a:lnSpc>
                <a:spcPct val="115000"/>
              </a:lnSpc>
              <a:spcAft>
                <a:spcPts val="400"/>
              </a:spcAft>
            </a:pPr>
            <a:r>
              <a:rPr sz="1200" b="1" i="0">
                <a:solidFill>
                  <a:srgbClr val="C62828"/>
                </a:solidFill>
                <a:latin typeface="Calibri"/>
              </a:rPr>
              <a:t>Wrong advice, invented citation, no facts. This is the lazy answer.</a:t>
            </a:r>
          </a:p>
        </p:txBody>
      </p:sp>
      <p:sp>
        <p:nvSpPr>
          <p:cNvPr id="20" name="Rounded Rectangle 19"/>
          <p:cNvSpPr/>
          <p:nvPr/>
        </p:nvSpPr>
        <p:spPr>
          <a:xfrm>
            <a:off x="548640" y="3931920"/>
            <a:ext cx="5410047" cy="16002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6656" y="4005072"/>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ROLE + CONTEXT + CONSTRAINTS</a:t>
            </a:r>
          </a:p>
        </p:txBody>
      </p:sp>
      <p:sp>
        <p:nvSpPr>
          <p:cNvPr id="22" name="TextBox 21"/>
          <p:cNvSpPr txBox="1"/>
          <p:nvPr/>
        </p:nvSpPr>
        <p:spPr>
          <a:xfrm>
            <a:off x="676656" y="4224528"/>
            <a:ext cx="5154015" cy="1234440"/>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Your child has a fever and a very low white-cell count, and they have a central line. That combination is treated as urgent. We want them on the unit tonight, not at home until morning. We will take blood tests and start antibiotics that are safe with the penicillin rash. I am not quoting a paper; we will follow the unit protocol.</a:t>
            </a:r>
          </a:p>
        </p:txBody>
      </p:sp>
      <p:sp>
        <p:nvSpPr>
          <p:cNvPr id="23" name="Rounded Rectangle 22"/>
          <p:cNvSpPr/>
          <p:nvPr/>
        </p:nvSpPr>
        <p:spPr>
          <a:xfrm>
            <a:off x="6233007" y="1920240"/>
            <a:ext cx="5410047" cy="36118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61023" y="1993392"/>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ALL FOUR PIECES</a:t>
            </a:r>
          </a:p>
        </p:txBody>
      </p:sp>
      <p:sp>
        <p:nvSpPr>
          <p:cNvPr id="25" name="TextBox 24"/>
          <p:cNvSpPr txBox="1"/>
          <p:nvPr/>
        </p:nvSpPr>
        <p:spPr>
          <a:xfrm>
            <a:off x="6361023" y="2212848"/>
            <a:ext cx="5154015" cy="3246120"/>
          </a:xfrm>
          <a:prstGeom prst="rect">
            <a:avLst/>
          </a:prstGeom>
          <a:noFill/>
        </p:spPr>
        <p:txBody>
          <a:bodyPr wrap="square" anchor="t" lIns="0" rIns="0" tIns="0" bIns="0"/>
          <a:lstStyle/>
          <a:p>
            <a:pPr algn="l">
              <a:lnSpc>
                <a:spcPct val="112000"/>
              </a:lnSpc>
              <a:spcAft>
                <a:spcPts val="300"/>
              </a:spcAft>
            </a:pPr>
            <a:r>
              <a:rPr sz="1200" b="1" i="0">
                <a:solidFill>
                  <a:srgbClr val="1B2A4A"/>
                </a:solidFill>
                <a:latin typeface="Calibri"/>
              </a:rPr>
              <a:t>What is happening.</a:t>
            </a:r>
            <a:r>
              <a:rPr sz="1200" b="0" i="0">
                <a:solidFill>
                  <a:srgbClr val="1B2A4A"/>
                </a:solidFill>
                <a:latin typeface="Calibri"/>
              </a:rPr>
              <a:t> Your child has a fever and a very low infection-fighting count. They also have a central line. We treat that as urgent.
</a:t>
            </a:r>
            <a:r>
              <a:rPr sz="1200" b="1" i="0">
                <a:solidFill>
                  <a:srgbClr val="1B2A4A"/>
                </a:solidFill>
                <a:latin typeface="Calibri"/>
              </a:rPr>
              <a:t>What we will do tonight.</a:t>
            </a:r>
            <a:r>
              <a:rPr sz="1200" b="0" i="0">
                <a:solidFill>
                  <a:srgbClr val="1B2A4A"/>
                </a:solidFill>
                <a:latin typeface="Calibri"/>
              </a:rPr>
              <a:t> Come to the unit now. We will take blood, look at the line, and start antibiotics that are safe with the penicillin rash.
</a:t>
            </a:r>
            <a:r>
              <a:rPr sz="1200" b="1" i="0">
                <a:solidFill>
                  <a:srgbClr val="1B2A4A"/>
                </a:solidFill>
                <a:latin typeface="Calibri"/>
              </a:rPr>
              <a:t>What to watch for.</a:t>
            </a:r>
            <a:r>
              <a:rPr sz="1200" b="0" i="0">
                <a:solidFill>
                  <a:srgbClr val="1B2A4A"/>
                </a:solidFill>
                <a:latin typeface="Calibri"/>
              </a:rPr>
              <a:t> New shivering, looking much more tired, fast breathing, or a red line site — tell the nurse at once.
</a:t>
            </a:r>
            <a:r>
              <a:rPr sz="1200" b="1" i="0">
                <a:solidFill>
                  <a:srgbClr val="1B2A4A"/>
                </a:solidFill>
                <a:latin typeface="Calibri"/>
              </a:rPr>
              <a:t>One sentence for family.</a:t>
            </a:r>
            <a:r>
              <a:rPr sz="1200" b="0" i="0">
                <a:solidFill>
                  <a:srgbClr val="1B2A4A"/>
                </a:solidFill>
                <a:latin typeface="Calibri"/>
              </a:rPr>
              <a:t> “Fever with a low count and a line means we come in tonight, not in the morning.”
This is a teaching note, not a discharge order.</a:t>
            </a:r>
          </a:p>
        </p:txBody>
      </p:sp>
      <p:sp>
        <p:nvSpPr>
          <p:cNvPr id="26" name="TextBox 25"/>
          <p:cNvSpPr txBox="1"/>
          <p:nvPr/>
        </p:nvSpPr>
        <p:spPr>
          <a:xfrm>
            <a:off x="6233007" y="5577840"/>
            <a:ext cx="5410047" cy="457200"/>
          </a:xfrm>
          <a:prstGeom prst="rect">
            <a:avLst/>
          </a:prstGeom>
          <a:noFill/>
        </p:spPr>
        <p:txBody>
          <a:bodyPr wrap="square" anchor="t" lIns="0" rIns="0" tIns="0" bIns="0"/>
          <a:lstStyle/>
          <a:p>
            <a:pPr algn="l">
              <a:lnSpc>
                <a:spcPct val="115000"/>
              </a:lnSpc>
              <a:spcAft>
                <a:spcPts val="400"/>
              </a:spcAft>
            </a:pPr>
            <a:r>
              <a:rPr sz="1200" b="1" i="0">
                <a:solidFill>
                  <a:srgbClr val="2E7D32"/>
                </a:solidFill>
                <a:latin typeface="Calibri"/>
              </a:rPr>
              <a:t>Correct, safe, and in the shape the family can keep.</a:t>
            </a:r>
          </a:p>
        </p:txBody>
      </p:sp>
      <p:sp>
        <p:nvSpPr>
          <p:cNvPr id="27" name="Rounded Rectangle 26"/>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into a consumer AI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2</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2  ·  00:12</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Reading the
literature</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One guideline, five outputs: NotebookLM, infographic, video, artifact, mermaid.</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2-literature.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6fcc3560-0d8b-420b-8c0f-f2dc19d418c1}" type="datetime9">
              <a:rPr lang="en-US" sz="1400" b="1" dirty="0" smtClean="0">
                <a:solidFill>
                  <a:srgbClr val="FFFFFF"/>
                </a:solidFill>
                <a:latin typeface="Calibri"/>
              </a:rPr>
              <a:t>1:03 AM</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2 · 00:12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2-literature.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88970a9-b94f-424b-87e9-3d36fd58ba54}"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897B"/>
                </a:solidFill>
                <a:latin typeface="Calibri"/>
              </a:rPr>
              <a:t>THE SOURCE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paper for the whole block</a:t>
            </a:r>
          </a:p>
        </p:txBody>
      </p:sp>
      <p:sp>
        <p:nvSpPr>
          <p:cNvPr id="16" name="Rounded Rectangle 15"/>
          <p:cNvSpPr/>
          <p:nvPr/>
        </p:nvSpPr>
        <p:spPr>
          <a:xfrm>
            <a:off x="548640" y="2011680"/>
            <a:ext cx="11094415" cy="15544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2960" y="2194560"/>
            <a:ext cx="91440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JCO 2023</a:t>
            </a:r>
          </a:p>
        </p:txBody>
      </p:sp>
      <p:sp>
        <p:nvSpPr>
          <p:cNvPr id="18" name="TextBox 17"/>
          <p:cNvSpPr txBox="1"/>
          <p:nvPr/>
        </p:nvSpPr>
        <p:spPr>
          <a:xfrm>
            <a:off x="822960" y="2560320"/>
            <a:ext cx="10545775" cy="45720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Guideline for the Management of Fever and Neutropenia in Pediatric Patients With Cancer and HCT Recipients: 2023 Update</a:t>
            </a:r>
          </a:p>
        </p:txBody>
      </p:sp>
      <p:sp>
        <p:nvSpPr>
          <p:cNvPr id="19" name="TextBox 18"/>
          <p:cNvSpPr txBox="1"/>
          <p:nvPr/>
        </p:nvSpPr>
        <p:spPr>
          <a:xfrm>
            <a:off x="822960" y="3063240"/>
            <a:ext cx="10545775" cy="36576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Lehrnbecher et al. · J Clin Oncol. 2023;41(9):1774-1785 · doi 10.1200/JCO.22.02224</a:t>
            </a:r>
          </a:p>
        </p:txBody>
      </p:sp>
      <p:sp>
        <p:nvSpPr>
          <p:cNvPr id="20" name="Rounded Rectangle 19"/>
          <p:cNvSpPr/>
          <p:nvPr/>
        </p:nvSpPr>
        <p:spPr>
          <a:xfrm>
            <a:off x="548640"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58368"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22" name="TextBox 21"/>
          <p:cNvSpPr txBox="1"/>
          <p:nvPr/>
        </p:nvSpPr>
        <p:spPr>
          <a:xfrm>
            <a:off x="1161288"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Paper</a:t>
            </a:r>
          </a:p>
        </p:txBody>
      </p:sp>
      <p:sp>
        <p:nvSpPr>
          <p:cNvPr id="23" name="TextBox 22"/>
          <p:cNvSpPr txBox="1"/>
          <p:nvPr/>
        </p:nvSpPr>
        <p:spPr>
          <a:xfrm>
            <a:off x="1161288"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Open the PDF.</a:t>
            </a:r>
          </a:p>
        </p:txBody>
      </p:sp>
      <p:sp>
        <p:nvSpPr>
          <p:cNvPr id="24" name="Rounded Rectangle 23"/>
          <p:cNvSpPr/>
          <p:nvPr/>
        </p:nvSpPr>
        <p:spPr>
          <a:xfrm>
            <a:off x="2153150"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2262878"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6" name="TextBox 25"/>
          <p:cNvSpPr txBox="1"/>
          <p:nvPr/>
        </p:nvSpPr>
        <p:spPr>
          <a:xfrm>
            <a:off x="2765798"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Upload</a:t>
            </a:r>
          </a:p>
        </p:txBody>
      </p:sp>
      <p:sp>
        <p:nvSpPr>
          <p:cNvPr id="27" name="TextBox 26"/>
          <p:cNvSpPr txBox="1"/>
          <p:nvPr/>
        </p:nvSpPr>
        <p:spPr>
          <a:xfrm>
            <a:off x="2765798"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New NotebookLM notebook.</a:t>
            </a:r>
          </a:p>
        </p:txBody>
      </p:sp>
      <p:sp>
        <p:nvSpPr>
          <p:cNvPr id="28" name="Rounded Rectangle 27"/>
          <p:cNvSpPr/>
          <p:nvPr/>
        </p:nvSpPr>
        <p:spPr>
          <a:xfrm>
            <a:off x="3757661"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3867389"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30" name="TextBox 29"/>
          <p:cNvSpPr txBox="1"/>
          <p:nvPr/>
        </p:nvSpPr>
        <p:spPr>
          <a:xfrm>
            <a:off x="4370309"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Notebook</a:t>
            </a:r>
          </a:p>
        </p:txBody>
      </p:sp>
      <p:sp>
        <p:nvSpPr>
          <p:cNvPr id="31" name="TextBox 30"/>
          <p:cNvSpPr txBox="1"/>
          <p:nvPr/>
        </p:nvSpPr>
        <p:spPr>
          <a:xfrm>
            <a:off x="4370309"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Ask it questions.</a:t>
            </a:r>
          </a:p>
        </p:txBody>
      </p:sp>
      <p:sp>
        <p:nvSpPr>
          <p:cNvPr id="32" name="Rounded Rectangle 31"/>
          <p:cNvSpPr/>
          <p:nvPr/>
        </p:nvSpPr>
        <p:spPr>
          <a:xfrm>
            <a:off x="5362172"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5471900"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4" name="TextBox 33"/>
          <p:cNvSpPr txBox="1"/>
          <p:nvPr/>
        </p:nvSpPr>
        <p:spPr>
          <a:xfrm>
            <a:off x="5974820"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Infographic</a:t>
            </a:r>
          </a:p>
        </p:txBody>
      </p:sp>
      <p:sp>
        <p:nvSpPr>
          <p:cNvPr id="35" name="TextBox 34"/>
          <p:cNvSpPr txBox="1"/>
          <p:nvPr/>
        </p:nvSpPr>
        <p:spPr>
          <a:xfrm>
            <a:off x="5974820"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Studio → Infographic.</a:t>
            </a:r>
          </a:p>
        </p:txBody>
      </p:sp>
      <p:sp>
        <p:nvSpPr>
          <p:cNvPr id="36" name="Rounded Rectangle 35"/>
          <p:cNvSpPr/>
          <p:nvPr/>
        </p:nvSpPr>
        <p:spPr>
          <a:xfrm>
            <a:off x="6966682"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7076410"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5</a:t>
            </a:r>
          </a:p>
        </p:txBody>
      </p:sp>
      <p:sp>
        <p:nvSpPr>
          <p:cNvPr id="38" name="TextBox 37"/>
          <p:cNvSpPr txBox="1"/>
          <p:nvPr/>
        </p:nvSpPr>
        <p:spPr>
          <a:xfrm>
            <a:off x="7579330"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Video</a:t>
            </a:r>
          </a:p>
        </p:txBody>
      </p:sp>
      <p:sp>
        <p:nvSpPr>
          <p:cNvPr id="39" name="TextBox 38"/>
          <p:cNvSpPr txBox="1"/>
          <p:nvPr/>
        </p:nvSpPr>
        <p:spPr>
          <a:xfrm>
            <a:off x="7579330"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Studio → Video overview.</a:t>
            </a:r>
          </a:p>
        </p:txBody>
      </p:sp>
      <p:sp>
        <p:nvSpPr>
          <p:cNvPr id="40" name="Rounded Rectangle 39"/>
          <p:cNvSpPr/>
          <p:nvPr/>
        </p:nvSpPr>
        <p:spPr>
          <a:xfrm>
            <a:off x="8571193"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680921"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6</a:t>
            </a:r>
          </a:p>
        </p:txBody>
      </p:sp>
      <p:sp>
        <p:nvSpPr>
          <p:cNvPr id="42" name="TextBox 41"/>
          <p:cNvSpPr txBox="1"/>
          <p:nvPr/>
        </p:nvSpPr>
        <p:spPr>
          <a:xfrm>
            <a:off x="9183841"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Artifact</a:t>
            </a:r>
          </a:p>
        </p:txBody>
      </p:sp>
      <p:sp>
        <p:nvSpPr>
          <p:cNvPr id="43" name="TextBox 42"/>
          <p:cNvSpPr txBox="1"/>
          <p:nvPr/>
        </p:nvSpPr>
        <p:spPr>
          <a:xfrm>
            <a:off x="9183841"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Claude + paper-to-artifact skill.</a:t>
            </a:r>
          </a:p>
        </p:txBody>
      </p:sp>
      <p:sp>
        <p:nvSpPr>
          <p:cNvPr id="44" name="Rounded Rectangle 43"/>
          <p:cNvSpPr/>
          <p:nvPr/>
        </p:nvSpPr>
        <p:spPr>
          <a:xfrm>
            <a:off x="10175704" y="3931920"/>
            <a:ext cx="1467350"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0285432" y="4023359"/>
            <a:ext cx="384048" cy="384048"/>
          </a:xfrm>
          <a:prstGeom prst="roundRect">
            <a:avLst>
              <a:gd name="adj" fmla="val 2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7</a:t>
            </a:r>
          </a:p>
        </p:txBody>
      </p:sp>
      <p:sp>
        <p:nvSpPr>
          <p:cNvPr id="46" name="TextBox 45"/>
          <p:cNvSpPr txBox="1"/>
          <p:nvPr/>
        </p:nvSpPr>
        <p:spPr>
          <a:xfrm>
            <a:off x="10788352" y="4023359"/>
            <a:ext cx="744974"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Mermaid</a:t>
            </a:r>
          </a:p>
        </p:txBody>
      </p:sp>
      <p:sp>
        <p:nvSpPr>
          <p:cNvPr id="47" name="TextBox 46"/>
          <p:cNvSpPr txBox="1"/>
          <p:nvPr/>
        </p:nvSpPr>
        <p:spPr>
          <a:xfrm>
            <a:off x="10788352" y="4354371"/>
            <a:ext cx="744974" cy="974753"/>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Claude + mermaid connector.</a:t>
            </a:r>
          </a:p>
        </p:txBody>
      </p:sp>
      <p:sp>
        <p:nvSpPr>
          <p:cNvPr id="48" name="TextBox 47"/>
          <p:cNvSpPr txBox="1"/>
          <p:nvPr/>
        </p:nvSpPr>
        <p:spPr>
          <a:xfrm>
            <a:off x="548640" y="5577840"/>
            <a:ext cx="11094415" cy="457200"/>
          </a:xfrm>
          <a:prstGeom prst="rect">
            <a:avLst/>
          </a:prstGeom>
          <a:noFill/>
        </p:spPr>
        <p:txBody>
          <a:bodyPr wrap="square" anchor="t" lIns="0" rIns="0" tIns="0" bIns="0"/>
          <a:lstStyle/>
          <a:p>
            <a:pPr algn="l">
              <a:lnSpc>
                <a:spcPct val="115000"/>
              </a:lnSpc>
              <a:spcAft>
                <a:spcPts val="400"/>
              </a:spcAft>
            </a:pPr>
            <a:r>
              <a:rPr sz="1600" b="0" i="0">
                <a:solidFill>
                  <a:srgbClr val="607D8B"/>
                </a:solidFill>
                <a:latin typeface="Calibri"/>
              </a:rPr>
              <a:t>Same guideline every time. Only the output changes.</a:t>
            </a:r>
          </a:p>
        </p:txBody>
      </p:sp>
      <p:sp>
        <p:nvSpPr>
          <p:cNvPr id="49" name="Rounded Rectangle 48"/>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into a consumer AI tool.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2 · 00:12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2-literature.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b9578d1b-93f1-48ca-9990-f280270bd160}"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897B"/>
                </a:solidFill>
                <a:latin typeface="Calibri"/>
              </a:rPr>
              <a:t>STEPS 2 AND 3</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NotebookLM — before and after the PDF is in</a:t>
            </a:r>
          </a:p>
        </p:txBody>
      </p:sp>
      <p:sp>
        <p:nvSpPr>
          <p:cNvPr id="16" name="TextBox 15"/>
          <p:cNvSpPr txBox="1"/>
          <p:nvPr/>
        </p:nvSpPr>
        <p:spPr>
          <a:xfrm>
            <a:off x="548640" y="1920240"/>
            <a:ext cx="5410047"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NEW NOTEBOOK</a:t>
            </a:r>
          </a:p>
        </p:txBody>
      </p:sp>
      <p:pic>
        <p:nvPicPr>
          <p:cNvPr id="17" name="Picture 16" descr="notebooklm-empty.png"/>
          <p:cNvPicPr>
            <a:picLocks noChangeAspect="1"/>
          </p:cNvPicPr>
          <p:nvPr/>
        </p:nvPicPr>
        <p:blipFill>
          <a:blip r:embed="rId4"/>
          <a:stretch>
            <a:fillRect/>
          </a:stretch>
        </p:blipFill>
        <p:spPr>
          <a:xfrm>
            <a:off x="548640" y="2770417"/>
            <a:ext cx="5410047" cy="2414445"/>
          </a:xfrm>
          <a:prstGeom prst="rect">
            <a:avLst/>
          </a:prstGeom>
          <a:ln w="9525">
            <a:solidFill>
              <a:srgbClr val="E0E0E0"/>
            </a:solidFill>
          </a:ln>
        </p:spPr>
      </p:pic>
      <p:sp>
        <p:nvSpPr>
          <p:cNvPr id="18" name="TextBox 17"/>
          <p:cNvSpPr txBox="1"/>
          <p:nvPr/>
        </p:nvSpPr>
        <p:spPr>
          <a:xfrm>
            <a:off x="6233007" y="1920240"/>
            <a:ext cx="5410047"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AFTER THE GUIDELINE IS LOADED</a:t>
            </a:r>
          </a:p>
        </p:txBody>
      </p:sp>
      <p:pic>
        <p:nvPicPr>
          <p:cNvPr id="19" name="Picture 18" descr="notebooklm-loaded.png"/>
          <p:cNvPicPr>
            <a:picLocks noChangeAspect="1"/>
          </p:cNvPicPr>
          <p:nvPr/>
        </p:nvPicPr>
        <p:blipFill>
          <a:blip r:embed="rId5"/>
          <a:stretch>
            <a:fillRect/>
          </a:stretch>
        </p:blipFill>
        <p:spPr>
          <a:xfrm>
            <a:off x="6233007" y="2773059"/>
            <a:ext cx="5410047" cy="2409161"/>
          </a:xfrm>
          <a:prstGeom prst="rect">
            <a:avLst/>
          </a:prstGeom>
          <a:ln w="9525">
            <a:solidFill>
              <a:srgbClr val="E0E0E0"/>
            </a:solidFill>
          </a:ln>
        </p:spPr>
      </p:pic>
      <p:sp>
        <p:nvSpPr>
          <p:cNvPr id="20" name="TextBox 19"/>
          <p:cNvSpPr txBox="1"/>
          <p:nvPr/>
        </p:nvSpPr>
        <p:spPr>
          <a:xfrm>
            <a:off x="548640" y="5852160"/>
            <a:ext cx="11094415" cy="457200"/>
          </a:xfrm>
          <a:prstGeom prst="rect">
            <a:avLst/>
          </a:prstGeom>
          <a:noFill/>
        </p:spPr>
        <p:txBody>
          <a:bodyPr wrap="square" anchor="t" lIns="0" rIns="0" tIns="0" bIns="0"/>
          <a:lstStyle/>
          <a:p>
            <a:pPr algn="l">
              <a:lnSpc>
                <a:spcPct val="115000"/>
              </a:lnSpc>
              <a:spcAft>
                <a:spcPts val="400"/>
              </a:spcAft>
            </a:pPr>
            <a:r>
              <a:rPr sz="1400" b="0" i="0">
                <a:solidFill>
                  <a:srgbClr val="607D8B"/>
                </a:solidFill>
                <a:latin typeface="Calibri"/>
              </a:rPr>
              <a:t>Ask it the question you argue about on the ward. The answer cites the page.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2 · 00:12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2-literature.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4b576bf-6f71-418b-8a3f-310b93ab353b}"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19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897B"/>
                </a:solidFill>
                <a:latin typeface="Calibri"/>
              </a:rPr>
              <a:t>STEP 4</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Studio → Infographic</a:t>
            </a:r>
          </a:p>
        </p:txBody>
      </p:sp>
      <p:pic>
        <p:nvPicPr>
          <p:cNvPr id="16" name="Picture 15" descr="infographic.jpg"/>
          <p:cNvPicPr>
            <a:picLocks noChangeAspect="1"/>
          </p:cNvPicPr>
          <p:nvPr/>
        </p:nvPicPr>
        <p:blipFill>
          <a:blip r:embed="rId4"/>
          <a:stretch>
            <a:fillRect/>
          </a:stretch>
        </p:blipFill>
        <p:spPr>
          <a:xfrm>
            <a:off x="2201240" y="1920240"/>
            <a:ext cx="7789214" cy="4343400"/>
          </a:xfrm>
          <a:prstGeom prst="rect">
            <a:avLst/>
          </a:prstGeom>
          <a:ln w="9525">
            <a:solidFill>
              <a:srgbClr val="E0E0E0"/>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2 · 00:12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2-literature.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e13ac75-fe2a-410f-8663-16642ec9b036}"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897B"/>
                </a:solidFill>
                <a:latin typeface="Calibri"/>
              </a:rPr>
              <a:t>STEPS 5 AND 6</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Studio → Video overview, then paper → artifact</a:t>
            </a:r>
          </a:p>
        </p:txBody>
      </p:sp>
      <p:sp>
        <p:nvSpPr>
          <p:cNvPr id="16" name="Rounded Rectangle 15"/>
          <p:cNvSpPr/>
          <p:nvPr/>
        </p:nvSpPr>
        <p:spPr>
          <a:xfrm>
            <a:off x="548640" y="1920240"/>
            <a:ext cx="5410047" cy="39319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2194560"/>
            <a:ext cx="4861407" cy="274320"/>
          </a:xfrm>
          <a:prstGeom prst="rect">
            <a:avLst/>
          </a:prstGeom>
          <a:noFill/>
        </p:spPr>
        <p:txBody>
          <a:bodyPr wrap="square" anchor="t" lIns="0" rIns="0" tIns="0" bIns="0"/>
          <a:lstStyle/>
          <a:p>
            <a:pPr algn="l">
              <a:lnSpc>
                <a:spcPct val="115000"/>
              </a:lnSpc>
              <a:spcAft>
                <a:spcPts val="400"/>
              </a:spcAft>
            </a:pPr>
            <a:r>
              <a:rPr sz="1000" b="1" i="0">
                <a:solidFill>
                  <a:srgbClr val="034EA2"/>
                </a:solidFill>
                <a:latin typeface="Calibri"/>
              </a:rPr>
              <a:t>VIDEO OVERVIEW</a:t>
            </a:r>
          </a:p>
        </p:txBody>
      </p:sp>
      <p:sp>
        <p:nvSpPr>
          <p:cNvPr id="18" name="TextBox 17"/>
          <p:cNvSpPr txBox="1"/>
          <p:nvPr/>
        </p:nvSpPr>
        <p:spPr>
          <a:xfrm>
            <a:off x="822960" y="2514600"/>
            <a:ext cx="4861407" cy="237744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NotebookLM turned the same guideline into a short explainer video.</a:t>
            </a:r>
          </a:p>
          <a:p>
            <a:pPr algn="l">
              <a:lnSpc>
                <a:spcPct val="115000"/>
              </a:lnSpc>
              <a:spcAft>
                <a:spcPts val="400"/>
              </a:spcAft>
            </a:pPr>
            <a:r>
              <a:rPr sz="1300" b="0" i="0">
                <a:solidFill>
                  <a:srgbClr val="607D8B"/>
                </a:solidFill>
                <a:latin typeface="Calibri"/>
              </a:rPr>
              <a:t>It opens on Google’s site; the companion page links to it. Play it from the site if the network allows.</a:t>
            </a:r>
          </a:p>
          <a:p>
            <a:pPr algn="l">
              <a:lnSpc>
                <a:spcPct val="115000"/>
              </a:lnSpc>
              <a:spcAft>
                <a:spcPts val="400"/>
              </a:spcAft>
            </a:pPr>
            <a:r>
              <a:rPr sz="1300" b="0" i="0">
                <a:solidFill>
                  <a:srgbClr val="607D8B"/>
                </a:solidFill>
                <a:latin typeface="Calibri"/>
              </a:rPr>
              <a:t>Same source. Different medium for a different learner.</a:t>
            </a:r>
          </a:p>
        </p:txBody>
      </p:sp>
      <p:sp>
        <p:nvSpPr>
          <p:cNvPr id="19" name="TextBox 18"/>
          <p:cNvSpPr txBox="1"/>
          <p:nvPr/>
        </p:nvSpPr>
        <p:spPr>
          <a:xfrm>
            <a:off x="6233007" y="1920240"/>
            <a:ext cx="5410047"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CLAUDE — PAPER TO ARTIFACT</a:t>
            </a:r>
          </a:p>
        </p:txBody>
      </p:sp>
      <p:pic>
        <p:nvPicPr>
          <p:cNvPr id="20" name="Picture 19" descr="artifact.png"/>
          <p:cNvPicPr>
            <a:picLocks noChangeAspect="1"/>
          </p:cNvPicPr>
          <p:nvPr/>
        </p:nvPicPr>
        <p:blipFill>
          <a:blip r:embed="rId4"/>
          <a:stretch>
            <a:fillRect/>
          </a:stretch>
        </p:blipFill>
        <p:spPr>
          <a:xfrm>
            <a:off x="6233007" y="2254289"/>
            <a:ext cx="5410047" cy="2440861"/>
          </a:xfrm>
          <a:prstGeom prst="rect">
            <a:avLst/>
          </a:prstGeom>
          <a:ln w="9525">
            <a:solidFill>
              <a:srgbClr val="E0E0E0"/>
            </a:solidFill>
          </a:ln>
        </p:spPr>
      </p:pic>
      <p:sp>
        <p:nvSpPr>
          <p:cNvPr id="21" name="TextBox 20"/>
          <p:cNvSpPr txBox="1"/>
          <p:nvPr/>
        </p:nvSpPr>
        <p:spPr>
          <a:xfrm>
            <a:off x="6233007" y="4846320"/>
            <a:ext cx="5410047" cy="100584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The prompt: “convert this paper to an artifact using the paper-to-artifact skill.” The result is a clickable explainer of the 2023 algorithm — open it from the Block 2 page on the site.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2 · 00:12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2-literature.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b3cd3828-70f2-4ee1-aa3d-54a65be15db8}"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897B"/>
                </a:solidFill>
                <a:latin typeface="Calibri"/>
              </a:rPr>
              <a:t>STEP 7</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Mermaid connector — the algorithm as a diagram</a:t>
            </a:r>
          </a:p>
        </p:txBody>
      </p:sp>
      <p:pic>
        <p:nvPicPr>
          <p:cNvPr id="16" name="Picture 15" descr="mermaid-prompt.png"/>
          <p:cNvPicPr>
            <a:picLocks noChangeAspect="1"/>
          </p:cNvPicPr>
          <p:nvPr/>
        </p:nvPicPr>
        <p:blipFill>
          <a:blip r:embed="rId4"/>
          <a:stretch>
            <a:fillRect/>
          </a:stretch>
        </p:blipFill>
        <p:spPr>
          <a:xfrm>
            <a:off x="548640" y="1953816"/>
            <a:ext cx="5120640" cy="1670208"/>
          </a:xfrm>
          <a:prstGeom prst="rect">
            <a:avLst/>
          </a:prstGeom>
          <a:ln w="9525">
            <a:solidFill>
              <a:srgbClr val="E0E0E0"/>
            </a:solidFill>
          </a:ln>
        </p:spPr>
      </p:pic>
      <p:sp>
        <p:nvSpPr>
          <p:cNvPr id="17" name="TextBox 16"/>
          <p:cNvSpPr txBox="1"/>
          <p:nvPr/>
        </p:nvSpPr>
        <p:spPr>
          <a:xfrm>
            <a:off x="548640" y="3749040"/>
            <a:ext cx="5120640" cy="210312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The prompt: “convert to a mermaid diagram using the mermaid connector.” The site draws it live. The boxes on the right are the same flow, drawn by hand.</a:t>
            </a:r>
          </a:p>
        </p:txBody>
      </p:sp>
      <p:sp>
        <p:nvSpPr>
          <p:cNvPr id="18" name="Rounded Rectangle 17"/>
          <p:cNvSpPr/>
          <p:nvPr/>
        </p:nvSpPr>
        <p:spPr>
          <a:xfrm>
            <a:off x="6035040" y="1920240"/>
            <a:ext cx="5608015" cy="512064"/>
          </a:xfrm>
          <a:prstGeom prst="roundRect">
            <a:avLst>
              <a:gd name="adj" fmla="val 15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1" i="0">
                <a:solidFill>
                  <a:srgbClr val="1B2A4A"/>
                </a:solidFill>
                <a:latin typeface="Calibri"/>
              </a:rPr>
              <a:t>Fever and neutropenia</a:t>
            </a:r>
          </a:p>
        </p:txBody>
      </p:sp>
      <p:sp>
        <p:nvSpPr>
          <p:cNvPr id="19" name="Down Arrow 18"/>
          <p:cNvSpPr/>
          <p:nvPr/>
        </p:nvSpPr>
        <p:spPr>
          <a:xfrm>
            <a:off x="8747607" y="2432304"/>
            <a:ext cx="182880" cy="128016"/>
          </a:xfrm>
          <a:prstGeom prst="down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35040" y="2560320"/>
            <a:ext cx="5608015" cy="512064"/>
          </a:xfrm>
          <a:prstGeom prst="roundRect">
            <a:avLst>
              <a:gd name="adj" fmla="val 15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0" i="0">
                <a:solidFill>
                  <a:srgbClr val="1B2A4A"/>
                </a:solidFill>
                <a:latin typeface="Calibri"/>
              </a:rPr>
              <a:t>Blood cultures from every CVC lumen</a:t>
            </a:r>
          </a:p>
        </p:txBody>
      </p:sp>
      <p:sp>
        <p:nvSpPr>
          <p:cNvPr id="21" name="Down Arrow 20"/>
          <p:cNvSpPr/>
          <p:nvPr/>
        </p:nvSpPr>
        <p:spPr>
          <a:xfrm>
            <a:off x="8747607" y="3072384"/>
            <a:ext cx="182880" cy="128016"/>
          </a:xfrm>
          <a:prstGeom prst="down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35040" y="3200400"/>
            <a:ext cx="5608015" cy="512064"/>
          </a:xfrm>
          <a:prstGeom prst="roundRect">
            <a:avLst>
              <a:gd name="adj" fmla="val 15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0" i="0">
                <a:solidFill>
                  <a:srgbClr val="1B2A4A"/>
                </a:solidFill>
                <a:latin typeface="Calibri"/>
              </a:rPr>
              <a:t>Unstable? → antibiotics now. Stable? → empiric antibiotics after cultures</a:t>
            </a:r>
          </a:p>
        </p:txBody>
      </p:sp>
      <p:sp>
        <p:nvSpPr>
          <p:cNvPr id="23" name="Down Arrow 22"/>
          <p:cNvSpPr/>
          <p:nvPr/>
        </p:nvSpPr>
        <p:spPr>
          <a:xfrm>
            <a:off x="8747607" y="3712464"/>
            <a:ext cx="182880" cy="128016"/>
          </a:xfrm>
          <a:prstGeom prst="down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035040" y="3840480"/>
            <a:ext cx="5608015" cy="512064"/>
          </a:xfrm>
          <a:prstGeom prst="roundRect">
            <a:avLst>
              <a:gd name="adj" fmla="val 15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0" i="0">
                <a:solidFill>
                  <a:srgbClr val="1B2A4A"/>
                </a:solidFill>
                <a:latin typeface="Calibri"/>
              </a:rPr>
              <a:t>Validated risk rule: high-risk → antipseudomonal monotherapy · low-risk → consider outpatient / oral</a:t>
            </a:r>
          </a:p>
        </p:txBody>
      </p:sp>
      <p:sp>
        <p:nvSpPr>
          <p:cNvPr id="25" name="Down Arrow 24"/>
          <p:cNvSpPr/>
          <p:nvPr/>
        </p:nvSpPr>
        <p:spPr>
          <a:xfrm>
            <a:off x="8747607" y="4352544"/>
            <a:ext cx="182880" cy="128016"/>
          </a:xfrm>
          <a:prstGeom prst="down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35040" y="4480560"/>
            <a:ext cx="5608015" cy="512064"/>
          </a:xfrm>
          <a:prstGeom prst="roundRect">
            <a:avLst>
              <a:gd name="adj" fmla="val 15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0" i="0">
                <a:solidFill>
                  <a:srgbClr val="1B2A4A"/>
                </a:solidFill>
                <a:latin typeface="Calibri"/>
              </a:rPr>
              <a:t>48 hours: well, afebrile 24 h, cultures negative?</a:t>
            </a:r>
          </a:p>
        </p:txBody>
      </p:sp>
      <p:sp>
        <p:nvSpPr>
          <p:cNvPr id="27" name="Down Arrow 26"/>
          <p:cNvSpPr/>
          <p:nvPr/>
        </p:nvSpPr>
        <p:spPr>
          <a:xfrm>
            <a:off x="8747607" y="4992624"/>
            <a:ext cx="182880" cy="128016"/>
          </a:xfrm>
          <a:prstGeom prst="down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035040" y="5120640"/>
            <a:ext cx="5608015" cy="512064"/>
          </a:xfrm>
          <a:prstGeom prst="roundRect">
            <a:avLst>
              <a:gd name="adj" fmla="val 15000"/>
            </a:avLst>
          </a:prstGeom>
          <a:solidFill>
            <a:srgbClr val="FDE8F4"/>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lnSpc>
                <a:spcPct val="115000"/>
              </a:lnSpc>
              <a:spcAft>
                <a:spcPts val="400"/>
              </a:spcAft>
            </a:pPr>
            <a:r>
              <a:rPr sz="1100" b="0" i="0">
                <a:solidFill>
                  <a:srgbClr val="1B2A4A"/>
                </a:solidFill>
                <a:latin typeface="Calibri"/>
              </a:rPr>
              <a:t>Marrow recovery → stop · low-risk → consider stop · high-risk → no recommendation · fever to 96 h → IFD pathway</a:t>
            </a:r>
          </a:p>
        </p:txBody>
      </p:sp>
      <p:sp>
        <p:nvSpPr>
          <p:cNvPr id="29" name="Rounded Rectangle 28"/>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into a consumer AI tool.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3</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3  ·  00:22</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Skills —
your house style</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A skill is a prompt you save once and run with /name. Build one. Find a stats library. Open the calculator.</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3-skills.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f5a31ff5-1c11-4cfa-9f28-1203e9c29f87}" type="datetime9">
              <a:rPr lang="en-US" sz="1400" b="1" dirty="0" smtClean="0">
                <a:solidFill>
                  <a:srgbClr val="FFFFFF"/>
                </a:solidFill>
                <a:latin typeface="Calibri"/>
              </a:rPr>
              <a:t>1:03 AM</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35ed888-5faa-4f0f-9b3c-99aa13bd842d}"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ON CLAUDE.AI — NO PAID PLAN</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What a skill is</a:t>
            </a:r>
          </a:p>
        </p:txBody>
      </p:sp>
      <p:sp>
        <p:nvSpPr>
          <p:cNvPr id="16" name="TextBox 15"/>
          <p:cNvSpPr txBox="1"/>
          <p:nvPr/>
        </p:nvSpPr>
        <p:spPr>
          <a:xfrm>
            <a:off x="548640" y="2011680"/>
            <a:ext cx="6583680" cy="3108960"/>
          </a:xfrm>
          <a:prstGeom prst="rect">
            <a:avLst/>
          </a:prstGeom>
          <a:noFill/>
        </p:spPr>
        <p:txBody>
          <a:bodyPr wrap="square" lIns="73152" rIns="73152" tIns="73152" bIns="73152"/>
          <a:lstStyle/>
          <a:p>
            <a:pPr marL="256032" indent="-256032">
              <a:lnSpc>
                <a:spcPct val="112000"/>
              </a:lnSpc>
              <a:spcAft>
                <a:spcPts val="900"/>
              </a:spcAft>
              <a:buClr>
                <a:srgbClr val="EC008C"/>
              </a:buClr>
              <a:buFont typeface="Arial"/>
              <a:buChar char="•"/>
            </a:pPr>
            <a:r>
              <a:rPr sz="1700" b="0" i="0">
                <a:solidFill>
                  <a:srgbClr val="1B2A4A"/>
                </a:solidFill>
                <a:latin typeface="Calibri"/>
              </a:rPr>
              <a:t>Sidebar → </a:t>
            </a:r>
            <a:r>
              <a:rPr sz="1700" b="1" i="0">
                <a:solidFill>
                  <a:srgbClr val="1B2A4A"/>
                </a:solidFill>
                <a:latin typeface="Calibri"/>
              </a:rPr>
              <a:t>Customize</a:t>
            </a:r>
            <a:r>
              <a:rPr sz="1700" b="0" i="0">
                <a:solidFill>
                  <a:srgbClr val="1B2A4A"/>
                </a:solidFill>
                <a:latin typeface="Calibri"/>
              </a:rPr>
              <a:t> → </a:t>
            </a:r>
            <a:r>
              <a:rPr sz="1700" b="1" i="0">
                <a:solidFill>
                  <a:srgbClr val="1B2A4A"/>
                </a:solidFill>
                <a:latin typeface="Calibri"/>
              </a:rPr>
              <a:t>Skills</a:t>
            </a:r>
            <a:r>
              <a:rPr sz="1700" b="0" i="0">
                <a:solidFill>
                  <a:srgbClr val="1B2A4A"/>
                </a:solidFill>
                <a:latin typeface="Calibri"/>
              </a:rPr>
              <a:t>.</a:t>
            </a:r>
          </a:p>
          <a:p>
            <a:pPr marL="256032" indent="-256032">
              <a:lnSpc>
                <a:spcPct val="112000"/>
              </a:lnSpc>
              <a:spcAft>
                <a:spcPts val="900"/>
              </a:spcAft>
              <a:buClr>
                <a:srgbClr val="EC008C"/>
              </a:buClr>
              <a:buFont typeface="Arial"/>
              <a:buChar char="•"/>
            </a:pPr>
            <a:r>
              <a:rPr sz="1700" b="0" i="0">
                <a:solidFill>
                  <a:srgbClr val="1B2A4A"/>
                </a:solidFill>
                <a:latin typeface="Calibri"/>
              </a:rPr>
              <a:t>A skill is a Markdown file: a prompt, plus a short header that names it.</a:t>
            </a:r>
          </a:p>
          <a:p>
            <a:pPr marL="256032" indent="-256032">
              <a:lnSpc>
                <a:spcPct val="112000"/>
              </a:lnSpc>
              <a:spcAft>
                <a:spcPts val="900"/>
              </a:spcAft>
              <a:buClr>
                <a:srgbClr val="EC008C"/>
              </a:buClr>
              <a:buFont typeface="Arial"/>
              <a:buChar char="•"/>
            </a:pPr>
            <a:r>
              <a:rPr sz="1700" b="0" i="0">
                <a:solidFill>
                  <a:srgbClr val="1B2A4A"/>
                </a:solidFill>
                <a:latin typeface="Calibri"/>
              </a:rPr>
              <a:t>Simple ones are only text. Fancier ones can carry a bit of code, the way an annual-report skill can run a table.</a:t>
            </a:r>
          </a:p>
          <a:p>
            <a:pPr marL="256032" indent="-256032">
              <a:lnSpc>
                <a:spcPct val="112000"/>
              </a:lnSpc>
              <a:spcAft>
                <a:spcPts val="900"/>
              </a:spcAft>
              <a:buClr>
                <a:srgbClr val="EC008C"/>
              </a:buClr>
              <a:buFont typeface="Arial"/>
              <a:buChar char="•"/>
            </a:pPr>
            <a:r>
              <a:rPr sz="1700" b="0" i="0">
                <a:solidFill>
                  <a:srgbClr val="1B2A4A"/>
                </a:solidFill>
                <a:latin typeface="Calibri"/>
              </a:rPr>
              <a:t>Either way, it is a saved briefing, not a new product.</a:t>
            </a:r>
          </a:p>
          <a:p>
            <a:pPr marL="256032" indent="-256032">
              <a:lnSpc>
                <a:spcPct val="112000"/>
              </a:lnSpc>
              <a:spcAft>
                <a:spcPts val="900"/>
              </a:spcAft>
              <a:buClr>
                <a:srgbClr val="EC008C"/>
              </a:buClr>
              <a:buFont typeface="Arial"/>
              <a:buChar char="•"/>
            </a:pPr>
            <a:r>
              <a:rPr sz="1700" b="0" i="0">
                <a:solidFill>
                  <a:srgbClr val="1B2A4A"/>
                </a:solidFill>
                <a:latin typeface="Calibri"/>
              </a:rPr>
              <a:t>Long prompts do not sit in every chat. They load only when you trigger them. That is why twenty skills do not drown one conversation.</a:t>
            </a:r>
          </a:p>
        </p:txBody>
      </p:sp>
      <p:sp>
        <p:nvSpPr>
          <p:cNvPr id="17" name="Rounded Rectangle 16"/>
          <p:cNvSpPr/>
          <p:nvPr/>
        </p:nvSpPr>
        <p:spPr>
          <a:xfrm>
            <a:off x="7589520" y="2011680"/>
            <a:ext cx="4053535" cy="32004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18120" y="2148840"/>
            <a:ext cx="3657600" cy="274320"/>
          </a:xfrm>
          <a:prstGeom prst="rect">
            <a:avLst/>
          </a:prstGeom>
          <a:noFill/>
        </p:spPr>
        <p:txBody>
          <a:bodyPr wrap="square" anchor="t" lIns="0" rIns="0" tIns="0" bIns="0"/>
          <a:lstStyle/>
          <a:p>
            <a:pPr algn="l">
              <a:lnSpc>
                <a:spcPct val="115000"/>
              </a:lnSpc>
              <a:spcAft>
                <a:spcPts val="400"/>
              </a:spcAft>
            </a:pPr>
            <a:r>
              <a:rPr sz="1000" b="1" i="0">
                <a:solidFill>
                  <a:srgbClr val="034EA2"/>
                </a:solidFill>
                <a:latin typeface="Calibri"/>
              </a:rPr>
              <a:t>THE PATH THIS BLOCK FOLLOWS</a:t>
            </a:r>
          </a:p>
        </p:txBody>
      </p:sp>
      <p:sp>
        <p:nvSpPr>
          <p:cNvPr id="19" name="Rounded Rectangle 18"/>
          <p:cNvSpPr/>
          <p:nvPr/>
        </p:nvSpPr>
        <p:spPr>
          <a:xfrm>
            <a:off x="7818120" y="251460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1</a:t>
            </a:r>
          </a:p>
        </p:txBody>
      </p:sp>
      <p:sp>
        <p:nvSpPr>
          <p:cNvPr id="20" name="TextBox 19"/>
          <p:cNvSpPr txBox="1"/>
          <p:nvPr/>
        </p:nvSpPr>
        <p:spPr>
          <a:xfrm>
            <a:off x="8229600" y="249631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What</a:t>
            </a:r>
          </a:p>
        </p:txBody>
      </p:sp>
      <p:sp>
        <p:nvSpPr>
          <p:cNvPr id="21" name="Rounded Rectangle 20"/>
          <p:cNvSpPr/>
          <p:nvPr/>
        </p:nvSpPr>
        <p:spPr>
          <a:xfrm>
            <a:off x="7818120" y="288036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2</a:t>
            </a:r>
          </a:p>
        </p:txBody>
      </p:sp>
      <p:sp>
        <p:nvSpPr>
          <p:cNvPr id="22" name="TextBox 21"/>
          <p:cNvSpPr txBox="1"/>
          <p:nvPr/>
        </p:nvSpPr>
        <p:spPr>
          <a:xfrm>
            <a:off x="8229600" y="286207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Ask</a:t>
            </a:r>
          </a:p>
        </p:txBody>
      </p:sp>
      <p:sp>
        <p:nvSpPr>
          <p:cNvPr id="23" name="Rounded Rectangle 22"/>
          <p:cNvSpPr/>
          <p:nvPr/>
        </p:nvSpPr>
        <p:spPr>
          <a:xfrm>
            <a:off x="7818120" y="324612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3</a:t>
            </a:r>
          </a:p>
        </p:txBody>
      </p:sp>
      <p:sp>
        <p:nvSpPr>
          <p:cNvPr id="24" name="TextBox 23"/>
          <p:cNvSpPr txBox="1"/>
          <p:nvPr/>
        </p:nvSpPr>
        <p:spPr>
          <a:xfrm>
            <a:off x="8229600" y="322783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File</a:t>
            </a:r>
          </a:p>
        </p:txBody>
      </p:sp>
      <p:sp>
        <p:nvSpPr>
          <p:cNvPr id="25" name="Rounded Rectangle 24"/>
          <p:cNvSpPr/>
          <p:nvPr/>
        </p:nvSpPr>
        <p:spPr>
          <a:xfrm>
            <a:off x="7818120" y="361188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4</a:t>
            </a:r>
          </a:p>
        </p:txBody>
      </p:sp>
      <p:sp>
        <p:nvSpPr>
          <p:cNvPr id="26" name="TextBox 25"/>
          <p:cNvSpPr txBox="1"/>
          <p:nvPr/>
        </p:nvSpPr>
        <p:spPr>
          <a:xfrm>
            <a:off x="8229600" y="359359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Test</a:t>
            </a:r>
          </a:p>
        </p:txBody>
      </p:sp>
      <p:sp>
        <p:nvSpPr>
          <p:cNvPr id="27" name="Rounded Rectangle 26"/>
          <p:cNvSpPr/>
          <p:nvPr/>
        </p:nvSpPr>
        <p:spPr>
          <a:xfrm>
            <a:off x="7818120" y="397764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5</a:t>
            </a:r>
          </a:p>
        </p:txBody>
      </p:sp>
      <p:sp>
        <p:nvSpPr>
          <p:cNvPr id="28" name="TextBox 27"/>
          <p:cNvSpPr txBox="1"/>
          <p:nvPr/>
        </p:nvSpPr>
        <p:spPr>
          <a:xfrm>
            <a:off x="8229600" y="395935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Run</a:t>
            </a:r>
          </a:p>
        </p:txBody>
      </p:sp>
      <p:sp>
        <p:nvSpPr>
          <p:cNvPr id="29" name="Rounded Rectangle 28"/>
          <p:cNvSpPr/>
          <p:nvPr/>
        </p:nvSpPr>
        <p:spPr>
          <a:xfrm>
            <a:off x="7818120" y="434340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6</a:t>
            </a:r>
          </a:p>
        </p:txBody>
      </p:sp>
      <p:sp>
        <p:nvSpPr>
          <p:cNvPr id="30" name="TextBox 29"/>
          <p:cNvSpPr txBox="1"/>
          <p:nvPr/>
        </p:nvSpPr>
        <p:spPr>
          <a:xfrm>
            <a:off x="8229600" y="432511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Everywhere</a:t>
            </a:r>
          </a:p>
        </p:txBody>
      </p:sp>
      <p:sp>
        <p:nvSpPr>
          <p:cNvPr id="31" name="Rounded Rectangle 30"/>
          <p:cNvSpPr/>
          <p:nvPr/>
        </p:nvSpPr>
        <p:spPr>
          <a:xfrm>
            <a:off x="7818120" y="4709160"/>
            <a:ext cx="292608" cy="29260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100" b="1" i="0">
                <a:solidFill>
                  <a:srgbClr val="FFFFFF"/>
                </a:solidFill>
                <a:latin typeface="Calibri"/>
              </a:rPr>
              <a:t>7</a:t>
            </a:r>
          </a:p>
        </p:txBody>
      </p:sp>
      <p:sp>
        <p:nvSpPr>
          <p:cNvPr id="32" name="TextBox 31"/>
          <p:cNvSpPr txBox="1"/>
          <p:nvPr/>
        </p:nvSpPr>
        <p:spPr>
          <a:xfrm>
            <a:off x="8229600" y="4690872"/>
            <a:ext cx="3200400" cy="320040"/>
          </a:xfrm>
          <a:prstGeom prst="rect">
            <a:avLst/>
          </a:prstGeom>
          <a:noFill/>
        </p:spPr>
        <p:txBody>
          <a:bodyPr wrap="square" anchor="ctr" lIns="0" rIns="0" tIns="0" bIns="0"/>
          <a:lstStyle/>
          <a:p>
            <a:pPr algn="l">
              <a:lnSpc>
                <a:spcPct val="115000"/>
              </a:lnSpc>
              <a:spcAft>
                <a:spcPts val="400"/>
              </a:spcAft>
            </a:pPr>
            <a:r>
              <a:rPr sz="1500" b="1" i="0">
                <a:solidFill>
                  <a:srgbClr val="1B2A4A"/>
                </a:solidFill>
                <a:latin typeface="Calibri"/>
              </a:rPr>
              <a:t>Share</a:t>
            </a:r>
          </a:p>
        </p:txBody>
      </p:sp>
      <p:sp>
        <p:nvSpPr>
          <p:cNvPr id="33" name="Rounded Rectangle 32"/>
          <p:cNvSpPr/>
          <p:nvPr/>
        </p:nvSpPr>
        <p:spPr>
          <a:xfrm>
            <a:off x="548640" y="5257800"/>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48640" y="5257800"/>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 y="5257800"/>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A skill is your SOP written once, applied every 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7be742b-3ba5-495b-b6cf-8b73da6f46ce}"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PLUS → CREATE SKILL → CREATE WITH CLAUDE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Create with Claude — paste this</a:t>
            </a:r>
          </a:p>
        </p:txBody>
      </p:sp>
      <p:sp>
        <p:nvSpPr>
          <p:cNvPr id="16" name="Rounded Rectangle 15"/>
          <p:cNvSpPr/>
          <p:nvPr/>
        </p:nvSpPr>
        <p:spPr>
          <a:xfrm>
            <a:off x="548640" y="2011680"/>
            <a:ext cx="11094415" cy="173736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84832"/>
            <a:ext cx="1083838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304288"/>
            <a:ext cx="10838383" cy="1371600"/>
          </a:xfrm>
          <a:prstGeom prst="rect">
            <a:avLst/>
          </a:prstGeom>
          <a:noFill/>
        </p:spPr>
        <p:txBody>
          <a:bodyPr wrap="square" anchor="t" lIns="0" rIns="0" tIns="0" bIns="0"/>
          <a:lstStyle/>
          <a:p>
            <a:pPr algn="l">
              <a:lnSpc>
                <a:spcPct val="112000"/>
              </a:lnSpc>
              <a:spcAft>
                <a:spcPts val="300"/>
              </a:spcAft>
            </a:pPr>
            <a:r>
              <a:rPr sz="1500" b="0" i="0">
                <a:solidFill>
                  <a:srgbClr val="1B2A4A"/>
                </a:solidFill>
                <a:latin typeface="Calibri"/>
              </a:rPr>
              <a:t>Given a long email or WhatsApp thread among our childhood-cancer team — consultant, registrar, CNC, pharmacist — summarize the main points, list action items by role, and draft a reply in our unit voice. Do not invent patients, labs, or decisions. What else should I clarify?</a:t>
            </a:r>
          </a:p>
        </p:txBody>
      </p:sp>
      <p:sp>
        <p:nvSpPr>
          <p:cNvPr id="19" name="TextBox 18"/>
          <p:cNvSpPr txBox="1"/>
          <p:nvPr/>
        </p:nvSpPr>
        <p:spPr>
          <a:xfrm>
            <a:off x="548640" y="4023360"/>
            <a:ext cx="11094415" cy="1645920"/>
          </a:xfrm>
          <a:prstGeom prst="rect">
            <a:avLst/>
          </a:prstGeom>
          <a:noFill/>
        </p:spPr>
        <p:txBody>
          <a:bodyPr wrap="square" lIns="73152" rIns="73152" tIns="73152" bIns="73152"/>
          <a:lstStyle/>
          <a:p>
            <a:pPr marL="256032" indent="-256032">
              <a:lnSpc>
                <a:spcPct val="112000"/>
              </a:lnSpc>
              <a:spcAft>
                <a:spcPts val="800"/>
              </a:spcAft>
              <a:buClr>
                <a:srgbClr val="EC008C"/>
              </a:buClr>
              <a:buFont typeface="Arial"/>
              <a:buChar char="•"/>
            </a:pPr>
            <a:r>
              <a:rPr sz="1600" b="0" i="0">
                <a:solidFill>
                  <a:srgbClr val="1B2A4A"/>
                </a:solidFill>
                <a:latin typeface="Calibri"/>
              </a:rPr>
              <a:t>The last sentence stops it guessing. It will ask you questions before it writes.</a:t>
            </a:r>
          </a:p>
          <a:p>
            <a:pPr marL="256032" indent="-256032">
              <a:lnSpc>
                <a:spcPct val="112000"/>
              </a:lnSpc>
              <a:spcAft>
                <a:spcPts val="800"/>
              </a:spcAft>
              <a:buClr>
                <a:srgbClr val="EC008C"/>
              </a:buClr>
              <a:buFont typeface="Arial"/>
              <a:buChar char="•"/>
            </a:pPr>
            <a:r>
              <a:rPr sz="1600" b="0" i="0">
                <a:solidFill>
                  <a:srgbClr val="1B2A4A"/>
                </a:solidFill>
                <a:latin typeface="Calibri"/>
              </a:rPr>
              <a:t>When it asks about triggers: pick the </a:t>
            </a:r>
            <a:r>
              <a:rPr sz="1600" b="1" i="0">
                <a:solidFill>
                  <a:srgbClr val="1B2A4A"/>
                </a:solidFill>
                <a:latin typeface="Calibri"/>
              </a:rPr>
              <a:t>slash name</a:t>
            </a:r>
            <a:r>
              <a:rPr sz="1600" b="0" i="0">
                <a:solidFill>
                  <a:srgbClr val="1B2A4A"/>
                </a:solidFill>
                <a:latin typeface="Calibri"/>
              </a:rPr>
              <a:t>. Auto-detect is getting better. Slash is what you can trust.</a:t>
            </a:r>
          </a:p>
          <a:p>
            <a:pPr marL="256032" indent="-256032">
              <a:lnSpc>
                <a:spcPct val="112000"/>
              </a:lnSpc>
              <a:spcAft>
                <a:spcPts val="800"/>
              </a:spcAft>
              <a:buClr>
                <a:srgbClr val="EC008C"/>
              </a:buClr>
              <a:buFont typeface="Arial"/>
              <a:buChar char="•"/>
            </a:pPr>
            <a:r>
              <a:rPr sz="1600" b="0" i="0">
                <a:solidFill>
                  <a:srgbClr val="1B2A4A"/>
                </a:solidFill>
                <a:latin typeface="Calibri"/>
              </a:rPr>
              <a:t>If it keeps asking questions, say “Create the skill.”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f79a9847-2af7-4038-8425-741cce47172f}"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THE FILE CLAUDE WROTE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Front matter, then the prompt</a:t>
            </a:r>
          </a:p>
        </p:txBody>
      </p:sp>
      <p:sp>
        <p:nvSpPr>
          <p:cNvPr id="16" name="Rounded Rectangle 15"/>
          <p:cNvSpPr/>
          <p:nvPr/>
        </p:nvSpPr>
        <p:spPr>
          <a:xfrm>
            <a:off x="548640" y="1965960"/>
            <a:ext cx="6949440" cy="420624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8D6E00"/>
                </a:solidFill>
                <a:latin typeface="Consolas"/>
              </a:rPr>
              <a:t>---</a:t>
            </a:r>
          </a:p>
          <a:p>
            <a:pPr algn="l">
              <a:lnSpc>
                <a:spcPct val="108000"/>
              </a:lnSpc>
              <a:spcAft>
                <a:spcPts val="0"/>
              </a:spcAft>
            </a:pPr>
            <a:r>
              <a:rPr sz="1100" b="0" i="0">
                <a:solidFill>
                  <a:srgbClr val="8D6E00"/>
                </a:solidFill>
                <a:latin typeface="Consolas"/>
              </a:rPr>
              <a:t>name: ward-thread</a:t>
            </a:r>
          </a:p>
          <a:p>
            <a:pPr algn="l">
              <a:lnSpc>
                <a:spcPct val="108000"/>
              </a:lnSpc>
              <a:spcAft>
                <a:spcPts val="0"/>
              </a:spcAft>
            </a:pPr>
            <a:r>
              <a:rPr sz="1100" b="0" i="0">
                <a:solidFill>
                  <a:srgbClr val="8D6E00"/>
                </a:solidFill>
                <a:latin typeface="Consolas"/>
              </a:rPr>
              <a:t>description: Summarize a team thread, list actions by role, draft a reply in unit voice.</a:t>
            </a:r>
          </a:p>
          <a:p>
            <a:pPr algn="l">
              <a:lnSpc>
                <a:spcPct val="108000"/>
              </a:lnSpc>
              <a:spcAft>
                <a:spcPts val="0"/>
              </a:spcAft>
            </a:pPr>
            <a:r>
              <a:rPr sz="1100" b="0" i="0">
                <a:solidFill>
                  <a:srgbClr val="8D6E00"/>
                </a:solidFill>
                <a:latin typeface="Consolas"/>
              </a:rPr>
              <a:t>---</a:t>
            </a:r>
          </a:p>
          <a:p>
            <a:pPr algn="l">
              <a:lnSpc>
                <a:spcPct val="108000"/>
              </a:lnSpc>
              <a:spcAft>
                <a:spcPts val="0"/>
              </a:spcAft>
            </a:pPr>
            <a:r>
              <a:rPr sz="1100" b="0" i="0">
                <a:solidFill>
                  <a:srgbClr val="1B2A4A"/>
                </a:solidFill>
                <a:latin typeface="Consolas"/>
              </a:rPr>
              <a:t>You are helping a pediatric oncology clinician catch up on a long thread.</a:t>
            </a:r>
          </a:p>
          <a:p>
            <a:pPr algn="l">
              <a:lnSpc>
                <a:spcPct val="108000"/>
              </a:lnSpc>
              <a:spcAft>
                <a:spcPts val="0"/>
              </a:spcAft>
            </a:pPr>
          </a:p>
          <a:p>
            <a:pPr algn="l">
              <a:lnSpc>
                <a:spcPct val="108000"/>
              </a:lnSpc>
              <a:spcAft>
                <a:spcPts val="0"/>
              </a:spcAft>
            </a:pPr>
            <a:r>
              <a:rPr sz="1100" b="0" i="0">
                <a:solidFill>
                  <a:srgbClr val="1B2A4A"/>
                </a:solidFill>
                <a:latin typeface="Consolas"/>
              </a:rPr>
              <a:t>Rules:</a:t>
            </a:r>
          </a:p>
          <a:p>
            <a:pPr algn="l">
              <a:lnSpc>
                <a:spcPct val="108000"/>
              </a:lnSpc>
              <a:spcAft>
                <a:spcPts val="0"/>
              </a:spcAft>
            </a:pPr>
            <a:r>
              <a:rPr sz="1100" b="0" i="0">
                <a:solidFill>
                  <a:srgbClr val="1B2A4A"/>
                </a:solidFill>
                <a:latin typeface="Consolas"/>
              </a:rPr>
              <a:t>- Use only what is in the thread. If a lab or decision is missing, say so.</a:t>
            </a:r>
          </a:p>
          <a:p>
            <a:pPr algn="l">
              <a:lnSpc>
                <a:spcPct val="108000"/>
              </a:lnSpc>
              <a:spcAft>
                <a:spcPts val="0"/>
              </a:spcAft>
            </a:pPr>
            <a:r>
              <a:rPr sz="1100" b="0" i="0">
                <a:solidFill>
                  <a:srgbClr val="1B2A4A"/>
                </a:solidFill>
                <a:latin typeface="Consolas"/>
              </a:rPr>
              <a:t>- No real names, MRNs, or dates of birth in the output.</a:t>
            </a:r>
          </a:p>
          <a:p>
            <a:pPr algn="l">
              <a:lnSpc>
                <a:spcPct val="108000"/>
              </a:lnSpc>
              <a:spcAft>
                <a:spcPts val="0"/>
              </a:spcAft>
            </a:pPr>
            <a:r>
              <a:rPr sz="1100" b="0" i="0">
                <a:solidFill>
                  <a:srgbClr val="1B2A4A"/>
                </a:solidFill>
                <a:latin typeface="Consolas"/>
              </a:rPr>
              <a:t>- Voice: short sentences, no "I hope this email finds you well."</a:t>
            </a:r>
          </a:p>
          <a:p>
            <a:pPr algn="l">
              <a:lnSpc>
                <a:spcPct val="108000"/>
              </a:lnSpc>
              <a:spcAft>
                <a:spcPts val="0"/>
              </a:spcAft>
            </a:pPr>
            <a:r>
              <a:rPr sz="1100" b="0" i="0">
                <a:solidFill>
                  <a:srgbClr val="1B2A4A"/>
                </a:solidFill>
                <a:latin typeface="Consolas"/>
              </a:rPr>
              <a:t>- End with action items grouped as Consultant / Registrar / CNC / Pharmacy.</a:t>
            </a:r>
          </a:p>
          <a:p>
            <a:pPr algn="l">
              <a:lnSpc>
                <a:spcPct val="108000"/>
              </a:lnSpc>
              <a:spcAft>
                <a:spcPts val="0"/>
              </a:spcAft>
            </a:pPr>
          </a:p>
          <a:p>
            <a:pPr algn="l">
              <a:lnSpc>
                <a:spcPct val="108000"/>
              </a:lnSpc>
              <a:spcAft>
                <a:spcPts val="0"/>
              </a:spcAft>
            </a:pPr>
            <a:r>
              <a:rPr sz="1100" b="0" i="0">
                <a:solidFill>
                  <a:srgbClr val="1B2A4A"/>
                </a:solidFill>
                <a:latin typeface="Consolas"/>
              </a:rPr>
              <a:t>Output:</a:t>
            </a:r>
          </a:p>
          <a:p>
            <a:pPr algn="l">
              <a:lnSpc>
                <a:spcPct val="108000"/>
              </a:lnSpc>
              <a:spcAft>
                <a:spcPts val="0"/>
              </a:spcAft>
            </a:pPr>
            <a:r>
              <a:rPr sz="1100" b="0" i="0">
                <a:solidFill>
                  <a:srgbClr val="1B2A4A"/>
                </a:solidFill>
                <a:latin typeface="Consolas"/>
              </a:rPr>
              <a:t>1. Five-line summary</a:t>
            </a:r>
          </a:p>
          <a:p>
            <a:pPr algn="l">
              <a:lnSpc>
                <a:spcPct val="108000"/>
              </a:lnSpc>
              <a:spcAft>
                <a:spcPts val="0"/>
              </a:spcAft>
            </a:pPr>
            <a:r>
              <a:rPr sz="1100" b="0" i="0">
                <a:solidFill>
                  <a:srgbClr val="1B2A4A"/>
                </a:solidFill>
                <a:latin typeface="Consolas"/>
              </a:rPr>
              <a:t>2. Action items</a:t>
            </a:r>
          </a:p>
          <a:p>
            <a:pPr algn="l">
              <a:lnSpc>
                <a:spcPct val="108000"/>
              </a:lnSpc>
              <a:spcAft>
                <a:spcPts val="0"/>
              </a:spcAft>
            </a:pPr>
            <a:r>
              <a:rPr sz="1100" b="0" i="0">
                <a:solidFill>
                  <a:srgbClr val="1B2A4A"/>
                </a:solidFill>
                <a:latin typeface="Consolas"/>
              </a:rPr>
              <a:t>3. Two draft replies — one to the team, one the CNC can send to the family</a:t>
            </a:r>
          </a:p>
        </p:txBody>
      </p:sp>
      <p:sp>
        <p:nvSpPr>
          <p:cNvPr id="17" name="TextBox 16"/>
          <p:cNvSpPr txBox="1"/>
          <p:nvPr/>
        </p:nvSpPr>
        <p:spPr>
          <a:xfrm>
            <a:off x="7772400" y="2011680"/>
            <a:ext cx="3870655" cy="4114800"/>
          </a:xfrm>
          <a:prstGeom prst="rect">
            <a:avLst/>
          </a:prstGeom>
          <a:noFill/>
        </p:spPr>
        <p:txBody>
          <a:bodyPr wrap="square" lIns="73152" rIns="73152" tIns="73152" bIns="73152"/>
          <a:lstStyle/>
          <a:p>
            <a:pPr marL="256032" indent="-256032">
              <a:lnSpc>
                <a:spcPct val="112000"/>
              </a:lnSpc>
              <a:spcAft>
                <a:spcPts val="1000"/>
              </a:spcAft>
              <a:buClr>
                <a:srgbClr val="EC008C"/>
              </a:buClr>
              <a:buFont typeface="Arial"/>
              <a:buChar char="•"/>
            </a:pPr>
            <a:r>
              <a:rPr sz="1500" b="0" i="0">
                <a:solidFill>
                  <a:srgbClr val="1B2A4A"/>
                </a:solidFill>
                <a:latin typeface="Calibri"/>
              </a:rPr>
              <a:t>The yellow block at the top is the label. The rest is the briefing.</a:t>
            </a:r>
          </a:p>
          <a:p>
            <a:pPr marL="256032" indent="-256032">
              <a:lnSpc>
                <a:spcPct val="112000"/>
              </a:lnSpc>
              <a:spcAft>
                <a:spcPts val="1000"/>
              </a:spcAft>
              <a:buClr>
                <a:srgbClr val="EC008C"/>
              </a:buClr>
              <a:buFont typeface="Arial"/>
              <a:buChar char="•"/>
            </a:pPr>
            <a:r>
              <a:rPr sz="1500" b="0" i="0">
                <a:solidFill>
                  <a:srgbClr val="1B2A4A"/>
                </a:solidFill>
                <a:latin typeface="Calibri"/>
              </a:rPr>
              <a:t>Claude only loads this file when the skill is on.</a:t>
            </a:r>
          </a:p>
          <a:p>
            <a:pPr marL="256032" indent="-256032">
              <a:lnSpc>
                <a:spcPct val="112000"/>
              </a:lnSpc>
              <a:spcAft>
                <a:spcPts val="1000"/>
              </a:spcAft>
              <a:buClr>
                <a:srgbClr val="EC008C"/>
              </a:buClr>
              <a:buFont typeface="Arial"/>
              <a:buChar char="•"/>
            </a:pPr>
            <a:r>
              <a:rPr sz="1500" b="0" i="0">
                <a:solidFill>
                  <a:srgbClr val="1B2A4A"/>
                </a:solidFill>
                <a:latin typeface="Calibri"/>
              </a:rPr>
              <a:t>The real work is the feedback you type next. “Do not sign off with Best” is a skill update, not a new skill.</a:t>
            </a:r>
          </a:p>
          <a:p>
            <a:pPr marL="256032" indent="-256032">
              <a:lnSpc>
                <a:spcPct val="112000"/>
              </a:lnSpc>
              <a:spcAft>
                <a:spcPts val="1000"/>
              </a:spcAft>
              <a:buClr>
                <a:srgbClr val="EC008C"/>
              </a:buClr>
              <a:buFont typeface="Arial"/>
              <a:buChar char="•"/>
            </a:pPr>
            <a:r>
              <a:rPr sz="1500" b="0" i="0">
                <a:solidFill>
                  <a:srgbClr val="1B2A4A"/>
                </a:solidFill>
                <a:latin typeface="Calibri"/>
              </a:rPr>
              <a:t>Save skill. Three dots → </a:t>
            </a:r>
            <a:r>
              <a:rPr sz="1500" b="1" i="0">
                <a:solidFill>
                  <a:srgbClr val="1B2A4A"/>
                </a:solidFill>
                <a:latin typeface="Calibri"/>
              </a:rPr>
              <a:t>Try in chat</a:t>
            </a:r>
            <a:r>
              <a:rPr sz="1500" b="0" i="0">
                <a:solidFill>
                  <a:srgbClr val="1B2A4A"/>
                </a:solidFill>
                <a:latin typeface="Calibri"/>
              </a:rPr>
              <a:t>. Type </a:t>
            </a:r>
            <a:r>
              <a:rPr sz="1500" b="0" i="0">
                <a:solidFill>
                  <a:srgbClr val="1B2A4A"/>
                </a:solidFill>
                <a:latin typeface="Consolas"/>
              </a:rPr>
              <a:t>/ward-thread</a:t>
            </a:r>
            <a:r>
              <a:rPr sz="1500" b="0" i="0">
                <a:solidFill>
                  <a:srgbClr val="1B2A4A"/>
                </a:solidFill>
                <a:latin typeface="Calibri"/>
              </a:rPr>
              <a:t>, paste the thread, send.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3fd6977-639d-4e55-9f00-1702b2cfd914}"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26</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NOT A REAL PATIENT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Test on a synthetic thread</a:t>
            </a:r>
          </a:p>
        </p:txBody>
      </p:sp>
      <p:sp>
        <p:nvSpPr>
          <p:cNvPr id="16" name="Rounded Rectangle 15"/>
          <p:cNvSpPr/>
          <p:nvPr/>
        </p:nvSpPr>
        <p:spPr>
          <a:xfrm>
            <a:off x="548640" y="1920240"/>
            <a:ext cx="5410047" cy="3931920"/>
          </a:xfrm>
          <a:prstGeom prst="roundRect">
            <a:avLst>
              <a:gd name="adj" fmla="val 10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2057400"/>
            <a:ext cx="4952847" cy="274320"/>
          </a:xfrm>
          <a:prstGeom prst="rect">
            <a:avLst/>
          </a:prstGeom>
          <a:noFill/>
        </p:spPr>
        <p:txBody>
          <a:bodyPr wrap="square" anchor="t" lIns="0" rIns="0" tIns="0" bIns="0"/>
          <a:lstStyle/>
          <a:p>
            <a:pPr algn="l">
              <a:lnSpc>
                <a:spcPct val="115000"/>
              </a:lnSpc>
              <a:spcAft>
                <a:spcPts val="400"/>
              </a:spcAft>
            </a:pPr>
            <a:r>
              <a:rPr sz="1000" b="1" i="0">
                <a:solidFill>
                  <a:srgbClr val="2E7D32"/>
                </a:solidFill>
                <a:latin typeface="Calibri"/>
              </a:rPr>
              <a:t>WHATSAPP — NIGHT REGISTRAR, CNC, PHARMACY</a:t>
            </a:r>
          </a:p>
        </p:txBody>
      </p:sp>
      <p:sp>
        <p:nvSpPr>
          <p:cNvPr id="18" name="TextBox 17"/>
          <p:cNvSpPr txBox="1"/>
          <p:nvPr/>
        </p:nvSpPr>
        <p:spPr>
          <a:xfrm>
            <a:off x="777240" y="2377440"/>
            <a:ext cx="4952847" cy="3383280"/>
          </a:xfrm>
          <a:prstGeom prst="rect">
            <a:avLst/>
          </a:prstGeom>
          <a:noFill/>
        </p:spPr>
        <p:txBody>
          <a:bodyPr wrap="square" anchor="t" lIns="0" rIns="0" tIns="0" bIns="0"/>
          <a:lstStyle/>
          <a:p>
            <a:pPr algn="l">
              <a:lnSpc>
                <a:spcPct val="115000"/>
              </a:lnSpc>
              <a:spcAft>
                <a:spcPts val="800"/>
              </a:spcAft>
            </a:pPr>
            <a:r>
              <a:rPr sz="1400" b="1" i="0">
                <a:solidFill>
                  <a:srgbClr val="1B2A4A"/>
                </a:solidFill>
                <a:latin typeface="Calibri"/>
              </a:rPr>
              <a:t>Registrar:</a:t>
            </a:r>
            <a:r>
              <a:rPr sz="1400" b="0" i="0">
                <a:solidFill>
                  <a:srgbClr val="1B2A4A"/>
                </a:solidFill>
                <a:latin typeface="Calibri"/>
              </a:rPr>
              <a:t> 6 yo B-ALL, day 10, fever 38.8 at home 2 h, line in, ANC 80 this morning. Parents ask to wait until clinic.</a:t>
            </a:r>
          </a:p>
          <a:p>
            <a:pPr algn="l">
              <a:lnSpc>
                <a:spcPct val="115000"/>
              </a:lnSpc>
              <a:spcAft>
                <a:spcPts val="800"/>
              </a:spcAft>
            </a:pPr>
            <a:r>
              <a:rPr sz="1400" b="1" i="0">
                <a:solidFill>
                  <a:srgbClr val="1B2A4A"/>
                </a:solidFill>
                <a:latin typeface="Calibri"/>
              </a:rPr>
              <a:t>CNC:</a:t>
            </a:r>
            <a:r>
              <a:rPr sz="1400" b="0" i="0">
                <a:solidFill>
                  <a:srgbClr val="1B2A4A"/>
                </a:solidFill>
                <a:latin typeface="Calibri"/>
              </a:rPr>
              <a:t> I can call them now. Do we bring them in tonight?</a:t>
            </a:r>
          </a:p>
          <a:p>
            <a:pPr algn="l">
              <a:lnSpc>
                <a:spcPct val="115000"/>
              </a:lnSpc>
              <a:spcAft>
                <a:spcPts val="800"/>
              </a:spcAft>
            </a:pPr>
            <a:r>
              <a:rPr sz="1400" b="1" i="0">
                <a:solidFill>
                  <a:srgbClr val="1B2A4A"/>
                </a:solidFill>
                <a:latin typeface="Calibri"/>
              </a:rPr>
              <a:t>Pharmacy:</a:t>
            </a:r>
            <a:r>
              <a:rPr sz="1400" b="0" i="0">
                <a:solidFill>
                  <a:srgbClr val="1B2A4A"/>
                </a:solidFill>
                <a:latin typeface="Calibri"/>
              </a:rPr>
              <a:t> penicillin rash on file. Confirm if we still use our FN first-line.</a:t>
            </a:r>
          </a:p>
          <a:p>
            <a:pPr algn="l">
              <a:lnSpc>
                <a:spcPct val="115000"/>
              </a:lnSpc>
              <a:spcAft>
                <a:spcPts val="800"/>
              </a:spcAft>
            </a:pPr>
            <a:r>
              <a:rPr sz="1400" b="1" i="0">
                <a:solidFill>
                  <a:srgbClr val="1B2A4A"/>
                </a:solidFill>
                <a:latin typeface="Calibri"/>
              </a:rPr>
              <a:t>Consultant:</a:t>
            </a:r>
            <a:r>
              <a:rPr sz="1400" b="0" i="0">
                <a:solidFill>
                  <a:srgbClr val="1B2A4A"/>
                </a:solidFill>
                <a:latin typeface="Calibri"/>
              </a:rPr>
              <a:t> do not wait. Cultures, then antibiotics. I will see them in ER.</a:t>
            </a:r>
          </a:p>
        </p:txBody>
      </p:sp>
      <p:sp>
        <p:nvSpPr>
          <p:cNvPr id="19" name="Rounded Rectangle 18"/>
          <p:cNvSpPr/>
          <p:nvPr/>
        </p:nvSpPr>
        <p:spPr>
          <a:xfrm>
            <a:off x="6233007" y="1920240"/>
            <a:ext cx="5410047" cy="39319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61023" y="1993392"/>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/WARD-THREAD — WHAT CAME BACK</a:t>
            </a:r>
          </a:p>
        </p:txBody>
      </p:sp>
      <p:sp>
        <p:nvSpPr>
          <p:cNvPr id="21" name="TextBox 20"/>
          <p:cNvSpPr txBox="1"/>
          <p:nvPr/>
        </p:nvSpPr>
        <p:spPr>
          <a:xfrm>
            <a:off x="6361023" y="2212848"/>
            <a:ext cx="5154015" cy="3566160"/>
          </a:xfrm>
          <a:prstGeom prst="rect">
            <a:avLst/>
          </a:prstGeom>
          <a:noFill/>
        </p:spPr>
        <p:txBody>
          <a:bodyPr wrap="square" anchor="t" lIns="0" rIns="0" tIns="0" bIns="0"/>
          <a:lstStyle/>
          <a:p>
            <a:pPr algn="l">
              <a:lnSpc>
                <a:spcPct val="112000"/>
              </a:lnSpc>
              <a:spcAft>
                <a:spcPts val="300"/>
              </a:spcAft>
            </a:pPr>
            <a:r>
              <a:rPr sz="1300" b="1" i="0">
                <a:solidFill>
                  <a:srgbClr val="1B2A4A"/>
                </a:solidFill>
                <a:latin typeface="Calibri"/>
              </a:rPr>
              <a:t>Summary.</a:t>
            </a:r>
            <a:r>
              <a:rPr sz="1300" b="0" i="0">
                <a:solidFill>
                  <a:srgbClr val="1B2A4A"/>
                </a:solidFill>
                <a:latin typeface="Calibri"/>
              </a:rPr>
              <a:t> High-risk FN. Family wanted to wait. Team agrees: come in now, cultures, then first-line covering the rash.
</a:t>
            </a:r>
            <a:r>
              <a:rPr sz="1300" b="1" i="0">
                <a:solidFill>
                  <a:srgbClr val="1B2A4A"/>
                </a:solidFill>
                <a:latin typeface="Calibri"/>
              </a:rPr>
              <a:t>Actions.</a:t>
            </a:r>
            <a:r>
              <a:rPr sz="1300" b="0" i="0">
                <a:solidFill>
                  <a:srgbClr val="1B2A4A"/>
                </a:solidFill>
                <a:latin typeface="Calibri"/>
              </a:rPr>
              <a:t> Consultant — ER. Registrar — cultures, then antibiotics. CNC — call the family. Pharmacy — first-line that respects the rash.
</a:t>
            </a:r>
            <a:r>
              <a:rPr sz="1300" b="1" i="0">
                <a:solidFill>
                  <a:srgbClr val="1B2A4A"/>
                </a:solidFill>
                <a:latin typeface="Calibri"/>
              </a:rPr>
              <a:t>Draft to family.</a:t>
            </a:r>
            <a:r>
              <a:rPr sz="1300" b="0" i="0">
                <a:solidFill>
                  <a:srgbClr val="1B2A4A"/>
                </a:solidFill>
                <a:latin typeface="Calibri"/>
              </a:rPr>
              <a:t> Please come to ER tonight. We need cultures and antibiotics the same evening. This is the safe plan after a fever on treatment.</a:t>
            </a:r>
          </a:p>
        </p:txBody>
      </p:sp>
      <p:sp>
        <p:nvSpPr>
          <p:cNvPr id="22" name="Rounded Rectangle 21"/>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thread — names, MRNs, photos — into a consumer AI tool.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5b5bd4f-6743-4fbe-ae40-c30399ad76e4}" type="datetime9">
              <a:rPr lang="en-US" sz="1200" b="1" dirty="0" smtClean="0">
                <a:solidFill>
                  <a:srgbClr val="21409A"/>
                </a:solidFill>
                <a:latin typeface="Calibri"/>
              </a:rPr>
              <a:t>1:03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CHAT, COWORK, CLAUDE CODE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skill, three places</a:t>
            </a:r>
          </a:p>
        </p:txBody>
      </p:sp>
      <p:sp>
        <p:nvSpPr>
          <p:cNvPr id="16" name="Rounded Rectangle 15"/>
          <p:cNvSpPr/>
          <p:nvPr/>
        </p:nvSpPr>
        <p:spPr>
          <a:xfrm>
            <a:off x="548640" y="2011680"/>
            <a:ext cx="3545738" cy="23774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Chat</a:t>
            </a:r>
          </a:p>
        </p:txBody>
      </p:sp>
      <p:sp>
        <p:nvSpPr>
          <p:cNvPr id="19" name="TextBox 18"/>
          <p:cNvSpPr txBox="1"/>
          <p:nvPr/>
        </p:nvSpPr>
        <p:spPr>
          <a:xfrm>
            <a:off x="1197864" y="2580436"/>
            <a:ext cx="2750210" cy="17209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Slash, paste the thread, go. Install Claude Desktop and the same skill is already there. You do not install it three times.</a:t>
            </a:r>
          </a:p>
        </p:txBody>
      </p:sp>
      <p:sp>
        <p:nvSpPr>
          <p:cNvPr id="20" name="Rounded Rectangle 19"/>
          <p:cNvSpPr/>
          <p:nvPr/>
        </p:nvSpPr>
        <p:spPr>
          <a:xfrm>
            <a:off x="4322978" y="2011680"/>
            <a:ext cx="3545738" cy="23774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469282"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2" name="TextBox 21"/>
          <p:cNvSpPr txBox="1"/>
          <p:nvPr/>
        </p:nvSpPr>
        <p:spPr>
          <a:xfrm>
            <a:off x="4972202"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Cowork</a:t>
            </a:r>
          </a:p>
        </p:txBody>
      </p:sp>
      <p:sp>
        <p:nvSpPr>
          <p:cNvPr id="23" name="TextBox 22"/>
          <p:cNvSpPr txBox="1"/>
          <p:nvPr/>
        </p:nvSpPr>
        <p:spPr>
          <a:xfrm>
            <a:off x="4972202" y="2580436"/>
            <a:ext cx="2750210" cy="17209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Point it at a local folder — unit SOP, house voice, last month’s report. The skill can use that folder as context.</a:t>
            </a:r>
          </a:p>
        </p:txBody>
      </p:sp>
      <p:sp>
        <p:nvSpPr>
          <p:cNvPr id="24" name="Rounded Rectangle 23"/>
          <p:cNvSpPr/>
          <p:nvPr/>
        </p:nvSpPr>
        <p:spPr>
          <a:xfrm>
            <a:off x="8097316" y="2011680"/>
            <a:ext cx="3545738" cy="23774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43620"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6" name="TextBox 25"/>
          <p:cNvSpPr txBox="1"/>
          <p:nvPr/>
        </p:nvSpPr>
        <p:spPr>
          <a:xfrm>
            <a:off x="8746540"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Claude Code</a:t>
            </a:r>
          </a:p>
        </p:txBody>
      </p:sp>
      <p:sp>
        <p:nvSpPr>
          <p:cNvPr id="27" name="TextBox 26"/>
          <p:cNvSpPr txBox="1"/>
          <p:nvPr/>
        </p:nvSpPr>
        <p:spPr>
          <a:xfrm>
            <a:off x="8746540" y="2580436"/>
            <a:ext cx="2750210" cy="17209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Skills live in .claude/skills/ward-thread/. Download from the web app as a zip, drop in that folder, start a new session. Global skills are for every project on your laptop. Project skills stay with the folder you share.</a:t>
            </a:r>
          </a:p>
        </p:txBody>
      </p:sp>
      <p:sp>
        <p:nvSpPr>
          <p:cNvPr id="28" name="TextBox 27"/>
          <p:cNvSpPr txBox="1"/>
          <p:nvPr/>
        </p:nvSpPr>
        <p:spPr>
          <a:xfrm>
            <a:off x="548640" y="4617720"/>
            <a:ext cx="11094415" cy="274320"/>
          </a:xfrm>
          <a:prstGeom prst="rect">
            <a:avLst/>
          </a:prstGeom>
          <a:noFill/>
        </p:spPr>
        <p:txBody>
          <a:bodyPr wrap="square" anchor="t" lIns="0" rIns="0" tIns="0" bIns="0"/>
          <a:lstStyle/>
          <a:p>
            <a:pPr algn="l">
              <a:lnSpc>
                <a:spcPct val="115000"/>
              </a:lnSpc>
              <a:spcAft>
                <a:spcPts val="400"/>
              </a:spcAft>
            </a:pPr>
            <a:r>
              <a:rPr sz="1100" b="1" i="0">
                <a:solidFill>
                  <a:srgbClr val="7B1FA2"/>
                </a:solidFill>
                <a:latin typeface="Calibri"/>
              </a:rPr>
              <a:t>FOUR WAYS TO SHARE — ONE TO AVOID</a:t>
            </a:r>
          </a:p>
        </p:txBody>
      </p:sp>
      <p:graphicFrame>
        <p:nvGraphicFramePr>
          <p:cNvPr id="29" name="Table 28"/>
          <p:cNvGraphicFramePr>
            <a:graphicFrameLocks noGrp="1"/>
          </p:cNvGraphicFramePr>
          <p:nvPr/>
        </p:nvGraphicFramePr>
        <p:xfrm>
          <a:off x="548640" y="4937760"/>
          <a:ext cx="11094415" cy="1645920"/>
        </p:xfrm>
        <a:graphic>
          <a:graphicData uri="http://schemas.openxmlformats.org/drawingml/2006/table">
            <a:tbl>
              <a:tblPr firstRow="1" bandRow="1">
                <a:tableStyleId>{5C22544A-7EE6-4342-B048-85BDC9FD1C3A}</a:tableStyleId>
              </a:tblPr>
              <a:tblGrid>
                <a:gridCol w="2218883"/>
                <a:gridCol w="8875532"/>
              </a:tblGrid>
              <a:tr h="329184">
                <a:tc>
                  <a:txBody>
                    <a:bodyPr wrap="square"/>
                    <a:lstStyle/>
                    <a:p>
                      <a:r>
                        <a:rPr sz="1200" b="1" i="0">
                          <a:solidFill>
                            <a:srgbClr val="FFFFFF"/>
                          </a:solidFill>
                          <a:latin typeface="Calibri"/>
                        </a:rPr>
                        <a:t>Way</a:t>
                      </a:r>
                    </a:p>
                  </a:txBody>
                  <a:tcPr marL="73152" marR="73152" marT="36576" marB="36576" anchor="ctr">
                    <a:solidFill>
                      <a:srgbClr val="21409A"/>
                    </a:solidFill>
                  </a:tcPr>
                </a:tc>
                <a:tc>
                  <a:txBody>
                    <a:bodyPr wrap="square"/>
                    <a:lstStyle/>
                    <a:p>
                      <a:r>
                        <a:rPr sz="1200" b="1" i="0">
                          <a:solidFill>
                            <a:srgbClr val="FFFFFF"/>
                          </a:solidFill>
                          <a:latin typeface="Calibri"/>
                        </a:rPr>
                        <a:t>What happens</a:t>
                      </a:r>
                    </a:p>
                  </a:txBody>
                  <a:tcPr marL="73152" marR="73152" marT="36576" marB="36576" anchor="ctr">
                    <a:solidFill>
                      <a:srgbClr val="21409A"/>
                    </a:solidFill>
                  </a:tcPr>
                </a:tc>
              </a:tr>
              <a:tr h="329184">
                <a:tc>
                  <a:txBody>
                    <a:bodyPr wrap="square"/>
                    <a:lstStyle/>
                    <a:p>
                      <a:r>
                        <a:rPr sz="1200" b="1" i="0">
                          <a:solidFill>
                            <a:srgbClr val="1B2A4A"/>
                          </a:solidFill>
                          <a:latin typeface="Calibri"/>
                        </a:rPr>
                        <a:t>Zip file</a:t>
                      </a:r>
                    </a:p>
                  </a:txBody>
                  <a:tcPr marL="73152" marR="73152" marT="36576" marB="36576" anchor="ctr">
                    <a:solidFill>
                      <a:srgbClr val="FDECEA"/>
                    </a:solidFill>
                  </a:tcPr>
                </a:tc>
                <a:tc>
                  <a:txBody>
                    <a:bodyPr wrap="square"/>
                    <a:lstStyle/>
                    <a:p>
                      <a:r>
                        <a:rPr sz="1200" b="0" i="0">
                          <a:solidFill>
                            <a:srgbClr val="1B2A4A"/>
                          </a:solidFill>
                          <a:latin typeface="Calibri"/>
                        </a:rPr>
                        <a:t>Works once. Then you have two copies. The next edit splits the team.</a:t>
                      </a:r>
                    </a:p>
                  </a:txBody>
                  <a:tcPr marL="73152" marR="73152" marT="36576" marB="36576" anchor="ctr">
                    <a:solidFill>
                      <a:srgbClr val="FDECEA"/>
                    </a:solidFill>
                  </a:tcPr>
                </a:tc>
              </a:tr>
              <a:tr h="329184">
                <a:tc>
                  <a:txBody>
                    <a:bodyPr wrap="square"/>
                    <a:lstStyle/>
                    <a:p>
                      <a:r>
                        <a:rPr sz="1200" b="1" i="0">
                          <a:solidFill>
                            <a:srgbClr val="1B2A4A"/>
                          </a:solidFill>
                          <a:latin typeface="Calibri"/>
                        </a:rPr>
                        <a:t>Organization skills</a:t>
                      </a:r>
                    </a:p>
                  </a:txBody>
                  <a:tcPr marL="73152" marR="73152" marT="36576" marB="36576" anchor="ctr">
                    <a:solidFill>
                      <a:srgbClr val="FAFBFD"/>
                    </a:solidFill>
                  </a:tcPr>
                </a:tc>
                <a:tc>
                  <a:txBody>
                    <a:bodyPr wrap="square"/>
                    <a:lstStyle/>
                    <a:p>
                      <a:r>
                        <a:rPr sz="1200" b="0" i="0">
                          <a:solidFill>
                            <a:srgbClr val="1B2A4A"/>
                          </a:solidFill>
                          <a:latin typeface="Calibri"/>
                        </a:rPr>
                        <a:t>Claude Team or Enterprise. Admin uploads once. Everyone can run it. They cannot edit it.</a:t>
                      </a:r>
                    </a:p>
                  </a:txBody>
                  <a:tcPr marL="73152" marR="73152" marT="36576" marB="36576" anchor="ctr">
                    <a:solidFill>
                      <a:srgbClr val="FAFBFD"/>
                    </a:solidFill>
                  </a:tcPr>
                </a:tc>
              </a:tr>
              <a:tr h="329184">
                <a:tc>
                  <a:txBody>
                    <a:bodyPr wrap="square"/>
                    <a:lstStyle/>
                    <a:p>
                      <a:r>
                        <a:rPr sz="1200" b="1" i="0">
                          <a:solidFill>
                            <a:srgbClr val="1B2A4A"/>
                          </a:solidFill>
                          <a:latin typeface="Calibri"/>
                        </a:rPr>
                        <a:t>Shared folder</a:t>
                      </a:r>
                    </a:p>
                  </a:txBody>
                  <a:tcPr marL="73152" marR="73152" marT="36576" marB="36576" anchor="ctr">
                    <a:solidFill>
                      <a:srgbClr val="FFFFFF"/>
                    </a:solidFill>
                  </a:tcPr>
                </a:tc>
                <a:tc>
                  <a:txBody>
                    <a:bodyPr wrap="square"/>
                    <a:lstStyle/>
                    <a:p>
                      <a:r>
                        <a:rPr sz="1200" b="0" i="0">
                          <a:solidFill>
                            <a:srgbClr val="1B2A4A"/>
                          </a:solidFill>
                          <a:latin typeface="Calibri"/>
                        </a:rPr>
                        <a:t>Cowork on a synced drive, plus a CLAUDE.md that points at the skills. Fiddly. Useful with no Team plan.</a:t>
                      </a:r>
                    </a:p>
                  </a:txBody>
                  <a:tcPr marL="73152" marR="73152" marT="36576" marB="36576" anchor="ctr">
                    <a:solidFill>
                      <a:srgbClr val="FFFFFF"/>
                    </a:solidFill>
                  </a:tcPr>
                </a:tc>
              </a:tr>
              <a:tr h="329184">
                <a:tc>
                  <a:txBody>
                    <a:bodyPr wrap="square"/>
                    <a:lstStyle/>
                    <a:p>
                      <a:r>
                        <a:rPr sz="1200" b="1" i="0">
                          <a:solidFill>
                            <a:srgbClr val="1B2A4A"/>
                          </a:solidFill>
                          <a:latin typeface="Calibri"/>
                        </a:rPr>
                        <a:t>Git</a:t>
                      </a:r>
                    </a:p>
                  </a:txBody>
                  <a:tcPr marL="73152" marR="73152" marT="36576" marB="36576" anchor="ctr">
                    <a:solidFill>
                      <a:srgbClr val="FAFBFD"/>
                    </a:solidFill>
                  </a:tcPr>
                </a:tc>
                <a:tc>
                  <a:txBody>
                    <a:bodyPr wrap="square"/>
                    <a:lstStyle/>
                    <a:p>
                      <a:r>
                        <a:rPr sz="1200" b="0" i="0">
                          <a:solidFill>
                            <a:srgbClr val="1B2A4A"/>
                          </a:solidFill>
                          <a:latin typeface="Calibri"/>
                        </a:rPr>
                        <a:t>Skills are text. Version history means you can undo the edit that made it worse.</a:t>
                      </a:r>
                    </a:p>
                  </a:txBody>
                  <a:tcPr marL="73152" marR="73152" marT="36576" marB="36576" anchor="ctr">
                    <a:solidFill>
                      <a:srgbClr val="FAFBFD"/>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7121402-0e73-474c-b9c7-95706c9acf62}"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DOWNLOAD THE .SKILL FILE FROM THE SITE → CUSTOMIZE → SKILLS → UPLOAD A SKILL</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Four skills you can take home</a:t>
            </a:r>
          </a:p>
        </p:txBody>
      </p:sp>
      <p:sp>
        <p:nvSpPr>
          <p:cNvPr id="16" name="Rounded Rectangle 15"/>
          <p:cNvSpPr/>
          <p:nvPr/>
        </p:nvSpPr>
        <p:spPr>
          <a:xfrm>
            <a:off x="548640" y="1938528"/>
            <a:ext cx="2602153" cy="26517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066544"/>
            <a:ext cx="2309545" cy="228600"/>
          </a:xfrm>
          <a:prstGeom prst="rect">
            <a:avLst/>
          </a:prstGeom>
          <a:noFill/>
        </p:spPr>
        <p:txBody>
          <a:bodyPr wrap="square" anchor="t" lIns="0" rIns="0" tIns="0" bIns="0"/>
          <a:lstStyle/>
          <a:p>
            <a:pPr algn="l">
              <a:lnSpc>
                <a:spcPct val="100000"/>
              </a:lnSpc>
              <a:spcAft>
                <a:spcPts val="0"/>
              </a:spcAft>
            </a:pPr>
            <a:r>
              <a:rPr sz="900" b="1" i="0">
                <a:solidFill>
                  <a:srgbClr val="7B1FA2"/>
                </a:solidFill>
                <a:latin typeface="Calibri"/>
              </a:rPr>
              <a:t>/PAPER-TO-ARTIFACT</a:t>
            </a:r>
          </a:p>
        </p:txBody>
      </p:sp>
      <p:sp>
        <p:nvSpPr>
          <p:cNvPr id="18" name="TextBox 17"/>
          <p:cNvSpPr txBox="1"/>
          <p:nvPr/>
        </p:nvSpPr>
        <p:spPr>
          <a:xfrm>
            <a:off x="694944" y="2286000"/>
            <a:ext cx="230954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paper-to-artifact</a:t>
            </a:r>
          </a:p>
        </p:txBody>
      </p:sp>
      <p:sp>
        <p:nvSpPr>
          <p:cNvPr id="19" name="TextBox 18"/>
          <p:cNvSpPr txBox="1"/>
          <p:nvPr/>
        </p:nvSpPr>
        <p:spPr>
          <a:xfrm>
            <a:off x="694944" y="2682849"/>
            <a:ext cx="2309545" cy="181965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Turns a paper into a clickable explainer — the same move as the fever-and-neutropenia artifact in Block 2.</a:t>
            </a:r>
          </a:p>
        </p:txBody>
      </p:sp>
      <p:sp>
        <p:nvSpPr>
          <p:cNvPr id="20" name="Rounded Rectangle 19"/>
          <p:cNvSpPr/>
          <p:nvPr/>
        </p:nvSpPr>
        <p:spPr>
          <a:xfrm>
            <a:off x="694944" y="4133088"/>
            <a:ext cx="19202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Download .skill on the site</a:t>
            </a:r>
          </a:p>
        </p:txBody>
      </p:sp>
      <p:sp>
        <p:nvSpPr>
          <p:cNvPr id="21" name="Rounded Rectangle 20"/>
          <p:cNvSpPr/>
          <p:nvPr/>
        </p:nvSpPr>
        <p:spPr>
          <a:xfrm>
            <a:off x="3379393" y="1938528"/>
            <a:ext cx="2602153" cy="26517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525697" y="2066544"/>
            <a:ext cx="2309545" cy="228600"/>
          </a:xfrm>
          <a:prstGeom prst="rect">
            <a:avLst/>
          </a:prstGeom>
          <a:noFill/>
        </p:spPr>
        <p:txBody>
          <a:bodyPr wrap="square" anchor="t" lIns="0" rIns="0" tIns="0" bIns="0"/>
          <a:lstStyle/>
          <a:p>
            <a:pPr algn="l">
              <a:lnSpc>
                <a:spcPct val="100000"/>
              </a:lnSpc>
              <a:spcAft>
                <a:spcPts val="0"/>
              </a:spcAft>
            </a:pPr>
            <a:r>
              <a:rPr sz="900" b="1" i="0">
                <a:solidFill>
                  <a:srgbClr val="7B1FA2"/>
                </a:solidFill>
                <a:latin typeface="Calibri"/>
              </a:rPr>
              <a:t>/PEER-REVIEW</a:t>
            </a:r>
          </a:p>
        </p:txBody>
      </p:sp>
      <p:sp>
        <p:nvSpPr>
          <p:cNvPr id="23" name="TextBox 22"/>
          <p:cNvSpPr txBox="1"/>
          <p:nvPr/>
        </p:nvSpPr>
        <p:spPr>
          <a:xfrm>
            <a:off x="3525697" y="2286000"/>
            <a:ext cx="230954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peer-review</a:t>
            </a:r>
          </a:p>
        </p:txBody>
      </p:sp>
      <p:sp>
        <p:nvSpPr>
          <p:cNvPr id="24" name="TextBox 23"/>
          <p:cNvSpPr txBox="1"/>
          <p:nvPr/>
        </p:nvSpPr>
        <p:spPr>
          <a:xfrm>
            <a:off x="3525697" y="2682849"/>
            <a:ext cx="2309545" cy="181965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A structured review of a manuscript or grant: methods, statistics, and reporting checklists such as CONSORT or STROBE.</a:t>
            </a:r>
          </a:p>
        </p:txBody>
      </p:sp>
      <p:sp>
        <p:nvSpPr>
          <p:cNvPr id="25" name="Rounded Rectangle 24"/>
          <p:cNvSpPr/>
          <p:nvPr/>
        </p:nvSpPr>
        <p:spPr>
          <a:xfrm>
            <a:off x="3525697" y="4133088"/>
            <a:ext cx="19202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Download .skill on the site</a:t>
            </a:r>
          </a:p>
        </p:txBody>
      </p:sp>
      <p:sp>
        <p:nvSpPr>
          <p:cNvPr id="26" name="Rounded Rectangle 25"/>
          <p:cNvSpPr/>
          <p:nvPr/>
        </p:nvSpPr>
        <p:spPr>
          <a:xfrm>
            <a:off x="6210147" y="1938528"/>
            <a:ext cx="2602153" cy="26517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56451" y="2066544"/>
            <a:ext cx="2309545" cy="228600"/>
          </a:xfrm>
          <a:prstGeom prst="rect">
            <a:avLst/>
          </a:prstGeom>
          <a:noFill/>
        </p:spPr>
        <p:txBody>
          <a:bodyPr wrap="square" anchor="t" lIns="0" rIns="0" tIns="0" bIns="0"/>
          <a:lstStyle/>
          <a:p>
            <a:pPr algn="l">
              <a:lnSpc>
                <a:spcPct val="100000"/>
              </a:lnSpc>
              <a:spcAft>
                <a:spcPts val="0"/>
              </a:spcAft>
            </a:pPr>
            <a:r>
              <a:rPr sz="900" b="1" i="0">
                <a:solidFill>
                  <a:srgbClr val="7B1FA2"/>
                </a:solidFill>
                <a:latin typeface="Calibri"/>
              </a:rPr>
              <a:t>/PRD-BUILDER</a:t>
            </a:r>
          </a:p>
        </p:txBody>
      </p:sp>
      <p:sp>
        <p:nvSpPr>
          <p:cNvPr id="28" name="TextBox 27"/>
          <p:cNvSpPr txBox="1"/>
          <p:nvPr/>
        </p:nvSpPr>
        <p:spPr>
          <a:xfrm>
            <a:off x="6356451" y="2286000"/>
            <a:ext cx="230954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prd-builder</a:t>
            </a:r>
          </a:p>
        </p:txBody>
      </p:sp>
      <p:sp>
        <p:nvSpPr>
          <p:cNvPr id="29" name="TextBox 28"/>
          <p:cNvSpPr txBox="1"/>
          <p:nvPr/>
        </p:nvSpPr>
        <p:spPr>
          <a:xfrm>
            <a:off x="6356451" y="2682849"/>
            <a:ext cx="2309545" cy="181965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Turns messy notes or a meeting transcript into a product requirements document — clinical or generic.</a:t>
            </a:r>
          </a:p>
        </p:txBody>
      </p:sp>
      <p:sp>
        <p:nvSpPr>
          <p:cNvPr id="30" name="Rounded Rectangle 29"/>
          <p:cNvSpPr/>
          <p:nvPr/>
        </p:nvSpPr>
        <p:spPr>
          <a:xfrm>
            <a:off x="6356451" y="4133088"/>
            <a:ext cx="19202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Download .skill on the site</a:t>
            </a:r>
          </a:p>
        </p:txBody>
      </p:sp>
      <p:sp>
        <p:nvSpPr>
          <p:cNvPr id="31" name="Rounded Rectangle 30"/>
          <p:cNvSpPr/>
          <p:nvPr/>
        </p:nvSpPr>
        <p:spPr>
          <a:xfrm>
            <a:off x="9040901" y="1938528"/>
            <a:ext cx="2602153" cy="26517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187205" y="2066544"/>
            <a:ext cx="2309545" cy="228600"/>
          </a:xfrm>
          <a:prstGeom prst="rect">
            <a:avLst/>
          </a:prstGeom>
          <a:noFill/>
        </p:spPr>
        <p:txBody>
          <a:bodyPr wrap="square" anchor="t" lIns="0" rIns="0" tIns="0" bIns="0"/>
          <a:lstStyle/>
          <a:p>
            <a:pPr algn="l">
              <a:lnSpc>
                <a:spcPct val="100000"/>
              </a:lnSpc>
              <a:spcAft>
                <a:spcPts val="0"/>
              </a:spcAft>
            </a:pPr>
            <a:r>
              <a:rPr sz="900" b="1" i="0">
                <a:solidFill>
                  <a:srgbClr val="7B1FA2"/>
                </a:solidFill>
                <a:latin typeface="Calibri"/>
              </a:rPr>
              <a:t>/SCIENTIFIC-WRITING</a:t>
            </a:r>
          </a:p>
        </p:txBody>
      </p:sp>
      <p:sp>
        <p:nvSpPr>
          <p:cNvPr id="33" name="TextBox 32"/>
          <p:cNvSpPr txBox="1"/>
          <p:nvPr/>
        </p:nvSpPr>
        <p:spPr>
          <a:xfrm>
            <a:off x="9187205" y="2286000"/>
            <a:ext cx="230954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scientific-writing</a:t>
            </a:r>
          </a:p>
        </p:txBody>
      </p:sp>
      <p:sp>
        <p:nvSpPr>
          <p:cNvPr id="34" name="TextBox 33"/>
          <p:cNvSpPr txBox="1"/>
          <p:nvPr/>
        </p:nvSpPr>
        <p:spPr>
          <a:xfrm>
            <a:off x="9187205" y="2682849"/>
            <a:ext cx="2309545" cy="1819657"/>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Drafts a paper, review, or grant with real citations, instead of a generic chat reply.</a:t>
            </a:r>
          </a:p>
        </p:txBody>
      </p:sp>
      <p:sp>
        <p:nvSpPr>
          <p:cNvPr id="35" name="Rounded Rectangle 34"/>
          <p:cNvSpPr/>
          <p:nvPr/>
        </p:nvSpPr>
        <p:spPr>
          <a:xfrm>
            <a:off x="9187205" y="4133088"/>
            <a:ext cx="19202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034EA2"/>
                </a:solidFill>
                <a:latin typeface="Calibri"/>
              </a:rPr>
              <a:t>Download .skill on the site</a:t>
            </a:r>
          </a:p>
        </p:txBody>
      </p:sp>
      <p:sp>
        <p:nvSpPr>
          <p:cNvPr id="36" name="TextBox 35"/>
          <p:cNvSpPr txBox="1"/>
          <p:nvPr/>
        </p:nvSpPr>
        <p:spPr>
          <a:xfrm>
            <a:off x="548640" y="4864608"/>
            <a:ext cx="11094415" cy="731520"/>
          </a:xfrm>
          <a:prstGeom prst="rect">
            <a:avLst/>
          </a:prstGeom>
          <a:noFill/>
        </p:spPr>
        <p:txBody>
          <a:bodyPr wrap="square" anchor="t" lIns="0" rIns="0" tIns="0" bIns="0"/>
          <a:lstStyle/>
          <a:p>
            <a:pPr algn="l">
              <a:lnSpc>
                <a:spcPct val="115000"/>
              </a:lnSpc>
              <a:spcAft>
                <a:spcPts val="400"/>
              </a:spcAft>
            </a:pPr>
            <a:r>
              <a:rPr sz="1400" b="0" i="0">
                <a:solidFill>
                  <a:srgbClr val="607D8B"/>
                </a:solidFill>
                <a:latin typeface="Calibri"/>
              </a:rPr>
              <a:t>Same zip works in Claude Code if you drop the folder into .claude/skills/. Files are at aibedside.io → Block 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f618961-1320-4dc3-ac93-e78dec9f1a7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29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SEARCH → LIBRARY → ASK → FINDINGS → ARTIFACT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Find a skill the way you find a paper</a:t>
            </a:r>
          </a:p>
        </p:txBody>
      </p:sp>
      <p:sp>
        <p:nvSpPr>
          <p:cNvPr id="16" name="TextBox 15"/>
          <p:cNvSpPr txBox="1"/>
          <p:nvPr/>
        </p:nvSpPr>
        <p:spPr>
          <a:xfrm>
            <a:off x="548640" y="1920240"/>
            <a:ext cx="5669280"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GOOGLE — SAME HABIT AS A LITERATURE SEARCH</a:t>
            </a:r>
          </a:p>
        </p:txBody>
      </p:sp>
      <p:sp>
        <p:nvSpPr>
          <p:cNvPr id="17" name="Rounded Rectangle 16"/>
          <p:cNvSpPr/>
          <p:nvPr/>
        </p:nvSpPr>
        <p:spPr>
          <a:xfrm>
            <a:off x="548640" y="2212848"/>
            <a:ext cx="5669280" cy="4572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400" b="0" i="0">
                <a:solidFill>
                  <a:srgbClr val="1B2A4A"/>
                </a:solidFill>
                <a:latin typeface="Consolas"/>
              </a:rPr>
              <a:t>scientific agent skills github</a:t>
            </a:r>
          </a:p>
        </p:txBody>
      </p:sp>
      <p:sp>
        <p:nvSpPr>
          <p:cNvPr id="18" name="TextBox 17"/>
          <p:cNvSpPr txBox="1"/>
          <p:nvPr/>
        </p:nvSpPr>
        <p:spPr>
          <a:xfrm>
            <a:off x="548640" y="2788920"/>
            <a:ext cx="5669280" cy="118872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Skills live in public GitHub folders. You are not looking for an app to buy. Other searches that work: claude scientific skills, agent skills statistics, claude skills sample size.</a:t>
            </a:r>
          </a:p>
        </p:txBody>
      </p:sp>
      <p:sp>
        <p:nvSpPr>
          <p:cNvPr id="19" name="Rounded Rectangle 18"/>
          <p:cNvSpPr/>
          <p:nvPr/>
        </p:nvSpPr>
        <p:spPr>
          <a:xfrm>
            <a:off x="548640" y="3931920"/>
            <a:ext cx="5669280" cy="18288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4069080"/>
            <a:ext cx="5212080"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GITHUB</a:t>
            </a:r>
          </a:p>
        </p:txBody>
      </p:sp>
      <p:sp>
        <p:nvSpPr>
          <p:cNvPr id="21" name="TextBox 20"/>
          <p:cNvSpPr txBox="1"/>
          <p:nvPr/>
        </p:nvSpPr>
        <p:spPr>
          <a:xfrm>
            <a:off x="777240" y="4343400"/>
            <a:ext cx="5212080" cy="36576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Scientific Agent Skills</a:t>
            </a:r>
          </a:p>
        </p:txBody>
      </p:sp>
      <p:sp>
        <p:nvSpPr>
          <p:cNvPr id="22" name="TextBox 21"/>
          <p:cNvSpPr txBox="1"/>
          <p:nvPr/>
        </p:nvSpPr>
        <p:spPr>
          <a:xfrm>
            <a:off x="777240" y="4709160"/>
            <a:ext cx="5212080" cy="10058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k-dense-ai/scientific-agent-skills · 164 skills · MIT · works with Claude, Cursor, Codex. Statistics, survival, papers, protocols. Do not install all 164. Ask which three you need.</a:t>
            </a:r>
          </a:p>
        </p:txBody>
      </p:sp>
      <p:pic>
        <p:nvPicPr>
          <p:cNvPr id="23" name="Picture 22" descr="scientific-skills-github.png"/>
          <p:cNvPicPr>
            <a:picLocks noChangeAspect="1"/>
          </p:cNvPicPr>
          <p:nvPr/>
        </p:nvPicPr>
        <p:blipFill>
          <a:blip r:embed="rId4"/>
          <a:stretch>
            <a:fillRect/>
          </a:stretch>
        </p:blipFill>
        <p:spPr>
          <a:xfrm>
            <a:off x="6583680" y="2653471"/>
            <a:ext cx="5059375" cy="2465457"/>
          </a:xfrm>
          <a:prstGeom prst="rect">
            <a:avLst/>
          </a:prstGeom>
          <a:ln w="9525">
            <a:solidFill>
              <a:srgbClr val="E0E0E0"/>
            </a:solid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a043b355-aa4f-4cbd-8d20-48d880fbe9a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PASTE THE LIBRARY LINK. ASK FOR A RANKING, NOT A DUMP.</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Ask Claude which statistics skills to install</a:t>
            </a:r>
          </a:p>
        </p:txBody>
      </p:sp>
      <p:sp>
        <p:nvSpPr>
          <p:cNvPr id="16" name="Rounded Rectangle 15"/>
          <p:cNvSpPr/>
          <p:nvPr/>
        </p:nvSpPr>
        <p:spPr>
          <a:xfrm>
            <a:off x="548640" y="1920240"/>
            <a:ext cx="5303520" cy="292608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1993392"/>
            <a:ext cx="5047488"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212848"/>
            <a:ext cx="5047488" cy="256032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I do pediatric oncology research. Look at https://github.com/k-dense-ai/scientific-agent-skills and tell me the best statistics skills to install first.
I need:
1. the right test for my data
2. a sample size before I start a study
3. survival analysis — EFS, OS, competing risks
Rank the top three and say why. Do not install everything.</a:t>
            </a:r>
          </a:p>
        </p:txBody>
      </p:sp>
      <p:pic>
        <p:nvPicPr>
          <p:cNvPr id="19" name="Picture 18" descr="stats-findings.png"/>
          <p:cNvPicPr>
            <a:picLocks noChangeAspect="1"/>
          </p:cNvPicPr>
          <p:nvPr/>
        </p:nvPicPr>
        <p:blipFill>
          <a:blip r:embed="rId4"/>
          <a:stretch>
            <a:fillRect/>
          </a:stretch>
        </p:blipFill>
        <p:spPr>
          <a:xfrm>
            <a:off x="6126480" y="1926291"/>
            <a:ext cx="5516575" cy="3919817"/>
          </a:xfrm>
          <a:prstGeom prst="rect">
            <a:avLst/>
          </a:prstGeom>
          <a:ln w="9525">
            <a:solidFill>
              <a:srgbClr val="E0E0E0"/>
            </a:solidFill>
          </a:ln>
        </p:spPr>
      </p:pic>
      <p:sp>
        <p:nvSpPr>
          <p:cNvPr id="20" name="TextBox 19"/>
          <p:cNvSpPr txBox="1"/>
          <p:nvPr/>
        </p:nvSpPr>
        <p:spPr>
          <a:xfrm>
            <a:off x="548640" y="4983480"/>
            <a:ext cx="5303520" cy="9144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Then: “proceed with installation in this folder.” Twenty-six files land in .claude/skills/. They only load in that project unless you copy them to your global skills folder.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5bcf389-7eec-4e91-9561-e420f7a88e1d}"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NOT 164 SKILLS. THREE.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What Claude picked — install these three</a:t>
            </a:r>
          </a:p>
        </p:txBody>
      </p:sp>
      <p:sp>
        <p:nvSpPr>
          <p:cNvPr id="16" name="Rounded Rectangle 15"/>
          <p:cNvSpPr/>
          <p:nvPr/>
        </p:nvSpPr>
        <p:spPr>
          <a:xfrm>
            <a:off x="548640" y="2011680"/>
            <a:ext cx="3545738"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139696"/>
            <a:ext cx="2750210"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statistical-analysis</a:t>
            </a:r>
          </a:p>
        </p:txBody>
      </p:sp>
      <p:sp>
        <p:nvSpPr>
          <p:cNvPr id="19" name="TextBox 18"/>
          <p:cNvSpPr txBox="1"/>
          <p:nvPr/>
        </p:nvSpPr>
        <p:spPr>
          <a:xfrm>
            <a:off x="1197864" y="2536545"/>
            <a:ext cx="2750210" cy="1307593"/>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Picks the right test, checks assumptions first, reports effect size with the p-value. Stops you running a t-test on skewed data with n = 14.</a:t>
            </a:r>
          </a:p>
        </p:txBody>
      </p:sp>
      <p:sp>
        <p:nvSpPr>
          <p:cNvPr id="20" name="Rounded Rectangle 19"/>
          <p:cNvSpPr/>
          <p:nvPr/>
        </p:nvSpPr>
        <p:spPr>
          <a:xfrm>
            <a:off x="4322978" y="2011680"/>
            <a:ext cx="3545738"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469282"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2" name="TextBox 21"/>
          <p:cNvSpPr txBox="1"/>
          <p:nvPr/>
        </p:nvSpPr>
        <p:spPr>
          <a:xfrm>
            <a:off x="4972202" y="2139696"/>
            <a:ext cx="2750210"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statistical-power</a:t>
            </a:r>
          </a:p>
        </p:txBody>
      </p:sp>
      <p:sp>
        <p:nvSpPr>
          <p:cNvPr id="23" name="TextBox 22"/>
          <p:cNvSpPr txBox="1"/>
          <p:nvPr/>
        </p:nvSpPr>
        <p:spPr>
          <a:xfrm>
            <a:off x="4972202" y="2536545"/>
            <a:ext cx="2750210" cy="1307593"/>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Answers “how many patients do I need?” before you start. Also the reverse: with this n, what is the smallest effect you could actually detect.</a:t>
            </a:r>
          </a:p>
        </p:txBody>
      </p:sp>
      <p:sp>
        <p:nvSpPr>
          <p:cNvPr id="24" name="Rounded Rectangle 23"/>
          <p:cNvSpPr/>
          <p:nvPr/>
        </p:nvSpPr>
        <p:spPr>
          <a:xfrm>
            <a:off x="8097316" y="2011680"/>
            <a:ext cx="3545738"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43620" y="2139696"/>
            <a:ext cx="384048" cy="384048"/>
          </a:xfrm>
          <a:prstGeom prst="roundRect">
            <a:avLst>
              <a:gd name="adj" fmla="val 25000"/>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6" name="TextBox 25"/>
          <p:cNvSpPr txBox="1"/>
          <p:nvPr/>
        </p:nvSpPr>
        <p:spPr>
          <a:xfrm>
            <a:off x="8746540" y="2139696"/>
            <a:ext cx="2750210"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scikit-survival</a:t>
            </a:r>
          </a:p>
        </p:txBody>
      </p:sp>
      <p:sp>
        <p:nvSpPr>
          <p:cNvPr id="27" name="TextBox 26"/>
          <p:cNvSpPr txBox="1"/>
          <p:nvPr/>
        </p:nvSpPr>
        <p:spPr>
          <a:xfrm>
            <a:off x="8746540" y="2536545"/>
            <a:ext cx="2750210" cy="1307593"/>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Survival with censoring handled properly. For this audience: EFS, OS, relapse with death as a competing risk.</a:t>
            </a:r>
          </a:p>
        </p:txBody>
      </p:sp>
      <p:pic>
        <p:nvPicPr>
          <p:cNvPr id="28" name="Picture 27" descr="stats-installed.png"/>
          <p:cNvPicPr>
            <a:picLocks noChangeAspect="1"/>
          </p:cNvPicPr>
          <p:nvPr/>
        </p:nvPicPr>
        <p:blipFill>
          <a:blip r:embed="rId4"/>
          <a:stretch>
            <a:fillRect/>
          </a:stretch>
        </p:blipFill>
        <p:spPr>
          <a:xfrm>
            <a:off x="4599289" y="4114800"/>
            <a:ext cx="2993116" cy="1828800"/>
          </a:xfrm>
          <a:prstGeom prst="rect">
            <a:avLst/>
          </a:prstGeom>
          <a:ln w="9525">
            <a:solidFill>
              <a:srgbClr val="E0E0E0"/>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3 · 00:22</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3-skil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a9805a62-2a7a-4c67-8076-2d48a0298cc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32</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7B1FA2"/>
                </a:solidFill>
                <a:latin typeface="Calibri"/>
              </a:rPr>
              <a:t>THE SKILL DID THE FORMULAS. YOU STILL OWN THE PROTOCOL.</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skill, one artifact</a:t>
            </a:r>
          </a:p>
        </p:txBody>
      </p:sp>
      <p:pic>
        <p:nvPicPr>
          <p:cNvPr id="16" name="Picture 15" descr="power-artifact-prompt.png"/>
          <p:cNvPicPr>
            <a:picLocks noChangeAspect="1"/>
          </p:cNvPicPr>
          <p:nvPr/>
        </p:nvPicPr>
        <p:blipFill>
          <a:blip r:embed="rId4"/>
          <a:stretch>
            <a:fillRect/>
          </a:stretch>
        </p:blipFill>
        <p:spPr>
          <a:xfrm>
            <a:off x="1747252" y="1920240"/>
            <a:ext cx="8697190" cy="1371600"/>
          </a:xfrm>
          <a:prstGeom prst="rect">
            <a:avLst/>
          </a:prstGeom>
          <a:ln w="9525">
            <a:solidFill>
              <a:srgbClr val="E0E0E0"/>
            </a:solidFill>
          </a:ln>
        </p:spPr>
      </p:pic>
      <p:sp>
        <p:nvSpPr>
          <p:cNvPr id="17" name="TextBox 16"/>
          <p:cNvSpPr txBox="1"/>
          <p:nvPr/>
        </p:nvSpPr>
        <p:spPr>
          <a:xfrm>
            <a:off x="548640" y="3566160"/>
            <a:ext cx="11094415" cy="1828800"/>
          </a:xfrm>
          <a:prstGeom prst="rect">
            <a:avLst/>
          </a:prstGeom>
          <a:noFill/>
        </p:spPr>
        <p:txBody>
          <a:bodyPr wrap="square" lIns="73152" rIns="73152" tIns="73152" bIns="73152"/>
          <a:lstStyle/>
          <a:p>
            <a:pPr marL="256032" indent="-256032">
              <a:lnSpc>
                <a:spcPct val="112000"/>
              </a:lnSpc>
              <a:spcAft>
                <a:spcPts val="800"/>
              </a:spcAft>
              <a:buClr>
                <a:srgbClr val="EC008C"/>
              </a:buClr>
              <a:buFont typeface="Arial"/>
              <a:buChar char="•"/>
            </a:pPr>
            <a:r>
              <a:rPr sz="1600" b="0" i="0">
                <a:solidFill>
                  <a:srgbClr val="1B2A4A"/>
                </a:solidFill>
                <a:latin typeface="Calibri"/>
              </a:rPr>
              <a:t>The skill is installed. You do not re-explain statistics. You ask for the thing you need.</a:t>
            </a:r>
          </a:p>
          <a:p>
            <a:pPr marL="256032" indent="-256032">
              <a:lnSpc>
                <a:spcPct val="112000"/>
              </a:lnSpc>
              <a:spcAft>
                <a:spcPts val="800"/>
              </a:spcAft>
              <a:buClr>
                <a:srgbClr val="EC008C"/>
              </a:buClr>
              <a:buFont typeface="Arial"/>
              <a:buChar char="•"/>
            </a:pPr>
            <a:r>
              <a:rPr sz="1600" b="0" i="0">
                <a:solidFill>
                  <a:srgbClr val="1B2A4A"/>
                </a:solidFill>
                <a:latin typeface="Calibri"/>
              </a:rPr>
              <a:t>Result: an interactive sample-size calculator, several study designs, written for someone who is not a statistician. It opens on Claude’s site — link on the Block 3 page.</a:t>
            </a:r>
          </a:p>
        </p:txBody>
      </p:sp>
      <p:sp>
        <p:nvSpPr>
          <p:cNvPr id="18" name="Rounded Rectangle 17"/>
          <p:cNvSpPr/>
          <p:nvPr/>
        </p:nvSpPr>
        <p:spPr>
          <a:xfrm>
            <a:off x="548640" y="5257800"/>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8640" y="5257800"/>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5257800"/>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Search → pick a library → ask which three → run one. That is how a skill becomes a tool.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4</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4  ·  00:29</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MCP — connect
your own work</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MCP is a USB port for AI. Show it first, then name the parts — on a childhood-cancer unit, not a sales database.</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4-mcp.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098483f5-a8c1-4671-826b-411f6b8d07bb}" type="datetime9">
              <a:rPr lang="en-US" sz="1400" b="1" dirty="0" smtClean="0">
                <a:solidFill>
                  <a:srgbClr val="FFFFFF"/>
                </a:solidFill>
                <a:latin typeface="Calibri"/>
              </a:rPr>
              <a:t>1:04 AM</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326c89e-fd0c-4a2d-a60c-e156e639a7e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WHAT MCP IS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sentence, then stop</a:t>
            </a:r>
          </a:p>
        </p:txBody>
      </p:sp>
      <p:sp>
        <p:nvSpPr>
          <p:cNvPr id="16" name="TextBox 15"/>
          <p:cNvSpPr txBox="1"/>
          <p:nvPr/>
        </p:nvSpPr>
        <p:spPr>
          <a:xfrm>
            <a:off x="548640" y="1965960"/>
            <a:ext cx="11094415" cy="822960"/>
          </a:xfrm>
          <a:prstGeom prst="rect">
            <a:avLst/>
          </a:prstGeom>
          <a:noFill/>
        </p:spPr>
        <p:txBody>
          <a:bodyPr wrap="square" anchor="t" lIns="0" rIns="0" tIns="0" bIns="0"/>
          <a:lstStyle/>
          <a:p>
            <a:pPr algn="l">
              <a:lnSpc>
                <a:spcPct val="115000"/>
              </a:lnSpc>
              <a:spcAft>
                <a:spcPts val="400"/>
              </a:spcAft>
            </a:pPr>
            <a:r>
              <a:rPr sz="2200" b="0" i="0">
                <a:solidFill>
                  <a:srgbClr val="1B2A4A"/>
                </a:solidFill>
                <a:latin typeface="Calibri"/>
              </a:rPr>
              <a:t>MCP (Model Context Protocol) is a shared plug. It lets the chat model reach a file, a mailbox, or a spreadsheet — and </a:t>
            </a:r>
            <a:r>
              <a:rPr sz="2200" b="1" i="0">
                <a:solidFill>
                  <a:srgbClr val="EC008C"/>
                </a:solidFill>
                <a:latin typeface="Calibri"/>
              </a:rPr>
              <a:t>do something</a:t>
            </a:r>
            <a:r>
              <a:rPr sz="2200" b="0" i="0">
                <a:solidFill>
                  <a:srgbClr val="1B2A4A"/>
                </a:solidFill>
                <a:latin typeface="Calibri"/>
              </a:rPr>
              <a:t>, not just talk about it.</a:t>
            </a:r>
          </a:p>
        </p:txBody>
      </p:sp>
      <p:sp>
        <p:nvSpPr>
          <p:cNvPr id="17" name="Rounded Rectangle 16"/>
          <p:cNvSpPr/>
          <p:nvPr/>
        </p:nvSpPr>
        <p:spPr>
          <a:xfrm>
            <a:off x="548640" y="4023360"/>
            <a:ext cx="2011680" cy="731520"/>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500" b="1" i="0">
                <a:solidFill>
                  <a:srgbClr val="1B2A4A"/>
                </a:solidFill>
                <a:latin typeface="Calibri"/>
              </a:rPr>
              <a:t>You, in the chat</a:t>
            </a:r>
          </a:p>
        </p:txBody>
      </p:sp>
      <p:sp>
        <p:nvSpPr>
          <p:cNvPr id="18" name="Right Arrow 17"/>
          <p:cNvSpPr/>
          <p:nvPr/>
        </p:nvSpPr>
        <p:spPr>
          <a:xfrm>
            <a:off x="2651760" y="4261104"/>
            <a:ext cx="457200" cy="256032"/>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00400" y="4023360"/>
            <a:ext cx="2011680" cy="731520"/>
          </a:xfrm>
          <a:prstGeom prst="roundRect">
            <a:avLst>
              <a:gd name="adj" fmla="val 15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400" b="1" i="0">
                <a:solidFill>
                  <a:srgbClr val="1B2A4A"/>
                </a:solidFill>
                <a:latin typeface="Calibri"/>
              </a:rPr>
              <a:t>Claude · ChatGPT · Gemini</a:t>
            </a:r>
          </a:p>
        </p:txBody>
      </p:sp>
      <p:sp>
        <p:nvSpPr>
          <p:cNvPr id="20" name="Right Arrow 19"/>
          <p:cNvSpPr/>
          <p:nvPr/>
        </p:nvSpPr>
        <p:spPr>
          <a:xfrm>
            <a:off x="5303520" y="4261104"/>
            <a:ext cx="457200" cy="256032"/>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52160" y="3977640"/>
            <a:ext cx="1188720" cy="822960"/>
          </a:xfrm>
          <a:prstGeom prst="roundRect">
            <a:avLst>
              <a:gd name="adj" fmla="val 2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2200" b="1" i="0">
                <a:solidFill>
                  <a:srgbClr val="FFFFFF"/>
                </a:solidFill>
                <a:latin typeface="Calibri"/>
              </a:rPr>
              <a:t>MCP</a:t>
            </a:r>
          </a:p>
        </p:txBody>
      </p:sp>
      <p:sp>
        <p:nvSpPr>
          <p:cNvPr id="22" name="Right Arrow 21"/>
          <p:cNvSpPr/>
          <p:nvPr/>
        </p:nvSpPr>
        <p:spPr>
          <a:xfrm>
            <a:off x="7086600" y="3264408"/>
            <a:ext cx="41148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89520" y="3108960"/>
            <a:ext cx="2926080" cy="530352"/>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lnSpc>
                <a:spcPct val="115000"/>
              </a:lnSpc>
              <a:spcAft>
                <a:spcPts val="400"/>
              </a:spcAft>
            </a:pPr>
            <a:r>
              <a:rPr sz="1400" b="1" i="0">
                <a:solidFill>
                  <a:srgbClr val="1B2A4A"/>
                </a:solidFill>
                <a:latin typeface="Calibri"/>
              </a:rPr>
              <a:t>Drive — protocols</a:t>
            </a:r>
          </a:p>
        </p:txBody>
      </p:sp>
      <p:sp>
        <p:nvSpPr>
          <p:cNvPr id="24" name="Right Arrow 23"/>
          <p:cNvSpPr/>
          <p:nvPr/>
        </p:nvSpPr>
        <p:spPr>
          <a:xfrm>
            <a:off x="7086600" y="3922776"/>
            <a:ext cx="41148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20" y="3767328"/>
            <a:ext cx="2926080" cy="530352"/>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lnSpc>
                <a:spcPct val="115000"/>
              </a:lnSpc>
              <a:spcAft>
                <a:spcPts val="400"/>
              </a:spcAft>
            </a:pPr>
            <a:r>
              <a:rPr sz="1400" b="1" i="0">
                <a:solidFill>
                  <a:srgbClr val="1B2A4A"/>
                </a:solidFill>
                <a:latin typeface="Calibri"/>
              </a:rPr>
              <a:t>Gmail — drafts</a:t>
            </a:r>
          </a:p>
        </p:txBody>
      </p:sp>
      <p:sp>
        <p:nvSpPr>
          <p:cNvPr id="26" name="Right Arrow 25"/>
          <p:cNvSpPr/>
          <p:nvPr/>
        </p:nvSpPr>
        <p:spPr>
          <a:xfrm>
            <a:off x="7086600" y="4581144"/>
            <a:ext cx="41148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89520" y="4425696"/>
            <a:ext cx="2926080" cy="530352"/>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lnSpc>
                <a:spcPct val="115000"/>
              </a:lnSpc>
              <a:spcAft>
                <a:spcPts val="400"/>
              </a:spcAft>
            </a:pPr>
            <a:r>
              <a:rPr sz="1400" b="1" i="0">
                <a:solidFill>
                  <a:srgbClr val="1B2A4A"/>
                </a:solidFill>
                <a:latin typeface="Calibri"/>
              </a:rPr>
              <a:t>Calendar — tumour board</a:t>
            </a:r>
          </a:p>
        </p:txBody>
      </p:sp>
      <p:sp>
        <p:nvSpPr>
          <p:cNvPr id="28" name="Right Arrow 27"/>
          <p:cNvSpPr/>
          <p:nvPr/>
        </p:nvSpPr>
        <p:spPr>
          <a:xfrm>
            <a:off x="7086600" y="5239512"/>
            <a:ext cx="41148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589520" y="5084064"/>
            <a:ext cx="2926080" cy="530352"/>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lnSpc>
                <a:spcPct val="115000"/>
              </a:lnSpc>
              <a:spcAft>
                <a:spcPts val="400"/>
              </a:spcAft>
            </a:pPr>
            <a:r>
              <a:rPr sz="1400" b="1" i="0">
                <a:solidFill>
                  <a:srgbClr val="1B2A4A"/>
                </a:solidFill>
                <a:latin typeface="Calibri"/>
              </a:rPr>
              <a:t>Unit log — FN list</a:t>
            </a:r>
          </a:p>
        </p:txBody>
      </p:sp>
      <p:sp>
        <p:nvSpPr>
          <p:cNvPr id="30" name="TextBox 29"/>
          <p:cNvSpPr txBox="1"/>
          <p:nvPr/>
        </p:nvSpPr>
        <p:spPr>
          <a:xfrm>
            <a:off x="548640" y="5897880"/>
            <a:ext cx="11094415" cy="91440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Before USB-C, every camera had its own cable. Before MCP, every hospital tool needed its own custom hook-up. One plug shape now works across brands. Anthropic published it. OpenAI put it in ChatGPT. Google is doing the same with Gemini. You do not pick a vendor to use the idea.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ff3f9e2e-d5c9-40f7-8f74-53d1f7058c5b}"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YOU OPEN ORDINARY CHATGPT — NOTHING CONNECTED — AND ASK ABOUT YOUR WARD.</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Same question, no plug</a:t>
            </a:r>
          </a:p>
        </p:txBody>
      </p:sp>
      <p:sp>
        <p:nvSpPr>
          <p:cNvPr id="16" name="Rounded Rectangle 15"/>
          <p:cNvSpPr/>
          <p:nvPr/>
        </p:nvSpPr>
        <p:spPr>
          <a:xfrm>
            <a:off x="548640" y="2011680"/>
            <a:ext cx="11094415" cy="86868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84832"/>
            <a:ext cx="1083838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304288"/>
            <a:ext cx="10838383" cy="502920"/>
          </a:xfrm>
          <a:prstGeom prst="rect">
            <a:avLst/>
          </a:prstGeom>
          <a:noFill/>
        </p:spPr>
        <p:txBody>
          <a:bodyPr wrap="square" anchor="t" lIns="0" rIns="0" tIns="0" bIns="0"/>
          <a:lstStyle/>
          <a:p>
            <a:pPr algn="l">
              <a:lnSpc>
                <a:spcPct val="112000"/>
              </a:lnSpc>
              <a:spcAft>
                <a:spcPts val="300"/>
              </a:spcAft>
            </a:pPr>
            <a:r>
              <a:rPr sz="1500" b="0" i="0">
                <a:solidFill>
                  <a:srgbClr val="1B2A4A"/>
                </a:solidFill>
                <a:latin typeface="Calibri"/>
              </a:rPr>
              <a:t>How many febrile neutropenia admissions did our unit have in August, and how many were high-risk?</a:t>
            </a:r>
          </a:p>
        </p:txBody>
      </p:sp>
      <p:sp>
        <p:nvSpPr>
          <p:cNvPr id="19" name="Rounded Rectangle 18"/>
          <p:cNvSpPr/>
          <p:nvPr/>
        </p:nvSpPr>
        <p:spPr>
          <a:xfrm>
            <a:off x="548640" y="3063240"/>
            <a:ext cx="11094415" cy="14630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 y="3136392"/>
            <a:ext cx="10838383"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CHATGPT — NOT CONNECTED</a:t>
            </a:r>
          </a:p>
        </p:txBody>
      </p:sp>
      <p:sp>
        <p:nvSpPr>
          <p:cNvPr id="21" name="TextBox 20"/>
          <p:cNvSpPr txBox="1"/>
          <p:nvPr/>
        </p:nvSpPr>
        <p:spPr>
          <a:xfrm>
            <a:off x="676656" y="3355848"/>
            <a:ext cx="10838383" cy="1097280"/>
          </a:xfrm>
          <a:prstGeom prst="rect">
            <a:avLst/>
          </a:prstGeom>
          <a:noFill/>
        </p:spPr>
        <p:txBody>
          <a:bodyPr wrap="square" anchor="t" lIns="0" rIns="0" tIns="0" bIns="0"/>
          <a:lstStyle/>
          <a:p>
            <a:pPr algn="l">
              <a:lnSpc>
                <a:spcPct val="112000"/>
              </a:lnSpc>
              <a:spcAft>
                <a:spcPts val="300"/>
              </a:spcAft>
            </a:pPr>
            <a:r>
              <a:rPr sz="1500" b="0" i="0">
                <a:solidFill>
                  <a:srgbClr val="1B2A4A"/>
                </a:solidFill>
                <a:latin typeface="Calibri"/>
              </a:rPr>
              <a:t>I don’t have access to your hospital records. If you paste the table or describe the columns, I can tally it. In general, fever during neutropenia is an emergency: high-risk children should get antibiotics quickly, and…</a:t>
            </a:r>
          </a:p>
        </p:txBody>
      </p:sp>
      <p:sp>
        <p:nvSpPr>
          <p:cNvPr id="22" name="TextBox 21"/>
          <p:cNvSpPr txBox="1"/>
          <p:nvPr/>
        </p:nvSpPr>
        <p:spPr>
          <a:xfrm>
            <a:off x="548640" y="4754880"/>
            <a:ext cx="11094415" cy="914400"/>
          </a:xfrm>
          <a:prstGeom prst="rect">
            <a:avLst/>
          </a:prstGeom>
          <a:noFill/>
        </p:spPr>
        <p:txBody>
          <a:bodyPr wrap="square" anchor="t" lIns="0" rIns="0" tIns="0" bIns="0"/>
          <a:lstStyle/>
          <a:p>
            <a:pPr algn="l">
              <a:lnSpc>
                <a:spcPct val="115000"/>
              </a:lnSpc>
              <a:spcAft>
                <a:spcPts val="400"/>
              </a:spcAft>
            </a:pPr>
            <a:r>
              <a:rPr sz="1700" b="0" i="0">
                <a:solidFill>
                  <a:srgbClr val="1B2A4A"/>
                </a:solidFill>
                <a:latin typeface="Calibri"/>
              </a:rPr>
              <a:t>That answer is not wrong. It is a textbook. It has never seen your list. Here it is the FN log it cannot read.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941de2bb-d7c0-43f9-acb6-f96433ef64ca}"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36</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A READ-ONLY CONNECTOR TO A SYNTHETIC FN LOG — A SPREADSHEET, NOT A LIVE EMR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Same question, unit log connected</a:t>
            </a:r>
          </a:p>
        </p:txBody>
      </p:sp>
      <p:sp>
        <p:nvSpPr>
          <p:cNvPr id="16" name="Rounded Rectangle 15"/>
          <p:cNvSpPr/>
          <p:nvPr/>
        </p:nvSpPr>
        <p:spPr>
          <a:xfrm>
            <a:off x="548640" y="1965960"/>
            <a:ext cx="5120640" cy="822960"/>
          </a:xfrm>
          <a:prstGeom prst="roundRect">
            <a:avLst>
              <a:gd name="adj" fmla="val 8000"/>
            </a:avLst>
          </a:prstGeom>
          <a:solidFill>
            <a:srgbClr val="FFF8E1"/>
          </a:solidFill>
          <a:ln w="9525">
            <a:solidFill>
              <a:srgbClr val="F1DFA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39112"/>
            <a:ext cx="4864608" cy="228600"/>
          </a:xfrm>
          <a:prstGeom prst="rect">
            <a:avLst/>
          </a:prstGeom>
          <a:noFill/>
        </p:spPr>
        <p:txBody>
          <a:bodyPr wrap="square" anchor="t" lIns="0" rIns="0" tIns="0" bIns="0"/>
          <a:lstStyle/>
          <a:p>
            <a:pPr algn="l">
              <a:lnSpc>
                <a:spcPct val="100000"/>
              </a:lnSpc>
              <a:spcAft>
                <a:spcPts val="0"/>
              </a:spcAft>
            </a:pPr>
            <a:r>
              <a:rPr sz="900" b="1" i="0">
                <a:solidFill>
                  <a:srgbClr val="8D6E00"/>
                </a:solidFill>
                <a:latin typeface="Calibri"/>
              </a:rPr>
              <a:t>TOOL — UNIT-LOG CONNECTOR</a:t>
            </a:r>
          </a:p>
        </p:txBody>
      </p:sp>
      <p:sp>
        <p:nvSpPr>
          <p:cNvPr id="18" name="TextBox 17"/>
          <p:cNvSpPr txBox="1"/>
          <p:nvPr/>
        </p:nvSpPr>
        <p:spPr>
          <a:xfrm>
            <a:off x="676656" y="2258568"/>
            <a:ext cx="4864608" cy="457200"/>
          </a:xfrm>
          <a:prstGeom prst="rect">
            <a:avLst/>
          </a:prstGeom>
          <a:noFill/>
        </p:spPr>
        <p:txBody>
          <a:bodyPr wrap="square" anchor="t" lIns="0" rIns="0" tIns="0" bIns="0"/>
          <a:lstStyle/>
          <a:p>
            <a:pPr algn="l">
              <a:lnSpc>
                <a:spcPct val="112000"/>
              </a:lnSpc>
              <a:spcAft>
                <a:spcPts val="300"/>
              </a:spcAft>
            </a:pPr>
            <a:r>
              <a:rPr sz="1100" b="0" i="0">
                <a:solidFill>
                  <a:srgbClr val="1B2A4A"/>
                </a:solidFill>
                <a:latin typeface="Consolas"/>
              </a:rPr>
              <a:t>Read-only query: count August episodes, split by high-risk vs low-risk.   [Continue]</a:t>
            </a:r>
          </a:p>
        </p:txBody>
      </p:sp>
      <p:sp>
        <p:nvSpPr>
          <p:cNvPr id="19" name="Rounded Rectangle 18"/>
          <p:cNvSpPr/>
          <p:nvPr/>
        </p:nvSpPr>
        <p:spPr>
          <a:xfrm>
            <a:off x="548640" y="2880360"/>
            <a:ext cx="5120640" cy="21945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 y="2953512"/>
            <a:ext cx="4864608"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CLAUDE — CONNECTED</a:t>
            </a:r>
          </a:p>
        </p:txBody>
      </p:sp>
      <p:sp>
        <p:nvSpPr>
          <p:cNvPr id="21" name="TextBox 20"/>
          <p:cNvSpPr txBox="1"/>
          <p:nvPr/>
        </p:nvSpPr>
        <p:spPr>
          <a:xfrm>
            <a:off x="676656" y="3172968"/>
            <a:ext cx="4864608" cy="182880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Six episodes in August. Four high-risk, all admitted. Two low-risk, both outpatient. The 6-year-old with B-ALL on day 10 is in this list — penicillin rash, house alternative used. Median door-to-antibiotic in the extract: 41 minutes.</a:t>
            </a:r>
          </a:p>
        </p:txBody>
      </p:sp>
      <p:sp>
        <p:nvSpPr>
          <p:cNvPr id="22" name="TextBox 21"/>
          <p:cNvSpPr txBox="1"/>
          <p:nvPr/>
        </p:nvSpPr>
        <p:spPr>
          <a:xfrm>
            <a:off x="548640" y="5166360"/>
            <a:ext cx="5120640" cy="82296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The model asks to run a lookup. You click Continue. Then it answers from the rows — and you can check the table.</a:t>
            </a:r>
          </a:p>
        </p:txBody>
      </p:sp>
      <p:sp>
        <p:nvSpPr>
          <p:cNvPr id="23" name="Rounded Rectangle 22"/>
          <p:cNvSpPr/>
          <p:nvPr/>
        </p:nvSpPr>
        <p:spPr>
          <a:xfrm>
            <a:off x="5943600" y="1920240"/>
            <a:ext cx="3840480" cy="274320"/>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8D6E00"/>
                </a:solidFill>
                <a:latin typeface="Calibri"/>
              </a:rPr>
              <a:t>SYNTHETIC UNIT LOG · NOT KHCC DATA · NOT A REAL PATIENT</a:t>
            </a:r>
          </a:p>
        </p:txBody>
      </p:sp>
      <p:graphicFrame>
        <p:nvGraphicFramePr>
          <p:cNvPr id="24" name="Table 23"/>
          <p:cNvGraphicFramePr>
            <a:graphicFrameLocks noGrp="1"/>
          </p:cNvGraphicFramePr>
          <p:nvPr/>
        </p:nvGraphicFramePr>
        <p:xfrm>
          <a:off x="5943600" y="2286000"/>
          <a:ext cx="5699451" cy="2688336"/>
        </p:xfrm>
        <a:graphic>
          <a:graphicData uri="http://schemas.openxmlformats.org/drawingml/2006/table">
            <a:tbl>
              <a:tblPr firstRow="1" bandRow="1">
                <a:tableStyleId>{5C22544A-7EE6-4342-B048-85BDC9FD1C3A}</a:tableStyleId>
              </a:tblPr>
              <a:tblGrid>
                <a:gridCol w="688945"/>
                <a:gridCol w="438419"/>
                <a:gridCol w="1503152"/>
                <a:gridCol w="501050"/>
                <a:gridCol w="438419"/>
                <a:gridCol w="1252627"/>
                <a:gridCol w="876839"/>
              </a:tblGrid>
              <a:tr h="384048">
                <a:tc>
                  <a:txBody>
                    <a:bodyPr wrap="square"/>
                    <a:lstStyle/>
                    <a:p>
                      <a:r>
                        <a:rPr sz="1000" b="1" i="0">
                          <a:solidFill>
                            <a:srgbClr val="FFFFFF"/>
                          </a:solidFill>
                          <a:latin typeface="Calibri"/>
                        </a:rPr>
                        <a:t>Date</a:t>
                      </a:r>
                    </a:p>
                  </a:txBody>
                  <a:tcPr marL="73152" marR="73152" marT="36576" marB="36576" anchor="ctr">
                    <a:solidFill>
                      <a:srgbClr val="E65100"/>
                    </a:solidFill>
                  </a:tcPr>
                </a:tc>
                <a:tc>
                  <a:txBody>
                    <a:bodyPr wrap="square"/>
                    <a:lstStyle/>
                    <a:p>
                      <a:r>
                        <a:rPr sz="1000" b="1" i="0">
                          <a:solidFill>
                            <a:srgbClr val="FFFFFF"/>
                          </a:solidFill>
                          <a:latin typeface="Calibri"/>
                        </a:rPr>
                        <a:t>Age</a:t>
                      </a:r>
                    </a:p>
                  </a:txBody>
                  <a:tcPr marL="73152" marR="73152" marT="36576" marB="36576" anchor="ctr">
                    <a:solidFill>
                      <a:srgbClr val="E65100"/>
                    </a:solidFill>
                  </a:tcPr>
                </a:tc>
                <a:tc>
                  <a:txBody>
                    <a:bodyPr wrap="square"/>
                    <a:lstStyle/>
                    <a:p>
                      <a:r>
                        <a:rPr sz="1000" b="1" i="0">
                          <a:solidFill>
                            <a:srgbClr val="FFFFFF"/>
                          </a:solidFill>
                          <a:latin typeface="Calibri"/>
                        </a:rPr>
                        <a:t>Diagnosis</a:t>
                      </a:r>
                    </a:p>
                  </a:txBody>
                  <a:tcPr marL="73152" marR="73152" marT="36576" marB="36576" anchor="ctr">
                    <a:solidFill>
                      <a:srgbClr val="E65100"/>
                    </a:solidFill>
                  </a:tcPr>
                </a:tc>
                <a:tc>
                  <a:txBody>
                    <a:bodyPr wrap="square"/>
                    <a:lstStyle/>
                    <a:p>
                      <a:r>
                        <a:rPr sz="1000" b="1" i="0">
                          <a:solidFill>
                            <a:srgbClr val="FFFFFF"/>
                          </a:solidFill>
                          <a:latin typeface="Calibri"/>
                        </a:rPr>
                        <a:t>ANC</a:t>
                      </a:r>
                    </a:p>
                  </a:txBody>
                  <a:tcPr marL="73152" marR="73152" marT="36576" marB="36576" anchor="ctr">
                    <a:solidFill>
                      <a:srgbClr val="E65100"/>
                    </a:solidFill>
                  </a:tcPr>
                </a:tc>
                <a:tc>
                  <a:txBody>
                    <a:bodyPr wrap="square"/>
                    <a:lstStyle/>
                    <a:p>
                      <a:r>
                        <a:rPr sz="1000" b="1" i="0">
                          <a:solidFill>
                            <a:srgbClr val="FFFFFF"/>
                          </a:solidFill>
                          <a:latin typeface="Calibri"/>
                        </a:rPr>
                        <a:t>Line</a:t>
                      </a:r>
                    </a:p>
                  </a:txBody>
                  <a:tcPr marL="73152" marR="73152" marT="36576" marB="36576" anchor="ctr">
                    <a:solidFill>
                      <a:srgbClr val="E65100"/>
                    </a:solidFill>
                  </a:tcPr>
                </a:tc>
                <a:tc>
                  <a:txBody>
                    <a:bodyPr wrap="square"/>
                    <a:lstStyle/>
                    <a:p>
                      <a:r>
                        <a:rPr sz="1000" b="1" i="0">
                          <a:solidFill>
                            <a:srgbClr val="FFFFFF"/>
                          </a:solidFill>
                          <a:latin typeface="Calibri"/>
                        </a:rPr>
                        <a:t>Risk</a:t>
                      </a:r>
                    </a:p>
                  </a:txBody>
                  <a:tcPr marL="73152" marR="73152" marT="36576" marB="36576" anchor="ctr">
                    <a:solidFill>
                      <a:srgbClr val="E65100"/>
                    </a:solidFill>
                  </a:tcPr>
                </a:tc>
                <a:tc>
                  <a:txBody>
                    <a:bodyPr wrap="square"/>
                    <a:lstStyle/>
                    <a:p>
                      <a:r>
                        <a:rPr sz="1000" b="1" i="0">
                          <a:solidFill>
                            <a:srgbClr val="FFFFFF"/>
                          </a:solidFill>
                          <a:latin typeface="Calibri"/>
                        </a:rPr>
                        <a:t>Door-to-abx</a:t>
                      </a:r>
                    </a:p>
                  </a:txBody>
                  <a:tcPr marL="73152" marR="73152" marT="36576" marB="36576" anchor="ctr">
                    <a:solidFill>
                      <a:srgbClr val="E65100"/>
                    </a:solidFill>
                  </a:tcPr>
                </a:tc>
              </a:tr>
              <a:tr h="384048">
                <a:tc>
                  <a:txBody>
                    <a:bodyPr wrap="square"/>
                    <a:lstStyle/>
                    <a:p>
                      <a:r>
                        <a:rPr sz="1000" b="0" i="0">
                          <a:solidFill>
                            <a:srgbClr val="1B2A4A"/>
                          </a:solidFill>
                          <a:latin typeface="Calibri"/>
                        </a:rPr>
                        <a:t>3 Aug</a:t>
                      </a:r>
                    </a:p>
                  </a:txBody>
                  <a:tcPr marL="73152" marR="73152" marT="36576" marB="36576" anchor="ctr">
                    <a:solidFill>
                      <a:srgbClr val="FFFFFF"/>
                    </a:solidFill>
                  </a:tcPr>
                </a:tc>
                <a:tc>
                  <a:txBody>
                    <a:bodyPr wrap="square"/>
                    <a:lstStyle/>
                    <a:p>
                      <a:r>
                        <a:rPr sz="1000" b="0" i="0">
                          <a:solidFill>
                            <a:srgbClr val="1B2A4A"/>
                          </a:solidFill>
                          <a:latin typeface="Calibri"/>
                        </a:rPr>
                        <a:t>6</a:t>
                      </a:r>
                    </a:p>
                  </a:txBody>
                  <a:tcPr marL="73152" marR="73152" marT="36576" marB="36576" anchor="ctr">
                    <a:solidFill>
                      <a:srgbClr val="FFFFFF"/>
                    </a:solidFill>
                  </a:tcPr>
                </a:tc>
                <a:tc>
                  <a:txBody>
                    <a:bodyPr wrap="square"/>
                    <a:lstStyle/>
                    <a:p>
                      <a:r>
                        <a:rPr sz="1000" b="0" i="0">
                          <a:solidFill>
                            <a:srgbClr val="1B2A4A"/>
                          </a:solidFill>
                          <a:latin typeface="Calibri"/>
                        </a:rPr>
                        <a:t>B-ALL, day 10</a:t>
                      </a:r>
                    </a:p>
                  </a:txBody>
                  <a:tcPr marL="73152" marR="73152" marT="36576" marB="36576" anchor="ctr">
                    <a:solidFill>
                      <a:srgbClr val="FFFFFF"/>
                    </a:solidFill>
                  </a:tcPr>
                </a:tc>
                <a:tc>
                  <a:txBody>
                    <a:bodyPr wrap="square"/>
                    <a:lstStyle/>
                    <a:p>
                      <a:r>
                        <a:rPr sz="1000" b="0" i="0">
                          <a:solidFill>
                            <a:srgbClr val="1B2A4A"/>
                          </a:solidFill>
                          <a:latin typeface="Calibri"/>
                        </a:rPr>
                        <a:t>80</a:t>
                      </a:r>
                    </a:p>
                  </a:txBody>
                  <a:tcPr marL="73152" marR="73152" marT="36576" marB="36576" anchor="ctr">
                    <a:solidFill>
                      <a:srgbClr val="FFFFFF"/>
                    </a:solidFill>
                  </a:tcPr>
                </a:tc>
                <a:tc>
                  <a:txBody>
                    <a:bodyPr wrap="square"/>
                    <a:lstStyle/>
                    <a:p>
                      <a:r>
                        <a:rPr sz="1000" b="0" i="0">
                          <a:solidFill>
                            <a:srgbClr val="1B2A4A"/>
                          </a:solidFill>
                          <a:latin typeface="Calibri"/>
                        </a:rPr>
                        <a:t>Yes</a:t>
                      </a:r>
                    </a:p>
                  </a:txBody>
                  <a:tcPr marL="73152" marR="73152" marT="36576" marB="36576" anchor="ctr">
                    <a:solidFill>
                      <a:srgbClr val="FFFFFF"/>
                    </a:solidFill>
                  </a:tcPr>
                </a:tc>
                <a:tc>
                  <a:txBody>
                    <a:bodyPr wrap="square"/>
                    <a:lstStyle/>
                    <a:p>
                      <a:r>
                        <a:rPr sz="1000" b="0" i="0">
                          <a:solidFill>
                            <a:srgbClr val="1B2A4A"/>
                          </a:solidFill>
                          <a:latin typeface="Calibri"/>
                        </a:rPr>
                        <a:t>High — admitted</a:t>
                      </a:r>
                    </a:p>
                  </a:txBody>
                  <a:tcPr marL="73152" marR="73152" marT="36576" marB="36576" anchor="ctr">
                    <a:solidFill>
                      <a:srgbClr val="FFFFFF"/>
                    </a:solidFill>
                  </a:tcPr>
                </a:tc>
                <a:tc>
                  <a:txBody>
                    <a:bodyPr wrap="square"/>
                    <a:lstStyle/>
                    <a:p>
                      <a:r>
                        <a:rPr sz="1000" b="0" i="0">
                          <a:solidFill>
                            <a:srgbClr val="1B2A4A"/>
                          </a:solidFill>
                          <a:latin typeface="Calibri"/>
                        </a:rPr>
                        <a:t>38 min</a:t>
                      </a:r>
                    </a:p>
                  </a:txBody>
                  <a:tcPr marL="73152" marR="73152" marT="36576" marB="36576" anchor="ctr">
                    <a:solidFill>
                      <a:srgbClr val="FFFFFF"/>
                    </a:solidFill>
                  </a:tcPr>
                </a:tc>
              </a:tr>
              <a:tr h="384048">
                <a:tc>
                  <a:txBody>
                    <a:bodyPr wrap="square"/>
                    <a:lstStyle/>
                    <a:p>
                      <a:r>
                        <a:rPr sz="1000" b="0" i="0">
                          <a:solidFill>
                            <a:srgbClr val="1B2A4A"/>
                          </a:solidFill>
                          <a:latin typeface="Calibri"/>
                        </a:rPr>
                        <a:t>7 Aug</a:t>
                      </a:r>
                    </a:p>
                  </a:txBody>
                  <a:tcPr marL="73152" marR="73152" marT="36576" marB="36576" anchor="ctr">
                    <a:solidFill>
                      <a:srgbClr val="FAFBFD"/>
                    </a:solidFill>
                  </a:tcPr>
                </a:tc>
                <a:tc>
                  <a:txBody>
                    <a:bodyPr wrap="square"/>
                    <a:lstStyle/>
                    <a:p>
                      <a:r>
                        <a:rPr sz="1000" b="0" i="0">
                          <a:solidFill>
                            <a:srgbClr val="1B2A4A"/>
                          </a:solidFill>
                          <a:latin typeface="Calibri"/>
                        </a:rPr>
                        <a:t>14</a:t>
                      </a:r>
                    </a:p>
                  </a:txBody>
                  <a:tcPr marL="73152" marR="73152" marT="36576" marB="36576" anchor="ctr">
                    <a:solidFill>
                      <a:srgbClr val="FAFBFD"/>
                    </a:solidFill>
                  </a:tcPr>
                </a:tc>
                <a:tc>
                  <a:txBody>
                    <a:bodyPr wrap="square"/>
                    <a:lstStyle/>
                    <a:p>
                      <a:r>
                        <a:rPr sz="1000" b="0" i="0">
                          <a:solidFill>
                            <a:srgbClr val="1B2A4A"/>
                          </a:solidFill>
                          <a:latin typeface="Calibri"/>
                        </a:rPr>
                        <a:t>Osteosarcoma, cycle 3</a:t>
                      </a:r>
                    </a:p>
                  </a:txBody>
                  <a:tcPr marL="73152" marR="73152" marT="36576" marB="36576" anchor="ctr">
                    <a:solidFill>
                      <a:srgbClr val="FAFBFD"/>
                    </a:solidFill>
                  </a:tcPr>
                </a:tc>
                <a:tc>
                  <a:txBody>
                    <a:bodyPr wrap="square"/>
                    <a:lstStyle/>
                    <a:p>
                      <a:r>
                        <a:rPr sz="1000" b="0" i="0">
                          <a:solidFill>
                            <a:srgbClr val="1B2A4A"/>
                          </a:solidFill>
                          <a:latin typeface="Calibri"/>
                        </a:rPr>
                        <a:t>420</a:t>
                      </a:r>
                    </a:p>
                  </a:txBody>
                  <a:tcPr marL="73152" marR="73152" marT="36576" marB="36576" anchor="ctr">
                    <a:solidFill>
                      <a:srgbClr val="FAFBFD"/>
                    </a:solidFill>
                  </a:tcPr>
                </a:tc>
                <a:tc>
                  <a:txBody>
                    <a:bodyPr wrap="square"/>
                    <a:lstStyle/>
                    <a:p>
                      <a:r>
                        <a:rPr sz="1000" b="0" i="0">
                          <a:solidFill>
                            <a:srgbClr val="1B2A4A"/>
                          </a:solidFill>
                          <a:latin typeface="Calibri"/>
                        </a:rPr>
                        <a:t>No</a:t>
                      </a:r>
                    </a:p>
                  </a:txBody>
                  <a:tcPr marL="73152" marR="73152" marT="36576" marB="36576" anchor="ctr">
                    <a:solidFill>
                      <a:srgbClr val="FAFBFD"/>
                    </a:solidFill>
                  </a:tcPr>
                </a:tc>
                <a:tc>
                  <a:txBody>
                    <a:bodyPr wrap="square"/>
                    <a:lstStyle/>
                    <a:p>
                      <a:r>
                        <a:rPr sz="1000" b="0" i="0">
                          <a:solidFill>
                            <a:srgbClr val="1B2A4A"/>
                          </a:solidFill>
                          <a:latin typeface="Calibri"/>
                        </a:rPr>
                        <a:t>Low — outpatient</a:t>
                      </a:r>
                    </a:p>
                  </a:txBody>
                  <a:tcPr marL="73152" marR="73152" marT="36576" marB="36576" anchor="ctr">
                    <a:solidFill>
                      <a:srgbClr val="FAFBFD"/>
                    </a:solidFill>
                  </a:tcPr>
                </a:tc>
                <a:tc>
                  <a:txBody>
                    <a:bodyPr wrap="square"/>
                    <a:lstStyle/>
                    <a:p>
                      <a:r>
                        <a:rPr sz="1000" b="0" i="0">
                          <a:solidFill>
                            <a:srgbClr val="1B2A4A"/>
                          </a:solidFill>
                          <a:latin typeface="Calibri"/>
                        </a:rPr>
                        <a:t>55 min</a:t>
                      </a:r>
                    </a:p>
                  </a:txBody>
                  <a:tcPr marL="73152" marR="73152" marT="36576" marB="36576" anchor="ctr">
                    <a:solidFill>
                      <a:srgbClr val="FAFBFD"/>
                    </a:solidFill>
                  </a:tcPr>
                </a:tc>
              </a:tr>
              <a:tr h="384048">
                <a:tc>
                  <a:txBody>
                    <a:bodyPr wrap="square"/>
                    <a:lstStyle/>
                    <a:p>
                      <a:r>
                        <a:rPr sz="1000" b="0" i="0">
                          <a:solidFill>
                            <a:srgbClr val="1B2A4A"/>
                          </a:solidFill>
                          <a:latin typeface="Calibri"/>
                        </a:rPr>
                        <a:t>12 Aug</a:t>
                      </a:r>
                    </a:p>
                  </a:txBody>
                  <a:tcPr marL="73152" marR="73152" marT="36576" marB="36576" anchor="ctr">
                    <a:solidFill>
                      <a:srgbClr val="FFFFFF"/>
                    </a:solidFill>
                  </a:tcPr>
                </a:tc>
                <a:tc>
                  <a:txBody>
                    <a:bodyPr wrap="square"/>
                    <a:lstStyle/>
                    <a:p>
                      <a:r>
                        <a:rPr sz="1000" b="0" i="0">
                          <a:solidFill>
                            <a:srgbClr val="1B2A4A"/>
                          </a:solidFill>
                          <a:latin typeface="Calibri"/>
                        </a:rPr>
                        <a:t>4</a:t>
                      </a:r>
                    </a:p>
                  </a:txBody>
                  <a:tcPr marL="73152" marR="73152" marT="36576" marB="36576" anchor="ctr">
                    <a:solidFill>
                      <a:srgbClr val="FFFFFF"/>
                    </a:solidFill>
                  </a:tcPr>
                </a:tc>
                <a:tc>
                  <a:txBody>
                    <a:bodyPr wrap="square"/>
                    <a:lstStyle/>
                    <a:p>
                      <a:r>
                        <a:rPr sz="1000" b="0" i="0">
                          <a:solidFill>
                            <a:srgbClr val="1B2A4A"/>
                          </a:solidFill>
                          <a:latin typeface="Calibri"/>
                        </a:rPr>
                        <a:t>AML</a:t>
                      </a:r>
                    </a:p>
                  </a:txBody>
                  <a:tcPr marL="73152" marR="73152" marT="36576" marB="36576" anchor="ctr">
                    <a:solidFill>
                      <a:srgbClr val="FFFFFF"/>
                    </a:solidFill>
                  </a:tcPr>
                </a:tc>
                <a:tc>
                  <a:txBody>
                    <a:bodyPr wrap="square"/>
                    <a:lstStyle/>
                    <a:p>
                      <a:r>
                        <a:rPr sz="1000" b="0" i="0">
                          <a:solidFill>
                            <a:srgbClr val="1B2A4A"/>
                          </a:solidFill>
                          <a:latin typeface="Calibri"/>
                        </a:rPr>
                        <a:t>40</a:t>
                      </a:r>
                    </a:p>
                  </a:txBody>
                  <a:tcPr marL="73152" marR="73152" marT="36576" marB="36576" anchor="ctr">
                    <a:solidFill>
                      <a:srgbClr val="FFFFFF"/>
                    </a:solidFill>
                  </a:tcPr>
                </a:tc>
                <a:tc>
                  <a:txBody>
                    <a:bodyPr wrap="square"/>
                    <a:lstStyle/>
                    <a:p>
                      <a:r>
                        <a:rPr sz="1000" b="0" i="0">
                          <a:solidFill>
                            <a:srgbClr val="1B2A4A"/>
                          </a:solidFill>
                          <a:latin typeface="Calibri"/>
                        </a:rPr>
                        <a:t>Yes</a:t>
                      </a:r>
                    </a:p>
                  </a:txBody>
                  <a:tcPr marL="73152" marR="73152" marT="36576" marB="36576" anchor="ctr">
                    <a:solidFill>
                      <a:srgbClr val="FFFFFF"/>
                    </a:solidFill>
                  </a:tcPr>
                </a:tc>
                <a:tc>
                  <a:txBody>
                    <a:bodyPr wrap="square"/>
                    <a:lstStyle/>
                    <a:p>
                      <a:r>
                        <a:rPr sz="1000" b="0" i="0">
                          <a:solidFill>
                            <a:srgbClr val="1B2A4A"/>
                          </a:solidFill>
                          <a:latin typeface="Calibri"/>
                        </a:rPr>
                        <a:t>High — admitted</a:t>
                      </a:r>
                    </a:p>
                  </a:txBody>
                  <a:tcPr marL="73152" marR="73152" marT="36576" marB="36576" anchor="ctr">
                    <a:solidFill>
                      <a:srgbClr val="FFFFFF"/>
                    </a:solidFill>
                  </a:tcPr>
                </a:tc>
                <a:tc>
                  <a:txBody>
                    <a:bodyPr wrap="square"/>
                    <a:lstStyle/>
                    <a:p>
                      <a:r>
                        <a:rPr sz="1000" b="0" i="0">
                          <a:solidFill>
                            <a:srgbClr val="1B2A4A"/>
                          </a:solidFill>
                          <a:latin typeface="Calibri"/>
                        </a:rPr>
                        <a:t>29 min</a:t>
                      </a:r>
                    </a:p>
                  </a:txBody>
                  <a:tcPr marL="73152" marR="73152" marT="36576" marB="36576" anchor="ctr">
                    <a:solidFill>
                      <a:srgbClr val="FFFFFF"/>
                    </a:solidFill>
                  </a:tcPr>
                </a:tc>
              </a:tr>
              <a:tr h="384048">
                <a:tc>
                  <a:txBody>
                    <a:bodyPr wrap="square"/>
                    <a:lstStyle/>
                    <a:p>
                      <a:r>
                        <a:rPr sz="1000" b="0" i="0">
                          <a:solidFill>
                            <a:srgbClr val="1B2A4A"/>
                          </a:solidFill>
                          <a:latin typeface="Calibri"/>
                        </a:rPr>
                        <a:t>18 Aug</a:t>
                      </a:r>
                    </a:p>
                  </a:txBody>
                  <a:tcPr marL="73152" marR="73152" marT="36576" marB="36576" anchor="ctr">
                    <a:solidFill>
                      <a:srgbClr val="FAFBFD"/>
                    </a:solidFill>
                  </a:tcPr>
                </a:tc>
                <a:tc>
                  <a:txBody>
                    <a:bodyPr wrap="square"/>
                    <a:lstStyle/>
                    <a:p>
                      <a:r>
                        <a:rPr sz="1000" b="0" i="0">
                          <a:solidFill>
                            <a:srgbClr val="1B2A4A"/>
                          </a:solidFill>
                          <a:latin typeface="Calibri"/>
                        </a:rPr>
                        <a:t>9</a:t>
                      </a:r>
                    </a:p>
                  </a:txBody>
                  <a:tcPr marL="73152" marR="73152" marT="36576" marB="36576" anchor="ctr">
                    <a:solidFill>
                      <a:srgbClr val="FAFBFD"/>
                    </a:solidFill>
                  </a:tcPr>
                </a:tc>
                <a:tc>
                  <a:txBody>
                    <a:bodyPr wrap="square"/>
                    <a:lstStyle/>
                    <a:p>
                      <a:r>
                        <a:rPr sz="1000" b="0" i="0">
                          <a:solidFill>
                            <a:srgbClr val="1B2A4A"/>
                          </a:solidFill>
                          <a:latin typeface="Calibri"/>
                        </a:rPr>
                        <a:t>Burkitt</a:t>
                      </a:r>
                    </a:p>
                  </a:txBody>
                  <a:tcPr marL="73152" marR="73152" marT="36576" marB="36576" anchor="ctr">
                    <a:solidFill>
                      <a:srgbClr val="FAFBFD"/>
                    </a:solidFill>
                  </a:tcPr>
                </a:tc>
                <a:tc>
                  <a:txBody>
                    <a:bodyPr wrap="square"/>
                    <a:lstStyle/>
                    <a:p>
                      <a:r>
                        <a:rPr sz="1000" b="0" i="0">
                          <a:solidFill>
                            <a:srgbClr val="1B2A4A"/>
                          </a:solidFill>
                          <a:latin typeface="Calibri"/>
                        </a:rPr>
                        <a:t>210</a:t>
                      </a:r>
                    </a:p>
                  </a:txBody>
                  <a:tcPr marL="73152" marR="73152" marT="36576" marB="36576" anchor="ctr">
                    <a:solidFill>
                      <a:srgbClr val="FAFBFD"/>
                    </a:solidFill>
                  </a:tcPr>
                </a:tc>
                <a:tc>
                  <a:txBody>
                    <a:bodyPr wrap="square"/>
                    <a:lstStyle/>
                    <a:p>
                      <a:r>
                        <a:rPr sz="1000" b="0" i="0">
                          <a:solidFill>
                            <a:srgbClr val="1B2A4A"/>
                          </a:solidFill>
                          <a:latin typeface="Calibri"/>
                        </a:rPr>
                        <a:t>Yes</a:t>
                      </a:r>
                    </a:p>
                  </a:txBody>
                  <a:tcPr marL="73152" marR="73152" marT="36576" marB="36576" anchor="ctr">
                    <a:solidFill>
                      <a:srgbClr val="FAFBFD"/>
                    </a:solidFill>
                  </a:tcPr>
                </a:tc>
                <a:tc>
                  <a:txBody>
                    <a:bodyPr wrap="square"/>
                    <a:lstStyle/>
                    <a:p>
                      <a:r>
                        <a:rPr sz="1000" b="0" i="0">
                          <a:solidFill>
                            <a:srgbClr val="1B2A4A"/>
                          </a:solidFill>
                          <a:latin typeface="Calibri"/>
                        </a:rPr>
                        <a:t>High — admitted</a:t>
                      </a:r>
                    </a:p>
                  </a:txBody>
                  <a:tcPr marL="73152" marR="73152" marT="36576" marB="36576" anchor="ctr">
                    <a:solidFill>
                      <a:srgbClr val="FAFBFD"/>
                    </a:solidFill>
                  </a:tcPr>
                </a:tc>
                <a:tc>
                  <a:txBody>
                    <a:bodyPr wrap="square"/>
                    <a:lstStyle/>
                    <a:p>
                      <a:r>
                        <a:rPr sz="1000" b="0" i="0">
                          <a:solidFill>
                            <a:srgbClr val="1B2A4A"/>
                          </a:solidFill>
                          <a:latin typeface="Calibri"/>
                        </a:rPr>
                        <a:t>44 min</a:t>
                      </a:r>
                    </a:p>
                  </a:txBody>
                  <a:tcPr marL="73152" marR="73152" marT="36576" marB="36576" anchor="ctr">
                    <a:solidFill>
                      <a:srgbClr val="FAFBFD"/>
                    </a:solidFill>
                  </a:tcPr>
                </a:tc>
              </a:tr>
              <a:tr h="384048">
                <a:tc>
                  <a:txBody>
                    <a:bodyPr wrap="square"/>
                    <a:lstStyle/>
                    <a:p>
                      <a:r>
                        <a:rPr sz="1000" b="0" i="0">
                          <a:solidFill>
                            <a:srgbClr val="1B2A4A"/>
                          </a:solidFill>
                          <a:latin typeface="Calibri"/>
                        </a:rPr>
                        <a:t>22 Aug</a:t>
                      </a:r>
                    </a:p>
                  </a:txBody>
                  <a:tcPr marL="73152" marR="73152" marT="36576" marB="36576" anchor="ctr">
                    <a:solidFill>
                      <a:srgbClr val="FFFFFF"/>
                    </a:solidFill>
                  </a:tcPr>
                </a:tc>
                <a:tc>
                  <a:txBody>
                    <a:bodyPr wrap="square"/>
                    <a:lstStyle/>
                    <a:p>
                      <a:r>
                        <a:rPr sz="1000" b="0" i="0">
                          <a:solidFill>
                            <a:srgbClr val="1B2A4A"/>
                          </a:solidFill>
                          <a:latin typeface="Calibri"/>
                        </a:rPr>
                        <a:t>11</a:t>
                      </a:r>
                    </a:p>
                  </a:txBody>
                  <a:tcPr marL="73152" marR="73152" marT="36576" marB="36576" anchor="ctr">
                    <a:solidFill>
                      <a:srgbClr val="FFFFFF"/>
                    </a:solidFill>
                  </a:tcPr>
                </a:tc>
                <a:tc>
                  <a:txBody>
                    <a:bodyPr wrap="square"/>
                    <a:lstStyle/>
                    <a:p>
                      <a:r>
                        <a:rPr sz="1000" b="0" i="0">
                          <a:solidFill>
                            <a:srgbClr val="1B2A4A"/>
                          </a:solidFill>
                          <a:latin typeface="Calibri"/>
                        </a:rPr>
                        <a:t>Hodgkin</a:t>
                      </a:r>
                    </a:p>
                  </a:txBody>
                  <a:tcPr marL="73152" marR="73152" marT="36576" marB="36576" anchor="ctr">
                    <a:solidFill>
                      <a:srgbClr val="FFFFFF"/>
                    </a:solidFill>
                  </a:tcPr>
                </a:tc>
                <a:tc>
                  <a:txBody>
                    <a:bodyPr wrap="square"/>
                    <a:lstStyle/>
                    <a:p>
                      <a:r>
                        <a:rPr sz="1000" b="0" i="0">
                          <a:solidFill>
                            <a:srgbClr val="1B2A4A"/>
                          </a:solidFill>
                          <a:latin typeface="Calibri"/>
                        </a:rPr>
                        <a:t>580</a:t>
                      </a:r>
                    </a:p>
                  </a:txBody>
                  <a:tcPr marL="73152" marR="73152" marT="36576" marB="36576" anchor="ctr">
                    <a:solidFill>
                      <a:srgbClr val="FFFFFF"/>
                    </a:solidFill>
                  </a:tcPr>
                </a:tc>
                <a:tc>
                  <a:txBody>
                    <a:bodyPr wrap="square"/>
                    <a:lstStyle/>
                    <a:p>
                      <a:r>
                        <a:rPr sz="1000" b="0" i="0">
                          <a:solidFill>
                            <a:srgbClr val="1B2A4A"/>
                          </a:solidFill>
                          <a:latin typeface="Calibri"/>
                        </a:rPr>
                        <a:t>No</a:t>
                      </a:r>
                    </a:p>
                  </a:txBody>
                  <a:tcPr marL="73152" marR="73152" marT="36576" marB="36576" anchor="ctr">
                    <a:solidFill>
                      <a:srgbClr val="FFFFFF"/>
                    </a:solidFill>
                  </a:tcPr>
                </a:tc>
                <a:tc>
                  <a:txBody>
                    <a:bodyPr wrap="square"/>
                    <a:lstStyle/>
                    <a:p>
                      <a:r>
                        <a:rPr sz="1000" b="0" i="0">
                          <a:solidFill>
                            <a:srgbClr val="1B2A4A"/>
                          </a:solidFill>
                          <a:latin typeface="Calibri"/>
                        </a:rPr>
                        <a:t>Low — outpatient</a:t>
                      </a:r>
                    </a:p>
                  </a:txBody>
                  <a:tcPr marL="73152" marR="73152" marT="36576" marB="36576" anchor="ctr">
                    <a:solidFill>
                      <a:srgbClr val="FFFFFF"/>
                    </a:solidFill>
                  </a:tcPr>
                </a:tc>
                <a:tc>
                  <a:txBody>
                    <a:bodyPr wrap="square"/>
                    <a:lstStyle/>
                    <a:p>
                      <a:r>
                        <a:rPr sz="1000" b="0" i="0">
                          <a:solidFill>
                            <a:srgbClr val="1B2A4A"/>
                          </a:solidFill>
                          <a:latin typeface="Calibri"/>
                        </a:rPr>
                        <a:t>62 min</a:t>
                      </a:r>
                    </a:p>
                  </a:txBody>
                  <a:tcPr marL="73152" marR="73152" marT="36576" marB="36576" anchor="ctr">
                    <a:solidFill>
                      <a:srgbClr val="FFFFFF"/>
                    </a:solidFill>
                  </a:tcPr>
                </a:tc>
              </a:tr>
              <a:tr h="384048">
                <a:tc>
                  <a:txBody>
                    <a:bodyPr wrap="square"/>
                    <a:lstStyle/>
                    <a:p>
                      <a:r>
                        <a:rPr sz="1000" b="0" i="0">
                          <a:solidFill>
                            <a:srgbClr val="1B2A4A"/>
                          </a:solidFill>
                          <a:latin typeface="Calibri"/>
                        </a:rPr>
                        <a:t>28 Aug</a:t>
                      </a:r>
                    </a:p>
                  </a:txBody>
                  <a:tcPr marL="73152" marR="73152" marT="36576" marB="36576" anchor="ctr">
                    <a:solidFill>
                      <a:srgbClr val="FAFBFD"/>
                    </a:solidFill>
                  </a:tcPr>
                </a:tc>
                <a:tc>
                  <a:txBody>
                    <a:bodyPr wrap="square"/>
                    <a:lstStyle/>
                    <a:p>
                      <a:r>
                        <a:rPr sz="1000" b="0" i="0">
                          <a:solidFill>
                            <a:srgbClr val="1B2A4A"/>
                          </a:solidFill>
                          <a:latin typeface="Calibri"/>
                        </a:rPr>
                        <a:t>3</a:t>
                      </a:r>
                    </a:p>
                  </a:txBody>
                  <a:tcPr marL="73152" marR="73152" marT="36576" marB="36576" anchor="ctr">
                    <a:solidFill>
                      <a:srgbClr val="FAFBFD"/>
                    </a:solidFill>
                  </a:tcPr>
                </a:tc>
                <a:tc>
                  <a:txBody>
                    <a:bodyPr wrap="square"/>
                    <a:lstStyle/>
                    <a:p>
                      <a:r>
                        <a:rPr sz="1000" b="0" i="0">
                          <a:solidFill>
                            <a:srgbClr val="1B2A4A"/>
                          </a:solidFill>
                          <a:latin typeface="Calibri"/>
                        </a:rPr>
                        <a:t>Neuroblastoma</a:t>
                      </a:r>
                    </a:p>
                  </a:txBody>
                  <a:tcPr marL="73152" marR="73152" marT="36576" marB="36576" anchor="ctr">
                    <a:solidFill>
                      <a:srgbClr val="FAFBFD"/>
                    </a:solidFill>
                  </a:tcPr>
                </a:tc>
                <a:tc>
                  <a:txBody>
                    <a:bodyPr wrap="square"/>
                    <a:lstStyle/>
                    <a:p>
                      <a:r>
                        <a:rPr sz="1000" b="0" i="0">
                          <a:solidFill>
                            <a:srgbClr val="1B2A4A"/>
                          </a:solidFill>
                          <a:latin typeface="Calibri"/>
                        </a:rPr>
                        <a:t>90</a:t>
                      </a:r>
                    </a:p>
                  </a:txBody>
                  <a:tcPr marL="73152" marR="73152" marT="36576" marB="36576" anchor="ctr">
                    <a:solidFill>
                      <a:srgbClr val="FAFBFD"/>
                    </a:solidFill>
                  </a:tcPr>
                </a:tc>
                <a:tc>
                  <a:txBody>
                    <a:bodyPr wrap="square"/>
                    <a:lstStyle/>
                    <a:p>
                      <a:r>
                        <a:rPr sz="1000" b="0" i="0">
                          <a:solidFill>
                            <a:srgbClr val="1B2A4A"/>
                          </a:solidFill>
                          <a:latin typeface="Calibri"/>
                        </a:rPr>
                        <a:t>Yes</a:t>
                      </a:r>
                    </a:p>
                  </a:txBody>
                  <a:tcPr marL="73152" marR="73152" marT="36576" marB="36576" anchor="ctr">
                    <a:solidFill>
                      <a:srgbClr val="FAFBFD"/>
                    </a:solidFill>
                  </a:tcPr>
                </a:tc>
                <a:tc>
                  <a:txBody>
                    <a:bodyPr wrap="square"/>
                    <a:lstStyle/>
                    <a:p>
                      <a:r>
                        <a:rPr sz="1000" b="0" i="0">
                          <a:solidFill>
                            <a:srgbClr val="1B2A4A"/>
                          </a:solidFill>
                          <a:latin typeface="Calibri"/>
                        </a:rPr>
                        <a:t>High — admitted</a:t>
                      </a:r>
                    </a:p>
                  </a:txBody>
                  <a:tcPr marL="73152" marR="73152" marT="36576" marB="36576" anchor="ctr">
                    <a:solidFill>
                      <a:srgbClr val="FAFBFD"/>
                    </a:solidFill>
                  </a:tcPr>
                </a:tc>
                <a:tc>
                  <a:txBody>
                    <a:bodyPr wrap="square"/>
                    <a:lstStyle/>
                    <a:p>
                      <a:r>
                        <a:rPr sz="1000" b="0" i="0">
                          <a:solidFill>
                            <a:srgbClr val="1B2A4A"/>
                          </a:solidFill>
                          <a:latin typeface="Calibri"/>
                        </a:rPr>
                        <a:t>41 min</a:t>
                      </a:r>
                    </a:p>
                  </a:txBody>
                  <a:tcPr marL="73152" marR="73152" marT="36576" marB="36576" anchor="ctr">
                    <a:solidFill>
                      <a:srgbClr val="FAFBFD"/>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f4cfba1-94cb-4c61-96bb-96203a792bd5}"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CLIENT, SERVER, PROTOCOL — ON THE WARD THEY ARE JUST: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Three names, then stop</a:t>
            </a:r>
          </a:p>
        </p:txBody>
      </p:sp>
      <p:sp>
        <p:nvSpPr>
          <p:cNvPr id="16" name="Rounded Rectangle 15"/>
          <p:cNvSpPr/>
          <p:nvPr/>
        </p:nvSpPr>
        <p:spPr>
          <a:xfrm>
            <a:off x="548640" y="2103120"/>
            <a:ext cx="2926080" cy="914400"/>
          </a:xfrm>
          <a:prstGeom prst="roundRect">
            <a:avLst>
              <a:gd name="adj" fmla="val 1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400" b="1" i="0">
                <a:solidFill>
                  <a:srgbClr val="1B2A4A"/>
                </a:solidFill>
                <a:latin typeface="Calibri"/>
              </a:rPr>
              <a:t>You type in the chat
Claude · ChatGPT · Gemini</a:t>
            </a:r>
          </a:p>
        </p:txBody>
      </p:sp>
      <p:sp>
        <p:nvSpPr>
          <p:cNvPr id="17" name="Right Arrow 16"/>
          <p:cNvSpPr/>
          <p:nvPr/>
        </p:nvSpPr>
        <p:spPr>
          <a:xfrm>
            <a:off x="3566160" y="2432304"/>
            <a:ext cx="457200" cy="256032"/>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0" y="2103120"/>
            <a:ext cx="1463040" cy="914400"/>
          </a:xfrm>
          <a:prstGeom prst="roundRect">
            <a:avLst>
              <a:gd name="adj" fmla="val 2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600" b="1" i="0">
                <a:solidFill>
                  <a:srgbClr val="FFFFFF"/>
                </a:solidFill>
                <a:latin typeface="Calibri"/>
              </a:rPr>
              <a:t>MCP plug</a:t>
            </a:r>
          </a:p>
        </p:txBody>
      </p:sp>
      <p:sp>
        <p:nvSpPr>
          <p:cNvPr id="19" name="Right Arrow 18"/>
          <p:cNvSpPr/>
          <p:nvPr/>
        </p:nvSpPr>
        <p:spPr>
          <a:xfrm>
            <a:off x="5669280" y="2112264"/>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26480" y="1965960"/>
            <a:ext cx="2560320" cy="502920"/>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15000"/>
              </a:lnSpc>
              <a:spcAft>
                <a:spcPts val="400"/>
              </a:spcAft>
            </a:pPr>
            <a:r>
              <a:rPr sz="1300" b="1" i="0">
                <a:solidFill>
                  <a:srgbClr val="1B2A4A"/>
                </a:solidFill>
                <a:latin typeface="Calibri"/>
              </a:rPr>
              <a:t>Drive connector</a:t>
            </a:r>
          </a:p>
        </p:txBody>
      </p:sp>
      <p:sp>
        <p:nvSpPr>
          <p:cNvPr id="21" name="Right Arrow 20"/>
          <p:cNvSpPr/>
          <p:nvPr/>
        </p:nvSpPr>
        <p:spPr>
          <a:xfrm>
            <a:off x="8778240" y="2112264"/>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965960"/>
            <a:ext cx="2286000" cy="502920"/>
          </a:xfrm>
          <a:prstGeom prst="rect">
            <a:avLst/>
          </a:prstGeom>
          <a:noFill/>
        </p:spPr>
        <p:txBody>
          <a:bodyPr wrap="square" anchor="ctr" lIns="109728" rIns="109728" tIns="109728" bIns="109728"/>
          <a:lstStyle/>
          <a:p>
            <a:pPr algn="l">
              <a:lnSpc>
                <a:spcPct val="115000"/>
              </a:lnSpc>
              <a:spcAft>
                <a:spcPts val="400"/>
              </a:spcAft>
            </a:pPr>
            <a:r>
              <a:rPr sz="1300" b="0" i="0">
                <a:solidFill>
                  <a:srgbClr val="607D8B"/>
                </a:solidFill>
                <a:latin typeface="Calibri"/>
              </a:rPr>
              <a:t>Protocol PDF</a:t>
            </a:r>
          </a:p>
        </p:txBody>
      </p:sp>
      <p:sp>
        <p:nvSpPr>
          <p:cNvPr id="23" name="Right Arrow 22"/>
          <p:cNvSpPr/>
          <p:nvPr/>
        </p:nvSpPr>
        <p:spPr>
          <a:xfrm>
            <a:off x="5669280" y="2715768"/>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0" y="2569464"/>
            <a:ext cx="2560320" cy="502920"/>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15000"/>
              </a:lnSpc>
              <a:spcAft>
                <a:spcPts val="400"/>
              </a:spcAft>
            </a:pPr>
            <a:r>
              <a:rPr sz="1300" b="1" i="0">
                <a:solidFill>
                  <a:srgbClr val="1B2A4A"/>
                </a:solidFill>
                <a:latin typeface="Calibri"/>
              </a:rPr>
              <a:t>Gmail connector</a:t>
            </a:r>
          </a:p>
        </p:txBody>
      </p:sp>
      <p:sp>
        <p:nvSpPr>
          <p:cNvPr id="25" name="Right Arrow 24"/>
          <p:cNvSpPr/>
          <p:nvPr/>
        </p:nvSpPr>
        <p:spPr>
          <a:xfrm>
            <a:off x="8778240" y="2715768"/>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569464"/>
            <a:ext cx="2286000" cy="502920"/>
          </a:xfrm>
          <a:prstGeom prst="rect">
            <a:avLst/>
          </a:prstGeom>
          <a:noFill/>
        </p:spPr>
        <p:txBody>
          <a:bodyPr wrap="square" anchor="ctr" lIns="109728" rIns="109728" tIns="109728" bIns="109728"/>
          <a:lstStyle/>
          <a:p>
            <a:pPr algn="l">
              <a:lnSpc>
                <a:spcPct val="115000"/>
              </a:lnSpc>
              <a:spcAft>
                <a:spcPts val="400"/>
              </a:spcAft>
            </a:pPr>
            <a:r>
              <a:rPr sz="1300" b="0" i="0">
                <a:solidFill>
                  <a:srgbClr val="607D8B"/>
                </a:solidFill>
                <a:latin typeface="Calibri"/>
              </a:rPr>
              <a:t>Inbox</a:t>
            </a:r>
          </a:p>
        </p:txBody>
      </p:sp>
      <p:sp>
        <p:nvSpPr>
          <p:cNvPr id="27" name="Right Arrow 26"/>
          <p:cNvSpPr/>
          <p:nvPr/>
        </p:nvSpPr>
        <p:spPr>
          <a:xfrm>
            <a:off x="5669280" y="3319272"/>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26480" y="3172968"/>
            <a:ext cx="2560320" cy="502920"/>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15000"/>
              </a:lnSpc>
              <a:spcAft>
                <a:spcPts val="400"/>
              </a:spcAft>
            </a:pPr>
            <a:r>
              <a:rPr sz="1300" b="1" i="0">
                <a:solidFill>
                  <a:srgbClr val="1B2A4A"/>
                </a:solidFill>
                <a:latin typeface="Calibri"/>
              </a:rPr>
              <a:t>Calendar connector</a:t>
            </a:r>
          </a:p>
        </p:txBody>
      </p:sp>
      <p:sp>
        <p:nvSpPr>
          <p:cNvPr id="29" name="Right Arrow 28"/>
          <p:cNvSpPr/>
          <p:nvPr/>
        </p:nvSpPr>
        <p:spPr>
          <a:xfrm>
            <a:off x="8778240" y="3319272"/>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3172968"/>
            <a:ext cx="2286000" cy="502920"/>
          </a:xfrm>
          <a:prstGeom prst="rect">
            <a:avLst/>
          </a:prstGeom>
          <a:noFill/>
        </p:spPr>
        <p:txBody>
          <a:bodyPr wrap="square" anchor="ctr" lIns="109728" rIns="109728" tIns="109728" bIns="109728"/>
          <a:lstStyle/>
          <a:p>
            <a:pPr algn="l">
              <a:lnSpc>
                <a:spcPct val="115000"/>
              </a:lnSpc>
              <a:spcAft>
                <a:spcPts val="400"/>
              </a:spcAft>
            </a:pPr>
            <a:r>
              <a:rPr sz="1300" b="0" i="0">
                <a:solidFill>
                  <a:srgbClr val="607D8B"/>
                </a:solidFill>
                <a:latin typeface="Calibri"/>
              </a:rPr>
              <a:t>Friday slot</a:t>
            </a:r>
          </a:p>
        </p:txBody>
      </p:sp>
      <p:sp>
        <p:nvSpPr>
          <p:cNvPr id="31" name="Right Arrow 30"/>
          <p:cNvSpPr/>
          <p:nvPr/>
        </p:nvSpPr>
        <p:spPr>
          <a:xfrm>
            <a:off x="5669280" y="3922776"/>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26480" y="3776472"/>
            <a:ext cx="2560320" cy="502920"/>
          </a:xfrm>
          <a:prstGeom prst="roundRect">
            <a:avLst>
              <a:gd name="adj" fmla="val 2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lnSpc>
                <a:spcPct val="115000"/>
              </a:lnSpc>
              <a:spcAft>
                <a:spcPts val="400"/>
              </a:spcAft>
            </a:pPr>
            <a:r>
              <a:rPr sz="1300" b="1" i="0">
                <a:solidFill>
                  <a:srgbClr val="1B2A4A"/>
                </a:solidFill>
                <a:latin typeface="Calibri"/>
              </a:rPr>
              <a:t>Unit-log connector</a:t>
            </a:r>
          </a:p>
        </p:txBody>
      </p:sp>
      <p:sp>
        <p:nvSpPr>
          <p:cNvPr id="33" name="Right Arrow 32"/>
          <p:cNvSpPr/>
          <p:nvPr/>
        </p:nvSpPr>
        <p:spPr>
          <a:xfrm>
            <a:off x="8778240" y="3922776"/>
            <a:ext cx="365760" cy="219456"/>
          </a:xfrm>
          <a:prstGeom prst="rightArrow">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0" y="3776472"/>
            <a:ext cx="2286000" cy="502920"/>
          </a:xfrm>
          <a:prstGeom prst="rect">
            <a:avLst/>
          </a:prstGeom>
          <a:noFill/>
        </p:spPr>
        <p:txBody>
          <a:bodyPr wrap="square" anchor="ctr" lIns="109728" rIns="109728" tIns="109728" bIns="109728"/>
          <a:lstStyle/>
          <a:p>
            <a:pPr algn="l">
              <a:lnSpc>
                <a:spcPct val="115000"/>
              </a:lnSpc>
              <a:spcAft>
                <a:spcPts val="400"/>
              </a:spcAft>
            </a:pPr>
            <a:r>
              <a:rPr sz="1300" b="0" i="0">
                <a:solidFill>
                  <a:srgbClr val="607D8B"/>
                </a:solidFill>
                <a:latin typeface="Calibri"/>
              </a:rPr>
              <a:t>FN spreadsheet</a:t>
            </a:r>
          </a:p>
        </p:txBody>
      </p:sp>
      <p:sp>
        <p:nvSpPr>
          <p:cNvPr id="35" name="TextBox 34"/>
          <p:cNvSpPr txBox="1"/>
          <p:nvPr/>
        </p:nvSpPr>
        <p:spPr>
          <a:xfrm>
            <a:off x="548640" y="4572000"/>
            <a:ext cx="11094415" cy="1188720"/>
          </a:xfrm>
          <a:prstGeom prst="rect">
            <a:avLst/>
          </a:prstGeom>
          <a:noFill/>
        </p:spPr>
        <p:txBody>
          <a:bodyPr wrap="square" anchor="t" lIns="0" rIns="0" tIns="0" bIns="0"/>
          <a:lstStyle/>
          <a:p>
            <a:pPr algn="l">
              <a:lnSpc>
                <a:spcPct val="115000"/>
              </a:lnSpc>
              <a:spcAft>
                <a:spcPts val="400"/>
              </a:spcAft>
            </a:pPr>
            <a:r>
              <a:rPr sz="1400" b="0" i="0">
                <a:solidFill>
                  <a:srgbClr val="607D8B"/>
                </a:solidFill>
                <a:latin typeface="Calibri"/>
              </a:rPr>
              <a:t>Each connector talks to one place. The chat is not “inside” Drive. The connector is. That is why you can add Gmail tomorrow without rewriting the model. Below this walkthrough on the site is a list of medical plugs — PubMed, NICE, trials, imaging, even FHIR. Same idea. Different sockets.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3bedc03-8f7c-4ffd-89dd-7f3598fac45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EVERY CONNECTOR ADVERTISES THREE KINDS OF THING. THE MODEL CAN ONLY USE WHAT THAT CONNECTOR LISTED.</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What a connector is allowed to do</a:t>
            </a:r>
          </a:p>
        </p:txBody>
      </p:sp>
      <p:sp>
        <p:nvSpPr>
          <p:cNvPr id="16" name="Rounded Rectangle 15"/>
          <p:cNvSpPr/>
          <p:nvPr/>
        </p:nvSpPr>
        <p:spPr>
          <a:xfrm>
            <a:off x="548640" y="1938528"/>
            <a:ext cx="3545738" cy="228600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066544"/>
            <a:ext cx="3253130" cy="228600"/>
          </a:xfrm>
          <a:prstGeom prst="rect">
            <a:avLst/>
          </a:prstGeom>
          <a:noFill/>
        </p:spPr>
        <p:txBody>
          <a:bodyPr wrap="square" anchor="t" lIns="0" rIns="0" tIns="0" bIns="0"/>
          <a:lstStyle/>
          <a:p>
            <a:pPr algn="l">
              <a:lnSpc>
                <a:spcPct val="100000"/>
              </a:lnSpc>
              <a:spcAft>
                <a:spcPts val="0"/>
              </a:spcAft>
            </a:pPr>
            <a:r>
              <a:rPr sz="900" b="1" i="0">
                <a:solidFill>
                  <a:srgbClr val="E65100"/>
                </a:solidFill>
                <a:latin typeface="Calibri"/>
              </a:rPr>
              <a:t>ACTIONS</a:t>
            </a:r>
          </a:p>
        </p:txBody>
      </p:sp>
      <p:sp>
        <p:nvSpPr>
          <p:cNvPr id="18" name="TextBox 17"/>
          <p:cNvSpPr txBox="1"/>
          <p:nvPr/>
        </p:nvSpPr>
        <p:spPr>
          <a:xfrm>
            <a:off x="694944" y="2286000"/>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Tools</a:t>
            </a:r>
          </a:p>
        </p:txBody>
      </p:sp>
      <p:sp>
        <p:nvSpPr>
          <p:cNvPr id="19" name="TextBox 18"/>
          <p:cNvSpPr txBox="1"/>
          <p:nvPr/>
        </p:nvSpPr>
        <p:spPr>
          <a:xfrm>
            <a:off x="694944" y="2770632"/>
            <a:ext cx="3253130" cy="1366114"/>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Look up the FN log. Search Drive for the protocol. Draft a Gmail. Book Room 4. Same idea as “run a SQL query” — except the jobs are ours.</a:t>
            </a:r>
          </a:p>
        </p:txBody>
      </p:sp>
      <p:sp>
        <p:nvSpPr>
          <p:cNvPr id="20" name="Rounded Rectangle 19"/>
          <p:cNvSpPr/>
          <p:nvPr/>
        </p:nvSpPr>
        <p:spPr>
          <a:xfrm>
            <a:off x="4322978" y="1938528"/>
            <a:ext cx="3545738" cy="228600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69282" y="2066544"/>
            <a:ext cx="3253130" cy="228600"/>
          </a:xfrm>
          <a:prstGeom prst="rect">
            <a:avLst/>
          </a:prstGeom>
          <a:noFill/>
        </p:spPr>
        <p:txBody>
          <a:bodyPr wrap="square" anchor="t" lIns="0" rIns="0" tIns="0" bIns="0"/>
          <a:lstStyle/>
          <a:p>
            <a:pPr algn="l">
              <a:lnSpc>
                <a:spcPct val="100000"/>
              </a:lnSpc>
              <a:spcAft>
                <a:spcPts val="0"/>
              </a:spcAft>
            </a:pPr>
            <a:r>
              <a:rPr sz="900" b="1" i="0">
                <a:solidFill>
                  <a:srgbClr val="E65100"/>
                </a:solidFill>
                <a:latin typeface="Calibri"/>
              </a:rPr>
              <a:t>THINGS TO READ</a:t>
            </a:r>
          </a:p>
        </p:txBody>
      </p:sp>
      <p:sp>
        <p:nvSpPr>
          <p:cNvPr id="22" name="TextBox 21"/>
          <p:cNvSpPr txBox="1"/>
          <p:nvPr/>
        </p:nvSpPr>
        <p:spPr>
          <a:xfrm>
            <a:off x="4469282" y="2286000"/>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Resources</a:t>
            </a:r>
          </a:p>
        </p:txBody>
      </p:sp>
      <p:sp>
        <p:nvSpPr>
          <p:cNvPr id="23" name="TextBox 22"/>
          <p:cNvSpPr txBox="1"/>
          <p:nvPr/>
        </p:nvSpPr>
        <p:spPr>
          <a:xfrm>
            <a:off x="4469282" y="2770632"/>
            <a:ext cx="3253130" cy="1366114"/>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Last month’s census. The 2023 fever-and-neutropenia PDF. A de-identified extract. Read-only. Context, not a change.</a:t>
            </a:r>
          </a:p>
        </p:txBody>
      </p:sp>
      <p:sp>
        <p:nvSpPr>
          <p:cNvPr id="24" name="Rounded Rectangle 23"/>
          <p:cNvSpPr/>
          <p:nvPr/>
        </p:nvSpPr>
        <p:spPr>
          <a:xfrm>
            <a:off x="8097316" y="1938528"/>
            <a:ext cx="3545738" cy="228600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43620" y="2066544"/>
            <a:ext cx="3253130" cy="228600"/>
          </a:xfrm>
          <a:prstGeom prst="rect">
            <a:avLst/>
          </a:prstGeom>
          <a:noFill/>
        </p:spPr>
        <p:txBody>
          <a:bodyPr wrap="square" anchor="t" lIns="0" rIns="0" tIns="0" bIns="0"/>
          <a:lstStyle/>
          <a:p>
            <a:pPr algn="l">
              <a:lnSpc>
                <a:spcPct val="100000"/>
              </a:lnSpc>
              <a:spcAft>
                <a:spcPts val="0"/>
              </a:spcAft>
            </a:pPr>
            <a:r>
              <a:rPr sz="900" b="1" i="0">
                <a:solidFill>
                  <a:srgbClr val="E65100"/>
                </a:solidFill>
                <a:latin typeface="Calibri"/>
              </a:rPr>
              <a:t>STARTER QUESTIONS</a:t>
            </a:r>
          </a:p>
        </p:txBody>
      </p:sp>
      <p:sp>
        <p:nvSpPr>
          <p:cNvPr id="26" name="TextBox 25"/>
          <p:cNvSpPr txBox="1"/>
          <p:nvPr/>
        </p:nvSpPr>
        <p:spPr>
          <a:xfrm>
            <a:off x="8243620" y="2286000"/>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Prompts</a:t>
            </a:r>
          </a:p>
        </p:txBody>
      </p:sp>
      <p:sp>
        <p:nvSpPr>
          <p:cNvPr id="27" name="TextBox 26"/>
          <p:cNvSpPr txBox="1"/>
          <p:nvPr/>
        </p:nvSpPr>
        <p:spPr>
          <a:xfrm>
            <a:off x="8243620" y="2770632"/>
            <a:ext cx="3253130" cy="1366114"/>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Saved briefs the connector offers: “Prep Friday tumour board from this week’s FN list.” You still send it. You still read the draft.</a:t>
            </a:r>
          </a:p>
        </p:txBody>
      </p:sp>
      <p:sp>
        <p:nvSpPr>
          <p:cNvPr id="28" name="Rounded Rectangle 27"/>
          <p:cNvSpPr/>
          <p:nvPr/>
        </p:nvSpPr>
        <p:spPr>
          <a:xfrm>
            <a:off x="548640" y="4498848"/>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8640" y="4498848"/>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498848"/>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A read-only FN log cannot discharge a child. If the Calendar connector cannot delete events, the model cannot cancel clinic. The list of tools is the list of verbs.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6b2d817-572e-4c84-9bd5-d5f4ad29fc3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39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SAME JOB: FIND THE 2023 JCO FEVER AND NEUTROPENIA GUIDELINE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400" b="1" i="0">
                <a:solidFill>
                  <a:srgbClr val="21409A"/>
                </a:solidFill>
                <a:latin typeface="Calibri"/>
              </a:rPr>
              <a:t>Same question, two plugs — PubMed API versus PubMed MCP</a:t>
            </a:r>
          </a:p>
        </p:txBody>
      </p:sp>
      <p:sp>
        <p:nvSpPr>
          <p:cNvPr id="16" name="Rounded Rectangle 15"/>
          <p:cNvSpPr/>
          <p:nvPr/>
        </p:nvSpPr>
        <p:spPr>
          <a:xfrm>
            <a:off x="548640" y="1810512"/>
            <a:ext cx="5410047"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1947672"/>
            <a:ext cx="4952847" cy="274320"/>
          </a:xfrm>
          <a:prstGeom prst="rect">
            <a:avLst/>
          </a:prstGeom>
          <a:noFill/>
        </p:spPr>
        <p:txBody>
          <a:bodyPr wrap="square" anchor="t" lIns="0" rIns="0" tIns="0" bIns="0"/>
          <a:lstStyle/>
          <a:p>
            <a:pPr algn="l">
              <a:lnSpc>
                <a:spcPct val="115000"/>
              </a:lnSpc>
              <a:spcAft>
                <a:spcPts val="400"/>
              </a:spcAft>
            </a:pPr>
            <a:r>
              <a:rPr sz="1000" b="1" i="0">
                <a:solidFill>
                  <a:srgbClr val="607D8B"/>
                </a:solidFill>
                <a:latin typeface="Calibri"/>
              </a:rPr>
              <a:t>PUBMED API — BUILT FOR A PROGRAM</a:t>
            </a:r>
          </a:p>
        </p:txBody>
      </p:sp>
      <p:sp>
        <p:nvSpPr>
          <p:cNvPr id="18" name="Rounded Rectangle 17"/>
          <p:cNvSpPr/>
          <p:nvPr/>
        </p:nvSpPr>
        <p:spPr>
          <a:xfrm>
            <a:off x="777240" y="2267712"/>
            <a:ext cx="4952847" cy="16002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000" b="0" i="0">
                <a:solidFill>
                  <a:srgbClr val="1B2A4A"/>
                </a:solidFill>
                <a:latin typeface="Consolas"/>
              </a:rPr>
              <a:t>GET eutils.ncbi.nlm.nih.gov/entrez/eutils/esearch.fcgi</a:t>
            </a:r>
          </a:p>
          <a:p>
            <a:pPr algn="l">
              <a:lnSpc>
                <a:spcPct val="108000"/>
              </a:lnSpc>
              <a:spcAft>
                <a:spcPts val="0"/>
              </a:spcAft>
            </a:pPr>
            <a:r>
              <a:rPr sz="1000" b="0" i="0">
                <a:solidFill>
                  <a:srgbClr val="1B2A4A"/>
                </a:solidFill>
                <a:latin typeface="Consolas"/>
              </a:rPr>
              <a:t>  ?db=pubmed&amp;term=fever+neutropenia+pediatric+2023+Lehrnbecher</a:t>
            </a:r>
          </a:p>
          <a:p>
            <a:pPr algn="l">
              <a:lnSpc>
                <a:spcPct val="108000"/>
              </a:lnSpc>
              <a:spcAft>
                <a:spcPts val="0"/>
              </a:spcAft>
            </a:pPr>
            <a:r>
              <a:rPr sz="1000" b="0" i="0">
                <a:solidFill>
                  <a:srgbClr val="1B2A4A"/>
                </a:solidFill>
                <a:latin typeface="Consolas"/>
              </a:rPr>
              <a:t>  &amp;retmode=json</a:t>
            </a:r>
          </a:p>
          <a:p>
            <a:pPr algn="l">
              <a:lnSpc>
                <a:spcPct val="108000"/>
              </a:lnSpc>
              <a:spcAft>
                <a:spcPts val="0"/>
              </a:spcAft>
            </a:pPr>
            <a:r>
              <a:rPr sz="1000" b="0" i="0">
                <a:solidFill>
                  <a:srgbClr val="1B2A4A"/>
                </a:solidFill>
                <a:latin typeface="Consolas"/>
              </a:rPr>
              <a:t>then efetch with the PMIDs  → XML / JSON</a:t>
            </a:r>
          </a:p>
        </p:txBody>
      </p:sp>
      <p:sp>
        <p:nvSpPr>
          <p:cNvPr id="19" name="TextBox 18"/>
          <p:cNvSpPr txBox="1"/>
          <p:nvPr/>
        </p:nvSpPr>
        <p:spPr>
          <a:xfrm>
            <a:off x="777240" y="3959352"/>
            <a:ext cx="4952847" cy="109728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You write code, or click the website. The machine speaks HTTP. Errors are status codes. A model can only use this if someone taught it the URL, the parameters, and how to parse the reply.</a:t>
            </a:r>
          </a:p>
        </p:txBody>
      </p:sp>
      <p:sp>
        <p:nvSpPr>
          <p:cNvPr id="20" name="Rounded Rectangle 19"/>
          <p:cNvSpPr/>
          <p:nvPr/>
        </p:nvSpPr>
        <p:spPr>
          <a:xfrm>
            <a:off x="6233007" y="1810512"/>
            <a:ext cx="5410047" cy="3291840"/>
          </a:xfrm>
          <a:prstGeom prst="roundRect">
            <a:avLst>
              <a:gd name="adj" fmla="val 8000"/>
            </a:avLst>
          </a:prstGeom>
          <a:solidFill>
            <a:srgbClr val="FFFFFF"/>
          </a:solidFill>
          <a:ln w="19050">
            <a:solidFill>
              <a:srgbClr val="E65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61607" y="1947672"/>
            <a:ext cx="4952847" cy="274320"/>
          </a:xfrm>
          <a:prstGeom prst="rect">
            <a:avLst/>
          </a:prstGeom>
          <a:noFill/>
        </p:spPr>
        <p:txBody>
          <a:bodyPr wrap="square" anchor="t" lIns="0" rIns="0" tIns="0" bIns="0"/>
          <a:lstStyle/>
          <a:p>
            <a:pPr algn="l">
              <a:lnSpc>
                <a:spcPct val="115000"/>
              </a:lnSpc>
              <a:spcAft>
                <a:spcPts val="400"/>
              </a:spcAft>
            </a:pPr>
            <a:r>
              <a:rPr sz="1000" b="1" i="0">
                <a:solidFill>
                  <a:srgbClr val="E65100"/>
                </a:solidFill>
                <a:latin typeface="Calibri"/>
              </a:rPr>
              <a:t>PUBMED MCP — BUILT FOR YOU AND THE MODEL</a:t>
            </a:r>
          </a:p>
        </p:txBody>
      </p:sp>
      <p:sp>
        <p:nvSpPr>
          <p:cNvPr id="22" name="Rounded Rectangle 21"/>
          <p:cNvSpPr/>
          <p:nvPr/>
        </p:nvSpPr>
        <p:spPr>
          <a:xfrm>
            <a:off x="6461607" y="2267712"/>
            <a:ext cx="4952847" cy="16002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000" b="0" i="0">
                <a:solidFill>
                  <a:srgbClr val="1B2A4A"/>
                </a:solidFill>
                <a:latin typeface="Consolas"/>
              </a:rPr>
              <a:t>You:  Find the 2023 JCO fever and neutropenia guideline.</a:t>
            </a:r>
          </a:p>
          <a:p>
            <a:pPr algn="l">
              <a:lnSpc>
                <a:spcPct val="108000"/>
              </a:lnSpc>
              <a:spcAft>
                <a:spcPts val="0"/>
              </a:spcAft>
            </a:pPr>
            <a:r>
              <a:rPr sz="1000" b="0" i="0">
                <a:solidFill>
                  <a:srgbClr val="1B2A4A"/>
                </a:solidFill>
                <a:latin typeface="Consolas"/>
              </a:rPr>
              <a:t>Tool: search_pubmed  query: fever neutropenia pediatric JCO 2023 Lehrnbecher</a:t>
            </a:r>
          </a:p>
          <a:p>
            <a:pPr algn="l">
              <a:lnSpc>
                <a:spcPct val="108000"/>
              </a:lnSpc>
              <a:spcAft>
                <a:spcPts val="0"/>
              </a:spcAft>
            </a:pPr>
            <a:r>
              <a:rPr sz="1000" b="0" i="0">
                <a:solidFill>
                  <a:srgbClr val="1B2A4A"/>
                </a:solidFill>
                <a:latin typeface="Consolas"/>
              </a:rPr>
              <a:t>[Continue] → PMID 36626595 · Lehrnbecher et al. J Clin Oncol 2023</a:t>
            </a:r>
          </a:p>
        </p:txBody>
      </p:sp>
      <p:sp>
        <p:nvSpPr>
          <p:cNvPr id="23" name="TextBox 22"/>
          <p:cNvSpPr txBox="1"/>
          <p:nvPr/>
        </p:nvSpPr>
        <p:spPr>
          <a:xfrm>
            <a:off x="6461607" y="3959352"/>
            <a:ext cx="4952847" cy="109728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You speak. You approve. The model fills in the tool. Errors come back as a sentence. The connector still calls Entrez; it just advertises tools with names the model can read, and a Continue button you can refuse.</a:t>
            </a:r>
          </a:p>
        </p:txBody>
      </p:sp>
      <p:sp>
        <p:nvSpPr>
          <p:cNvPr id="24" name="Rounded Rectangle 23"/>
          <p:cNvSpPr/>
          <p:nvPr/>
        </p:nvSpPr>
        <p:spPr>
          <a:xfrm>
            <a:off x="548640" y="5285232"/>
            <a:ext cx="11094415" cy="59436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5285232"/>
            <a:ext cx="73152" cy="59436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7240" y="5285232"/>
            <a:ext cx="10774375" cy="59436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Same core: NCBI Entrez under pubmed.gov, under every script, and under mcp-simple-pubmed. MCP is not a new PubMed. It is a plug that both a human and an LLM can hold.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2c39825f-a616-4116-9a60-61616c455e3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RUN ONE SENTENCE ACROSS PLUGS YOU ALREADY HAVE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sentence, three connectors</a:t>
            </a:r>
          </a:p>
        </p:txBody>
      </p:sp>
      <p:sp>
        <p:nvSpPr>
          <p:cNvPr id="16" name="Rounded Rectangle 15"/>
          <p:cNvSpPr/>
          <p:nvPr/>
        </p:nvSpPr>
        <p:spPr>
          <a:xfrm>
            <a:off x="548640" y="1965960"/>
            <a:ext cx="11094415" cy="86868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39112"/>
            <a:ext cx="1083838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258568"/>
            <a:ext cx="10838383" cy="502920"/>
          </a:xfrm>
          <a:prstGeom prst="rect">
            <a:avLst/>
          </a:prstGeom>
          <a:noFill/>
        </p:spPr>
        <p:txBody>
          <a:bodyPr wrap="square" anchor="t" lIns="0" rIns="0" tIns="0" bIns="0"/>
          <a:lstStyle/>
          <a:p>
            <a:pPr algn="l">
              <a:lnSpc>
                <a:spcPct val="112000"/>
              </a:lnSpc>
              <a:spcAft>
                <a:spcPts val="300"/>
              </a:spcAft>
            </a:pPr>
            <a:r>
              <a:rPr sz="1500" b="0" i="0">
                <a:solidFill>
                  <a:srgbClr val="1B2A4A"/>
                </a:solidFill>
                <a:latin typeface="Calibri"/>
              </a:rPr>
              <a:t>Find the tumour-board template on Drive, draft Friday’s note from this week’s FN list, and put the meeting on my calendar Friday 08:00, Room 4.</a:t>
            </a:r>
          </a:p>
        </p:txBody>
      </p:sp>
      <p:sp>
        <p:nvSpPr>
          <p:cNvPr id="19" name="Rounded Rectangle 18"/>
          <p:cNvSpPr/>
          <p:nvPr/>
        </p:nvSpPr>
        <p:spPr>
          <a:xfrm>
            <a:off x="548640" y="3017520"/>
            <a:ext cx="2602153" cy="20116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94944" y="3145536"/>
            <a:ext cx="384048" cy="384048"/>
          </a:xfrm>
          <a:prstGeom prst="roundRect">
            <a:avLst>
              <a:gd name="adj" fmla="val 25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21" name="TextBox 20"/>
          <p:cNvSpPr txBox="1"/>
          <p:nvPr/>
        </p:nvSpPr>
        <p:spPr>
          <a:xfrm>
            <a:off x="1197864" y="3145536"/>
            <a:ext cx="180662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Drive</a:t>
            </a:r>
          </a:p>
        </p:txBody>
      </p:sp>
      <p:sp>
        <p:nvSpPr>
          <p:cNvPr id="22" name="TextBox 21"/>
          <p:cNvSpPr txBox="1"/>
          <p:nvPr/>
        </p:nvSpPr>
        <p:spPr>
          <a:xfrm>
            <a:off x="1197864" y="3542385"/>
            <a:ext cx="1806625" cy="1399033"/>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Found Tumour-board-note-template.docx in the shared protocols folder.</a:t>
            </a:r>
          </a:p>
        </p:txBody>
      </p:sp>
      <p:sp>
        <p:nvSpPr>
          <p:cNvPr id="23" name="Rounded Rectangle 22"/>
          <p:cNvSpPr/>
          <p:nvPr/>
        </p:nvSpPr>
        <p:spPr>
          <a:xfrm>
            <a:off x="694944" y="4617720"/>
            <a:ext cx="91440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FFFFFF"/>
                </a:solidFill>
                <a:latin typeface="Calibri"/>
              </a:rPr>
              <a:t>Continue</a:t>
            </a:r>
          </a:p>
        </p:txBody>
      </p:sp>
      <p:sp>
        <p:nvSpPr>
          <p:cNvPr id="24" name="Rounded Rectangle 23"/>
          <p:cNvSpPr/>
          <p:nvPr/>
        </p:nvSpPr>
        <p:spPr>
          <a:xfrm>
            <a:off x="3379393" y="3017520"/>
            <a:ext cx="2602153" cy="20116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3525697" y="3145536"/>
            <a:ext cx="384048" cy="384048"/>
          </a:xfrm>
          <a:prstGeom prst="roundRect">
            <a:avLst>
              <a:gd name="adj" fmla="val 25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6" name="TextBox 25"/>
          <p:cNvSpPr txBox="1"/>
          <p:nvPr/>
        </p:nvSpPr>
        <p:spPr>
          <a:xfrm>
            <a:off x="4028617" y="3145536"/>
            <a:ext cx="180662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Unit log</a:t>
            </a:r>
          </a:p>
        </p:txBody>
      </p:sp>
      <p:sp>
        <p:nvSpPr>
          <p:cNvPr id="27" name="TextBox 26"/>
          <p:cNvSpPr txBox="1"/>
          <p:nvPr/>
        </p:nvSpPr>
        <p:spPr>
          <a:xfrm>
            <a:off x="4028617" y="3542385"/>
            <a:ext cx="1806625" cy="1399033"/>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Three high-risk FN this week, including the day-10 B-ALL with the penicillin rash.</a:t>
            </a:r>
          </a:p>
        </p:txBody>
      </p:sp>
      <p:sp>
        <p:nvSpPr>
          <p:cNvPr id="28" name="Rounded Rectangle 27"/>
          <p:cNvSpPr/>
          <p:nvPr/>
        </p:nvSpPr>
        <p:spPr>
          <a:xfrm>
            <a:off x="3525697" y="4617720"/>
            <a:ext cx="91440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FFFFFF"/>
                </a:solidFill>
                <a:latin typeface="Calibri"/>
              </a:rPr>
              <a:t>Continue</a:t>
            </a:r>
          </a:p>
        </p:txBody>
      </p:sp>
      <p:sp>
        <p:nvSpPr>
          <p:cNvPr id="29" name="Rounded Rectangle 28"/>
          <p:cNvSpPr/>
          <p:nvPr/>
        </p:nvSpPr>
        <p:spPr>
          <a:xfrm>
            <a:off x="6210147" y="3017520"/>
            <a:ext cx="2602153" cy="20116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356451" y="3145536"/>
            <a:ext cx="384048" cy="384048"/>
          </a:xfrm>
          <a:prstGeom prst="roundRect">
            <a:avLst>
              <a:gd name="adj" fmla="val 25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31" name="TextBox 30"/>
          <p:cNvSpPr txBox="1"/>
          <p:nvPr/>
        </p:nvSpPr>
        <p:spPr>
          <a:xfrm>
            <a:off x="6859371" y="3145536"/>
            <a:ext cx="180662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Gmail</a:t>
            </a:r>
          </a:p>
        </p:txBody>
      </p:sp>
      <p:sp>
        <p:nvSpPr>
          <p:cNvPr id="32" name="TextBox 31"/>
          <p:cNvSpPr txBox="1"/>
          <p:nvPr/>
        </p:nvSpPr>
        <p:spPr>
          <a:xfrm>
            <a:off x="6859371" y="3542385"/>
            <a:ext cx="1806625" cy="1399033"/>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Draft to the team — not sent. You read it the way you read a letter before you sign it.</a:t>
            </a:r>
          </a:p>
        </p:txBody>
      </p:sp>
      <p:sp>
        <p:nvSpPr>
          <p:cNvPr id="33" name="Rounded Rectangle 32"/>
          <p:cNvSpPr/>
          <p:nvPr/>
        </p:nvSpPr>
        <p:spPr>
          <a:xfrm>
            <a:off x="6356451" y="4617720"/>
            <a:ext cx="91440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FFFFFF"/>
                </a:solidFill>
                <a:latin typeface="Calibri"/>
              </a:rPr>
              <a:t>Continue</a:t>
            </a:r>
          </a:p>
        </p:txBody>
      </p:sp>
      <p:sp>
        <p:nvSpPr>
          <p:cNvPr id="34" name="Rounded Rectangle 33"/>
          <p:cNvSpPr/>
          <p:nvPr/>
        </p:nvSpPr>
        <p:spPr>
          <a:xfrm>
            <a:off x="9040901" y="3017520"/>
            <a:ext cx="2602153" cy="20116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9187205" y="3145536"/>
            <a:ext cx="384048" cy="384048"/>
          </a:xfrm>
          <a:prstGeom prst="roundRect">
            <a:avLst>
              <a:gd name="adj" fmla="val 25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6" name="TextBox 35"/>
          <p:cNvSpPr txBox="1"/>
          <p:nvPr/>
        </p:nvSpPr>
        <p:spPr>
          <a:xfrm>
            <a:off x="9690125" y="3145536"/>
            <a:ext cx="1806625" cy="329184"/>
          </a:xfrm>
          <a:prstGeom prst="rect">
            <a:avLst/>
          </a:prstGeom>
          <a:noFill/>
        </p:spPr>
        <p:txBody>
          <a:bodyPr wrap="square" anchor="t" lIns="0" rIns="0" tIns="0" bIns="0"/>
          <a:lstStyle/>
          <a:p>
            <a:pPr algn="l">
              <a:lnSpc>
                <a:spcPct val="100000"/>
              </a:lnSpc>
              <a:spcAft>
                <a:spcPts val="0"/>
              </a:spcAft>
            </a:pPr>
            <a:r>
              <a:rPr sz="1600" b="1" i="0">
                <a:solidFill>
                  <a:srgbClr val="1B2A4A"/>
                </a:solidFill>
                <a:latin typeface="Calibri"/>
              </a:rPr>
              <a:t>Calendar</a:t>
            </a:r>
          </a:p>
        </p:txBody>
      </p:sp>
      <p:sp>
        <p:nvSpPr>
          <p:cNvPr id="37" name="TextBox 36"/>
          <p:cNvSpPr txBox="1"/>
          <p:nvPr/>
        </p:nvSpPr>
        <p:spPr>
          <a:xfrm>
            <a:off x="9690125" y="3542385"/>
            <a:ext cx="1806625" cy="1399033"/>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Friday 08:00, Room 4, title: Paediatric tumour board.</a:t>
            </a:r>
          </a:p>
        </p:txBody>
      </p:sp>
      <p:sp>
        <p:nvSpPr>
          <p:cNvPr id="38" name="Rounded Rectangle 37"/>
          <p:cNvSpPr/>
          <p:nvPr/>
        </p:nvSpPr>
        <p:spPr>
          <a:xfrm>
            <a:off x="9187205" y="4617720"/>
            <a:ext cx="91440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000" b="1" i="0">
                <a:solidFill>
                  <a:srgbClr val="FFFFFF"/>
                </a:solidFill>
                <a:latin typeface="Calibri"/>
              </a:rPr>
              <a:t>Continue</a:t>
            </a:r>
          </a:p>
        </p:txBody>
      </p:sp>
      <p:sp>
        <p:nvSpPr>
          <p:cNvPr id="39" name="Rounded Rectangle 38"/>
          <p:cNvSpPr/>
          <p:nvPr/>
        </p:nvSpPr>
        <p:spPr>
          <a:xfrm>
            <a:off x="548640" y="5212080"/>
            <a:ext cx="11094415" cy="5486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48640" y="5212080"/>
            <a:ext cx="73152" cy="54864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 y="5212080"/>
            <a:ext cx="10774375" cy="54864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Continue is the same habit as signing the order. The model proposes. You release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df4f5cc-7c03-4ac7-8473-affdfc95c67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A CONNECTOR WORKS BECAUSE IT USES YOUR LOGIN</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The point, and the risk</a:t>
            </a:r>
          </a:p>
        </p:txBody>
      </p:sp>
      <p:sp>
        <p:nvSpPr>
          <p:cNvPr id="16" name="TextBox 15"/>
          <p:cNvSpPr txBox="1"/>
          <p:nvPr/>
        </p:nvSpPr>
        <p:spPr>
          <a:xfrm>
            <a:off x="548640" y="1920240"/>
            <a:ext cx="11094415" cy="822960"/>
          </a:xfrm>
          <a:prstGeom prst="rect">
            <a:avLst/>
          </a:prstGeom>
          <a:noFill/>
        </p:spPr>
        <p:txBody>
          <a:bodyPr wrap="square" anchor="t" lIns="0" rIns="0" tIns="0" bIns="0"/>
          <a:lstStyle/>
          <a:p>
            <a:pPr algn="l">
              <a:lnSpc>
                <a:spcPct val="115000"/>
              </a:lnSpc>
              <a:spcAft>
                <a:spcPts val="400"/>
              </a:spcAft>
            </a:pPr>
            <a:r>
              <a:rPr sz="1600" b="0" i="0">
                <a:solidFill>
                  <a:srgbClr val="1B2A4A"/>
                </a:solidFill>
                <a:latin typeface="Calibri"/>
              </a:rPr>
              <a:t>If you can open the shared Drive, so can the model once the plug is in. If you can send mail as the unit, so can a Gmail connector — if you click Continue on send.</a:t>
            </a:r>
          </a:p>
        </p:txBody>
      </p:sp>
      <p:sp>
        <p:nvSpPr>
          <p:cNvPr id="17" name="Rounded Rectangle 16"/>
          <p:cNvSpPr/>
          <p:nvPr/>
        </p:nvSpPr>
        <p:spPr>
          <a:xfrm>
            <a:off x="548640" y="2880360"/>
            <a:ext cx="5410047" cy="173736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3008376"/>
            <a:ext cx="5117439" cy="329184"/>
          </a:xfrm>
          <a:prstGeom prst="rect">
            <a:avLst/>
          </a:prstGeom>
          <a:noFill/>
        </p:spPr>
        <p:txBody>
          <a:bodyPr wrap="square" anchor="t" lIns="0" rIns="0" tIns="0" bIns="0"/>
          <a:lstStyle/>
          <a:p>
            <a:pPr algn="l">
              <a:lnSpc>
                <a:spcPct val="100000"/>
              </a:lnSpc>
              <a:spcAft>
                <a:spcPts val="0"/>
              </a:spcAft>
            </a:pPr>
            <a:r>
              <a:rPr sz="1800" b="1" i="0">
                <a:solidFill>
                  <a:srgbClr val="2E7D32"/>
                </a:solidFill>
                <a:latin typeface="Calibri"/>
              </a:rPr>
              <a:t>Fine on Monday</a:t>
            </a:r>
          </a:p>
        </p:txBody>
      </p:sp>
      <p:sp>
        <p:nvSpPr>
          <p:cNvPr id="19" name="TextBox 18"/>
          <p:cNvSpPr txBox="1"/>
          <p:nvPr/>
        </p:nvSpPr>
        <p:spPr>
          <a:xfrm>
            <a:off x="694944" y="3449116"/>
            <a:ext cx="5117439" cy="1080822"/>
          </a:xfrm>
          <a:prstGeom prst="rect">
            <a:avLst/>
          </a:prstGeom>
          <a:noFill/>
        </p:spPr>
        <p:txBody>
          <a:bodyPr wrap="square" anchor="t" lIns="0" rIns="0" tIns="0" bIns="0"/>
          <a:lstStyle/>
          <a:p>
            <a:pPr algn="l">
              <a:lnSpc>
                <a:spcPct val="112000"/>
              </a:lnSpc>
              <a:spcAft>
                <a:spcPts val="300"/>
              </a:spcAft>
            </a:pPr>
            <a:r>
              <a:rPr sz="1400" b="0" i="0">
                <a:solidFill>
                  <a:srgbClr val="1B2A4A"/>
                </a:solidFill>
                <a:latin typeface="Calibri"/>
              </a:rPr>
              <a:t>Claude or ChatGPT connected to a folder of public guidelines, or a synthetic / de-identified spreadsheet on your laptop.</a:t>
            </a:r>
          </a:p>
        </p:txBody>
      </p:sp>
      <p:sp>
        <p:nvSpPr>
          <p:cNvPr id="20" name="Rounded Rectangle 19"/>
          <p:cNvSpPr/>
          <p:nvPr/>
        </p:nvSpPr>
        <p:spPr>
          <a:xfrm>
            <a:off x="6233007" y="2880360"/>
            <a:ext cx="5410047" cy="1737360"/>
          </a:xfrm>
          <a:prstGeom prst="roundRect">
            <a:avLst>
              <a:gd name="adj" fmla="val 6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79311" y="3008376"/>
            <a:ext cx="5117439" cy="329184"/>
          </a:xfrm>
          <a:prstGeom prst="rect">
            <a:avLst/>
          </a:prstGeom>
          <a:noFill/>
        </p:spPr>
        <p:txBody>
          <a:bodyPr wrap="square" anchor="t" lIns="0" rIns="0" tIns="0" bIns="0"/>
          <a:lstStyle/>
          <a:p>
            <a:pPr algn="l">
              <a:lnSpc>
                <a:spcPct val="100000"/>
              </a:lnSpc>
              <a:spcAft>
                <a:spcPts val="0"/>
              </a:spcAft>
            </a:pPr>
            <a:r>
              <a:rPr sz="1800" b="1" i="0">
                <a:solidFill>
                  <a:srgbClr val="C62828"/>
                </a:solidFill>
                <a:latin typeface="Calibri"/>
              </a:rPr>
              <a:t>Not this week</a:t>
            </a:r>
          </a:p>
        </p:txBody>
      </p:sp>
      <p:sp>
        <p:nvSpPr>
          <p:cNvPr id="22" name="TextBox 21"/>
          <p:cNvSpPr txBox="1"/>
          <p:nvPr/>
        </p:nvSpPr>
        <p:spPr>
          <a:xfrm>
            <a:off x="6379311" y="3449116"/>
            <a:ext cx="5117439" cy="1080822"/>
          </a:xfrm>
          <a:prstGeom prst="rect">
            <a:avLst/>
          </a:prstGeom>
          <a:noFill/>
        </p:spPr>
        <p:txBody>
          <a:bodyPr wrap="square" anchor="t" lIns="0" rIns="0" tIns="0" bIns="0"/>
          <a:lstStyle/>
          <a:p>
            <a:pPr algn="l">
              <a:lnSpc>
                <a:spcPct val="112000"/>
              </a:lnSpc>
              <a:spcAft>
                <a:spcPts val="300"/>
              </a:spcAft>
            </a:pPr>
            <a:r>
              <a:rPr sz="1400" b="0" i="0">
                <a:solidFill>
                  <a:srgbClr val="1B2A4A"/>
                </a:solidFill>
                <a:latin typeface="Calibri"/>
              </a:rPr>
              <a:t>A live EMR, a pharmacy system, or anyone’s real inbox, plugged into a consumer chat. That is an IT project, not a conference demo.</a:t>
            </a:r>
          </a:p>
        </p:txBody>
      </p:sp>
      <p:sp>
        <p:nvSpPr>
          <p:cNvPr id="23" name="Rounded Rectangle 22"/>
          <p:cNvSpPr/>
          <p:nvPr/>
        </p:nvSpPr>
        <p:spPr>
          <a:xfrm>
            <a:off x="548640" y="4846320"/>
            <a:ext cx="11094415" cy="5486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4846320"/>
            <a:ext cx="73152" cy="54864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4846320"/>
            <a:ext cx="10774375" cy="54864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A connector inherits your access — that is the point and the risk.</a:t>
            </a:r>
          </a:p>
        </p:txBody>
      </p:sp>
      <p:sp>
        <p:nvSpPr>
          <p:cNvPr id="26" name="Rounded Rectangle 25"/>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patient list — names, MRNs, dates of birth — into a consumer AI tool, even through a connector.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c4ccd982-eb4a-4264-a21f-7de826bf685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42</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LIVE ON THE SITE: CLAUDE HAIKU 4.5 WITH AND WITHOUT THE MEDICAL-TERMINOLOGIES PLUG</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Same question, two Claudes</a:t>
            </a:r>
          </a:p>
        </p:txBody>
      </p:sp>
      <p:sp>
        <p:nvSpPr>
          <p:cNvPr id="16" name="Rounded Rectangle 15"/>
          <p:cNvSpPr/>
          <p:nvPr/>
        </p:nvSpPr>
        <p:spPr>
          <a:xfrm>
            <a:off x="548640" y="1892808"/>
            <a:ext cx="11094415" cy="73152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1965960"/>
            <a:ext cx="1083838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 — SENT TO BOTH PANES</a:t>
            </a:r>
          </a:p>
        </p:txBody>
      </p:sp>
      <p:sp>
        <p:nvSpPr>
          <p:cNvPr id="18" name="TextBox 17"/>
          <p:cNvSpPr txBox="1"/>
          <p:nvPr/>
        </p:nvSpPr>
        <p:spPr>
          <a:xfrm>
            <a:off x="676656" y="2185416"/>
            <a:ext cx="10838383" cy="36576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What is the ICD-11 code for febrile neutropenia, and the RxNorm name for the first-line antipseudomonal we would use with a penicillin rash?</a:t>
            </a:r>
          </a:p>
        </p:txBody>
      </p:sp>
      <p:sp>
        <p:nvSpPr>
          <p:cNvPr id="19" name="Rounded Rectangle 18"/>
          <p:cNvSpPr/>
          <p:nvPr/>
        </p:nvSpPr>
        <p:spPr>
          <a:xfrm>
            <a:off x="548640" y="2761488"/>
            <a:ext cx="5410047" cy="18288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 y="2834640"/>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HAIKU — NO PLUG</a:t>
            </a:r>
          </a:p>
        </p:txBody>
      </p:sp>
      <p:sp>
        <p:nvSpPr>
          <p:cNvPr id="21" name="TextBox 20"/>
          <p:cNvSpPr txBox="1"/>
          <p:nvPr/>
        </p:nvSpPr>
        <p:spPr>
          <a:xfrm>
            <a:off x="676656" y="3054096"/>
            <a:ext cx="5154015" cy="146304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Recalls from memory. Gives a plausible-looking code and a drug name. No lookup happens. You cannot tell from the answer whether the code is current.</a:t>
            </a:r>
          </a:p>
        </p:txBody>
      </p:sp>
      <p:sp>
        <p:nvSpPr>
          <p:cNvPr id="22" name="Rounded Rectangle 21"/>
          <p:cNvSpPr/>
          <p:nvPr/>
        </p:nvSpPr>
        <p:spPr>
          <a:xfrm>
            <a:off x="6233007" y="2761488"/>
            <a:ext cx="5410047" cy="18288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61023" y="2834640"/>
            <a:ext cx="5154015"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HAIKU + MEDICAL-TERMINOLOGIES MCP</a:t>
            </a:r>
          </a:p>
        </p:txBody>
      </p:sp>
      <p:sp>
        <p:nvSpPr>
          <p:cNvPr id="24" name="TextBox 23"/>
          <p:cNvSpPr txBox="1"/>
          <p:nvPr/>
        </p:nvSpPr>
        <p:spPr>
          <a:xfrm>
            <a:off x="6361023" y="3054096"/>
            <a:ext cx="5154015" cy="146304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Calls a named tool for ICD-11 and one for RxNorm. Shows the tool call, then the answer built from what came back. You can open the same code in the source.</a:t>
            </a:r>
          </a:p>
        </p:txBody>
      </p:sp>
      <p:pic>
        <p:nvPicPr>
          <p:cNvPr id="25" name="Picture 24" descr="medical-terminologies-mcp.png"/>
          <p:cNvPicPr>
            <a:picLocks noChangeAspect="1"/>
          </p:cNvPicPr>
          <p:nvPr/>
        </p:nvPicPr>
        <p:blipFill>
          <a:blip r:embed="rId4"/>
          <a:stretch>
            <a:fillRect/>
          </a:stretch>
        </p:blipFill>
        <p:spPr>
          <a:xfrm>
            <a:off x="2091397" y="4727448"/>
            <a:ext cx="2400886" cy="1280160"/>
          </a:xfrm>
          <a:prstGeom prst="rect">
            <a:avLst/>
          </a:prstGeom>
          <a:ln w="9525">
            <a:solidFill>
              <a:srgbClr val="E0E0E0"/>
            </a:solidFill>
          </a:ln>
        </p:spPr>
      </p:pic>
      <p:sp>
        <p:nvSpPr>
          <p:cNvPr id="26" name="TextBox 25"/>
          <p:cNvSpPr txBox="1"/>
          <p:nvPr/>
        </p:nvSpPr>
        <p:spPr>
          <a:xfrm>
            <a:off x="6309360" y="4727448"/>
            <a:ext cx="5333695" cy="12801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One connector, seven code systems: ICD-11, LOINC, RxNorm, MeSH, ATC, CID-10, and SNOMED CT if you host it. github.com/SidneyBissoli/medical-terminologies-mcp. Watch which side looks a code up.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4 · 00:29</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4-mc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ee804143-ca46-4638-81be-d2c051c6a6e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E65100"/>
                </a:solidFill>
                <a:latin typeface="Calibri"/>
              </a:rPr>
              <a:t>COMMUNITY CONNECTORS, NOT A KHCC INSTALL LIST · CATALOGUE: GITHUB.COM/SUNANHE/AWESOME-MEDICAL-MCP-SERVERS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Medical MCP examples</a:t>
            </a:r>
          </a:p>
        </p:txBody>
      </p:sp>
      <p:graphicFrame>
        <p:nvGraphicFramePr>
          <p:cNvPr id="16" name="Table 15"/>
          <p:cNvGraphicFramePr>
            <a:graphicFrameLocks noGrp="1"/>
          </p:cNvGraphicFramePr>
          <p:nvPr/>
        </p:nvGraphicFramePr>
        <p:xfrm>
          <a:off x="548640" y="1892808"/>
          <a:ext cx="11094414" cy="3401568"/>
        </p:xfrm>
        <a:graphic>
          <a:graphicData uri="http://schemas.openxmlformats.org/drawingml/2006/table">
            <a:tbl>
              <a:tblPr firstRow="1" bandRow="1">
                <a:tableStyleId>{5C22544A-7EE6-4342-B048-85BDC9FD1C3A}</a:tableStyleId>
              </a:tblPr>
              <a:tblGrid>
                <a:gridCol w="2335666"/>
                <a:gridCol w="6812360"/>
                <a:gridCol w="1946388"/>
              </a:tblGrid>
              <a:tr h="566928">
                <a:tc>
                  <a:txBody>
                    <a:bodyPr wrap="square"/>
                    <a:lstStyle/>
                    <a:p>
                      <a:r>
                        <a:rPr sz="1100" b="1" i="0">
                          <a:solidFill>
                            <a:srgbClr val="FFFFFF"/>
                          </a:solidFill>
                          <a:latin typeface="Calibri"/>
                        </a:rPr>
                        <a:t>Group</a:t>
                      </a:r>
                    </a:p>
                  </a:txBody>
                  <a:tcPr marL="73152" marR="73152" marT="36576" marB="36576" anchor="ctr">
                    <a:solidFill>
                      <a:srgbClr val="E65100"/>
                    </a:solidFill>
                  </a:tcPr>
                </a:tc>
                <a:tc>
                  <a:txBody>
                    <a:bodyPr wrap="square"/>
                    <a:lstStyle/>
                    <a:p>
                      <a:r>
                        <a:rPr sz="1100" b="1" i="0">
                          <a:solidFill>
                            <a:srgbClr val="FFFFFF"/>
                          </a:solidFill>
                          <a:latin typeface="Calibri"/>
                        </a:rPr>
                        <a:t>Examples</a:t>
                      </a:r>
                    </a:p>
                  </a:txBody>
                  <a:tcPr marL="73152" marR="73152" marT="36576" marB="36576" anchor="ctr">
                    <a:solidFill>
                      <a:srgbClr val="E65100"/>
                    </a:solidFill>
                  </a:tcPr>
                </a:tc>
                <a:tc>
                  <a:txBody>
                    <a:bodyPr wrap="square"/>
                    <a:lstStyle/>
                    <a:p>
                      <a:r>
                        <a:rPr sz="1100" b="1" i="0">
                          <a:solidFill>
                            <a:srgbClr val="FFFFFF"/>
                          </a:solidFill>
                          <a:latin typeface="Calibri"/>
                        </a:rPr>
                        <a:t>Try where?</a:t>
                      </a:r>
                    </a:p>
                  </a:txBody>
                  <a:tcPr marL="73152" marR="73152" marT="36576" marB="36576" anchor="ctr">
                    <a:solidFill>
                      <a:srgbClr val="E65100"/>
                    </a:solidFill>
                  </a:tcPr>
                </a:tc>
              </a:tr>
              <a:tr h="566928">
                <a:tc>
                  <a:txBody>
                    <a:bodyPr wrap="square"/>
                    <a:lstStyle/>
                    <a:p>
                      <a:r>
                        <a:rPr sz="1100" b="1" i="0">
                          <a:solidFill>
                            <a:srgbClr val="1B2A4A"/>
                          </a:solidFill>
                          <a:latin typeface="Calibri"/>
                        </a:rPr>
                        <a:t>Literature and evidence</a:t>
                      </a:r>
                    </a:p>
                  </a:txBody>
                  <a:tcPr marL="73152" marR="73152" marT="36576" marB="36576" anchor="ctr">
                    <a:solidFill>
                      <a:srgbClr val="FFFFFF"/>
                    </a:solidFill>
                  </a:tcPr>
                </a:tc>
                <a:tc>
                  <a:txBody>
                    <a:bodyPr wrap="square"/>
                    <a:lstStyle/>
                    <a:p>
                      <a:r>
                        <a:rPr sz="1100" b="0" i="0">
                          <a:solidFill>
                            <a:srgbClr val="1B2A4A"/>
                          </a:solidFill>
                          <a:latin typeface="Calibri"/>
                        </a:rPr>
                        <a:t>mcp-simple-pubmed · pubmedmcp · mcp-pubmed-server · medrxiv-mcp-server · medadapt-content-server</a:t>
                      </a:r>
                    </a:p>
                  </a:txBody>
                  <a:tcPr marL="73152" marR="73152" marT="36576" marB="36576" anchor="ctr">
                    <a:solidFill>
                      <a:srgbClr val="FFFFFF"/>
                    </a:solidFill>
                  </a:tcPr>
                </a:tc>
                <a:tc>
                  <a:txBody>
                    <a:bodyPr wrap="square"/>
                    <a:lstStyle/>
                    <a:p>
                      <a:r>
                        <a:rPr sz="1100" b="0" i="0">
                          <a:solidFill>
                            <a:srgbClr val="1B2A4A"/>
                          </a:solidFill>
                          <a:latin typeface="Calibri"/>
                        </a:rPr>
                        <a:t>Your laptop</a:t>
                      </a:r>
                    </a:p>
                  </a:txBody>
                  <a:tcPr marL="73152" marR="73152" marT="36576" marB="36576" anchor="ctr">
                    <a:solidFill>
                      <a:srgbClr val="E7F6EC"/>
                    </a:solidFill>
                  </a:tcPr>
                </a:tc>
              </a:tr>
              <a:tr h="566928">
                <a:tc>
                  <a:txBody>
                    <a:bodyPr wrap="square"/>
                    <a:lstStyle/>
                    <a:p>
                      <a:r>
                        <a:rPr sz="1100" b="1" i="0">
                          <a:solidFill>
                            <a:srgbClr val="1B2A4A"/>
                          </a:solidFill>
                          <a:latin typeface="Calibri"/>
                        </a:rPr>
                        <a:t>Guidelines and decision support</a:t>
                      </a:r>
                    </a:p>
                  </a:txBody>
                  <a:tcPr marL="73152" marR="73152" marT="36576" marB="36576" anchor="ctr">
                    <a:solidFill>
                      <a:srgbClr val="FAFBFD"/>
                    </a:solidFill>
                  </a:tcPr>
                </a:tc>
                <a:tc>
                  <a:txBody>
                    <a:bodyPr wrap="square"/>
                    <a:lstStyle/>
                    <a:p>
                      <a:r>
                        <a:rPr sz="1100" b="0" i="0">
                          <a:solidFill>
                            <a:srgbClr val="1B2A4A"/>
                          </a:solidFill>
                          <a:latin typeface="Calibri"/>
                        </a:rPr>
                        <a:t>medical-terminologies-mcp (ICD-11, LOINC, RxNorm, MeSH, ATC) · chris-lovejoy/medical-mcp (NICE) · Medical_calculator_MCP · JamesANZ/medical-mcp (FDA, WHO, PubMed)</a:t>
                      </a:r>
                    </a:p>
                  </a:txBody>
                  <a:tcPr marL="73152" marR="73152" marT="36576" marB="36576" anchor="ctr">
                    <a:solidFill>
                      <a:srgbClr val="FAFBFD"/>
                    </a:solidFill>
                  </a:tcPr>
                </a:tc>
                <a:tc>
                  <a:txBody>
                    <a:bodyPr wrap="square"/>
                    <a:lstStyle/>
                    <a:p>
                      <a:r>
                        <a:rPr sz="1100" b="0" i="0">
                          <a:solidFill>
                            <a:srgbClr val="1B2A4A"/>
                          </a:solidFill>
                          <a:latin typeface="Calibri"/>
                        </a:rPr>
                        <a:t>Your laptop</a:t>
                      </a:r>
                    </a:p>
                  </a:txBody>
                  <a:tcPr marL="73152" marR="73152" marT="36576" marB="36576" anchor="ctr">
                    <a:solidFill>
                      <a:srgbClr val="E7F6EC"/>
                    </a:solidFill>
                  </a:tcPr>
                </a:tc>
              </a:tr>
              <a:tr h="566928">
                <a:tc>
                  <a:txBody>
                    <a:bodyPr wrap="square"/>
                    <a:lstStyle/>
                    <a:p>
                      <a:r>
                        <a:rPr sz="1100" b="1" i="0">
                          <a:solidFill>
                            <a:srgbClr val="1B2A4A"/>
                          </a:solidFill>
                          <a:latin typeface="Calibri"/>
                        </a:rPr>
                        <a:t>Records (FHIR, EMR)</a:t>
                      </a:r>
                    </a:p>
                  </a:txBody>
                  <a:tcPr marL="73152" marR="73152" marT="36576" marB="36576" anchor="ctr">
                    <a:solidFill>
                      <a:srgbClr val="FFFFFF"/>
                    </a:solidFill>
                  </a:tcPr>
                </a:tc>
                <a:tc>
                  <a:txBody>
                    <a:bodyPr wrap="square"/>
                    <a:lstStyle/>
                    <a:p>
                      <a:r>
                        <a:rPr sz="1100" b="0" i="0">
                          <a:solidFill>
                            <a:srgbClr val="1B2A4A"/>
                          </a:solidFill>
                          <a:latin typeface="Calibri"/>
                        </a:rPr>
                        <a:t>agentcare-mcp / langcare-mcp-fhir · wso2/fhir-mcp-server · openehr-mcp-server · FHIR care-plan toolkits</a:t>
                      </a:r>
                    </a:p>
                  </a:txBody>
                  <a:tcPr marL="73152" marR="73152" marT="36576" marB="36576" anchor="ctr">
                    <a:solidFill>
                      <a:srgbClr val="FFFFFF"/>
                    </a:solidFill>
                  </a:tcPr>
                </a:tc>
                <a:tc>
                  <a:txBody>
                    <a:bodyPr wrap="square"/>
                    <a:lstStyle/>
                    <a:p>
                      <a:r>
                        <a:rPr sz="1100" b="0" i="0">
                          <a:solidFill>
                            <a:srgbClr val="1B2A4A"/>
                          </a:solidFill>
                          <a:latin typeface="Calibri"/>
                        </a:rPr>
                        <a:t>IT, not a conference laptop</a:t>
                      </a:r>
                    </a:p>
                  </a:txBody>
                  <a:tcPr marL="73152" marR="73152" marT="36576" marB="36576" anchor="ctr">
                    <a:solidFill>
                      <a:srgbClr val="FDECEA"/>
                    </a:solidFill>
                  </a:tcPr>
                </a:tc>
              </a:tr>
              <a:tr h="566928">
                <a:tc>
                  <a:txBody>
                    <a:bodyPr wrap="square"/>
                    <a:lstStyle/>
                    <a:p>
                      <a:r>
                        <a:rPr sz="1100" b="1" i="0">
                          <a:solidFill>
                            <a:srgbClr val="1B2A4A"/>
                          </a:solidFill>
                          <a:latin typeface="Calibri"/>
                        </a:rPr>
                        <a:t>Imaging and radiology</a:t>
                      </a:r>
                    </a:p>
                  </a:txBody>
                  <a:tcPr marL="73152" marR="73152" marT="36576" marB="36576" anchor="ctr">
                    <a:solidFill>
                      <a:srgbClr val="FAFBFD"/>
                    </a:solidFill>
                  </a:tcPr>
                </a:tc>
                <a:tc>
                  <a:txBody>
                    <a:bodyPr wrap="square"/>
                    <a:lstStyle/>
                    <a:p>
                      <a:r>
                        <a:rPr sz="1100" b="0" i="0">
                          <a:solidFill>
                            <a:srgbClr val="1B2A4A"/>
                          </a:solidFill>
                          <a:latin typeface="Calibri"/>
                        </a:rPr>
                        <a:t>dicom-mcp · dicom-mcp-server · mcp-slicer (3D Slicer)</a:t>
                      </a:r>
                    </a:p>
                  </a:txBody>
                  <a:tcPr marL="73152" marR="73152" marT="36576" marB="36576" anchor="ctr">
                    <a:solidFill>
                      <a:srgbClr val="FAFBFD"/>
                    </a:solidFill>
                  </a:tcPr>
                </a:tc>
                <a:tc>
                  <a:txBody>
                    <a:bodyPr wrap="square"/>
                    <a:lstStyle/>
                    <a:p>
                      <a:r>
                        <a:rPr sz="1100" b="0" i="0">
                          <a:solidFill>
                            <a:srgbClr val="1B2A4A"/>
                          </a:solidFill>
                          <a:latin typeface="Calibri"/>
                        </a:rPr>
                        <a:t>IT / PACS team</a:t>
                      </a:r>
                    </a:p>
                  </a:txBody>
                  <a:tcPr marL="73152" marR="73152" marT="36576" marB="36576" anchor="ctr">
                    <a:solidFill>
                      <a:srgbClr val="FDECEA"/>
                    </a:solidFill>
                  </a:tcPr>
                </a:tc>
              </a:tr>
              <a:tr h="566928">
                <a:tc>
                  <a:txBody>
                    <a:bodyPr wrap="square"/>
                    <a:lstStyle/>
                    <a:p>
                      <a:r>
                        <a:rPr sz="1100" b="1" i="0">
                          <a:solidFill>
                            <a:srgbClr val="1B2A4A"/>
                          </a:solidFill>
                          <a:latin typeface="Calibri"/>
                        </a:rPr>
                        <a:t>Biomedical databases, trials, terms</a:t>
                      </a:r>
                    </a:p>
                  </a:txBody>
                  <a:tcPr marL="73152" marR="73152" marT="36576" marB="36576" anchor="ctr">
                    <a:solidFill>
                      <a:srgbClr val="FFFFFF"/>
                    </a:solidFill>
                  </a:tcPr>
                </a:tc>
                <a:tc>
                  <a:txBody>
                    <a:bodyPr wrap="square"/>
                    <a:lstStyle/>
                    <a:p>
                      <a:r>
                        <a:rPr sz="1100" b="0" i="0">
                          <a:solidFill>
                            <a:srgbClr val="1B2A4A"/>
                          </a:solidFill>
                          <a:latin typeface="Calibri"/>
                        </a:rPr>
                        <a:t>pascalwhoop/medical-mcps (100+ tools) · bio-mcp · clinicaltrialsgov-mcp-server · fhir-mcp-suite · Keragon (commercial)</a:t>
                      </a:r>
                    </a:p>
                  </a:txBody>
                  <a:tcPr marL="73152" marR="73152" marT="36576" marB="36576" anchor="ctr">
                    <a:solidFill>
                      <a:srgbClr val="FFFFFF"/>
                    </a:solidFill>
                  </a:tcPr>
                </a:tc>
                <a:tc>
                  <a:txBody>
                    <a:bodyPr wrap="square"/>
                    <a:lstStyle/>
                    <a:p>
                      <a:r>
                        <a:rPr sz="1100" b="0" i="0">
                          <a:solidFill>
                            <a:srgbClr val="1B2A4A"/>
                          </a:solidFill>
                          <a:latin typeface="Calibri"/>
                        </a:rPr>
                        <a:t>Public ones on a laptop</a:t>
                      </a:r>
                    </a:p>
                  </a:txBody>
                  <a:tcPr marL="73152" marR="73152" marT="36576" marB="36576" anchor="ctr">
                    <a:solidFill>
                      <a:srgbClr val="FFFFFF"/>
                    </a:solidFill>
                  </a:tcPr>
                </a:tc>
              </a:tr>
            </a:tbl>
          </a:graphicData>
        </a:graphic>
      </p:graphicFrame>
      <p:sp>
        <p:nvSpPr>
          <p:cNvPr id="17" name="TextBox 16"/>
          <p:cNvSpPr txBox="1"/>
          <p:nvPr/>
        </p:nvSpPr>
        <p:spPr>
          <a:xfrm>
            <a:off x="548640" y="5367528"/>
            <a:ext cx="11094415" cy="45720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Public literature plugs are the ones you can try on a laptop. Anything that touches an EMR, PACS, or real identifiers stays with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6D4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5</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5  ·  00:34</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CLAUDE.md —
the kitchen contract</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Standing orders for a folder. Five policies in. A wiki and a quality review out.</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5-5-claude-md.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02d32966-d738-40d2-8a61-7fca8464b0eb}" type="datetime9">
              <a:rPr lang="en-US" sz="1400" b="1" dirty="0" smtClean="0">
                <a:solidFill>
                  <a:srgbClr val="FFFFFF"/>
                </a:solidFill>
                <a:latin typeface="Calibri"/>
              </a:rPr>
              <a:t>1:04 AM</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5 · 00:34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5-claude-m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01b9787-daf5-4b66-b011-a7af62df3d98}"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D4C41"/>
                </a:solidFill>
                <a:latin typeface="Calibri"/>
              </a:rPr>
              <a:t>THE ROBOT IS NOT THE POINT. THE BOOK ON THE LEFT IS.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One picture, then the names</a:t>
            </a:r>
          </a:p>
        </p:txBody>
      </p:sp>
      <p:pic>
        <p:nvPicPr>
          <p:cNvPr id="16" name="Picture 15" descr="kitchen.jpg"/>
          <p:cNvPicPr>
            <a:picLocks noChangeAspect="1"/>
          </p:cNvPicPr>
          <p:nvPr/>
        </p:nvPicPr>
        <p:blipFill>
          <a:blip r:embed="rId4"/>
          <a:stretch>
            <a:fillRect/>
          </a:stretch>
        </p:blipFill>
        <p:spPr>
          <a:xfrm>
            <a:off x="548640" y="1928277"/>
            <a:ext cx="6766560" cy="3687246"/>
          </a:xfrm>
          <a:prstGeom prst="rect">
            <a:avLst/>
          </a:prstGeom>
          <a:ln w="9525">
            <a:solidFill>
              <a:srgbClr val="E0E0E0"/>
            </a:solidFill>
          </a:ln>
        </p:spPr>
      </p:pic>
      <p:sp>
        <p:nvSpPr>
          <p:cNvPr id="17" name="Rounded Rectangle 16"/>
          <p:cNvSpPr/>
          <p:nvPr/>
        </p:nvSpPr>
        <p:spPr>
          <a:xfrm>
            <a:off x="7589520" y="1920240"/>
            <a:ext cx="4053535" cy="841248"/>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99248" y="2011679"/>
            <a:ext cx="3834079"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The book</a:t>
            </a:r>
          </a:p>
        </p:txBody>
      </p:sp>
      <p:sp>
        <p:nvSpPr>
          <p:cNvPr id="19" name="TextBox 18"/>
          <p:cNvSpPr txBox="1"/>
          <p:nvPr/>
        </p:nvSpPr>
        <p:spPr>
          <a:xfrm>
            <a:off x="7699248" y="2364637"/>
            <a:ext cx="3834079" cy="331015"/>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CLAUDE.md — the contract. Standing orders read at the start of every session. You do not re-explain the job.</a:t>
            </a:r>
          </a:p>
        </p:txBody>
      </p:sp>
      <p:sp>
        <p:nvSpPr>
          <p:cNvPr id="20" name="Rectangle 19"/>
          <p:cNvSpPr/>
          <p:nvPr/>
        </p:nvSpPr>
        <p:spPr>
          <a:xfrm>
            <a:off x="7589520" y="1920240"/>
            <a:ext cx="73152" cy="841248"/>
          </a:xfrm>
          <a:prstGeom prst="rect">
            <a:avLst/>
          </a:prstGeom>
          <a:solidFill>
            <a:srgbClr val="6D4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7589520" y="2852928"/>
            <a:ext cx="4053535" cy="841248"/>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99248" y="2944367"/>
            <a:ext cx="3834079"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The recipes</a:t>
            </a:r>
          </a:p>
        </p:txBody>
      </p:sp>
      <p:sp>
        <p:nvSpPr>
          <p:cNvPr id="23" name="TextBox 22"/>
          <p:cNvSpPr txBox="1"/>
          <p:nvPr/>
        </p:nvSpPr>
        <p:spPr>
          <a:xfrm>
            <a:off x="7699248" y="3297325"/>
            <a:ext cx="3834079" cy="331015"/>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Skills — Block 3.</a:t>
            </a:r>
          </a:p>
        </p:txBody>
      </p:sp>
      <p:sp>
        <p:nvSpPr>
          <p:cNvPr id="24" name="Rectangle 23"/>
          <p:cNvSpPr/>
          <p:nvPr/>
        </p:nvSpPr>
        <p:spPr>
          <a:xfrm>
            <a:off x="7589520" y="2852928"/>
            <a:ext cx="73152" cy="841248"/>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589520" y="3785616"/>
            <a:ext cx="4053535" cy="841248"/>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99248" y="3877055"/>
            <a:ext cx="3834079"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The appliances</a:t>
            </a:r>
          </a:p>
        </p:txBody>
      </p:sp>
      <p:sp>
        <p:nvSpPr>
          <p:cNvPr id="27" name="TextBox 26"/>
          <p:cNvSpPr txBox="1"/>
          <p:nvPr/>
        </p:nvSpPr>
        <p:spPr>
          <a:xfrm>
            <a:off x="7699248" y="4230013"/>
            <a:ext cx="3834079" cy="331015"/>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MCP — the plug, Block 4.</a:t>
            </a:r>
          </a:p>
        </p:txBody>
      </p:sp>
      <p:sp>
        <p:nvSpPr>
          <p:cNvPr id="28" name="Rectangle 27"/>
          <p:cNvSpPr/>
          <p:nvPr/>
        </p:nvSpPr>
        <p:spPr>
          <a:xfrm>
            <a:off x="7589520" y="3785616"/>
            <a:ext cx="73152" cy="841248"/>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7589520" y="4718304"/>
            <a:ext cx="4053535" cy="841248"/>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99248" y="4809743"/>
            <a:ext cx="3834079"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The ingredients</a:t>
            </a:r>
          </a:p>
        </p:txBody>
      </p:sp>
      <p:sp>
        <p:nvSpPr>
          <p:cNvPr id="31" name="TextBox 30"/>
          <p:cNvSpPr txBox="1"/>
          <p:nvPr/>
        </p:nvSpPr>
        <p:spPr>
          <a:xfrm>
            <a:off x="7699248" y="5162701"/>
            <a:ext cx="3834079" cy="331015"/>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Whatever you drop in the folder.</a:t>
            </a:r>
          </a:p>
        </p:txBody>
      </p:sp>
      <p:sp>
        <p:nvSpPr>
          <p:cNvPr id="32" name="Rectangle 31"/>
          <p:cNvSpPr/>
          <p:nvPr/>
        </p:nvSpPr>
        <p:spPr>
          <a:xfrm>
            <a:off x="7589520" y="4718304"/>
            <a:ext cx="73152" cy="841248"/>
          </a:xfrm>
          <a:prstGeom prst="rect">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5 · 00:34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5-claude-m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663f460-aa94-4f64-9755-4a0c94885da2}"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46</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D4C41"/>
                </a:solidFill>
                <a:latin typeface="Calibri"/>
              </a:rPr>
              <a:t>THE WHOLE BRIEF: READ THE FOLDER, MAKE A WIKI, WRITE A SUMMARY. DO NOT INVENT A RULE.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A short file, left in the project</a:t>
            </a:r>
          </a:p>
        </p:txBody>
      </p:sp>
      <p:sp>
        <p:nvSpPr>
          <p:cNvPr id="16" name="Rounded Rectangle 15"/>
          <p:cNvSpPr/>
          <p:nvPr/>
        </p:nvSpPr>
        <p:spPr>
          <a:xfrm>
            <a:off x="548640" y="1892808"/>
            <a:ext cx="6766560" cy="41148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1" i="0">
                <a:solidFill>
                  <a:srgbClr val="1B2A4A"/>
                </a:solidFill>
                <a:latin typeface="Consolas"/>
              </a:rPr>
              <a:t># Cedar Ward — standing orders</a:t>
            </a:r>
          </a:p>
          <a:p>
            <a:pPr algn="l">
              <a:lnSpc>
                <a:spcPct val="108000"/>
              </a:lnSpc>
              <a:spcAft>
                <a:spcPts val="0"/>
              </a:spcAft>
            </a:pPr>
            <a:r>
              <a:rPr sz="1100" b="0" i="0">
                <a:solidFill>
                  <a:srgbClr val="1B2A4A"/>
                </a:solidFill>
                <a:latin typeface="Consolas"/>
              </a:rPr>
              <a:t>You are the unit's second brain for written policy.</a:t>
            </a:r>
          </a:p>
          <a:p>
            <a:pPr algn="l">
              <a:lnSpc>
                <a:spcPct val="108000"/>
              </a:lnSpc>
              <a:spcAft>
                <a:spcPts val="0"/>
              </a:spcAft>
            </a:pPr>
            <a:r>
              <a:rPr sz="1100" b="0" i="0">
                <a:solidFill>
                  <a:srgbClr val="1B2A4A"/>
                </a:solidFill>
                <a:latin typeface="Consolas"/>
              </a:rPr>
              <a:t>This folder is a teaching copy. It is not KHCC policy.</a:t>
            </a:r>
          </a:p>
          <a:p>
            <a:pPr algn="l">
              <a:lnSpc>
                <a:spcPct val="108000"/>
              </a:lnSpc>
              <a:spcAft>
                <a:spcPts val="0"/>
              </a:spcAft>
            </a:pPr>
          </a:p>
          <a:p>
            <a:pPr algn="l">
              <a:lnSpc>
                <a:spcPct val="108000"/>
              </a:lnSpc>
              <a:spcAft>
                <a:spcPts val="0"/>
              </a:spcAft>
            </a:pPr>
            <a:r>
              <a:rPr sz="1100" b="1" i="0">
                <a:solidFill>
                  <a:srgbClr val="1B2A4A"/>
                </a:solidFill>
                <a:latin typeface="Consolas"/>
              </a:rPr>
              <a:t>## When files land in policies/</a:t>
            </a:r>
          </a:p>
          <a:p>
            <a:pPr algn="l">
              <a:lnSpc>
                <a:spcPct val="108000"/>
              </a:lnSpc>
              <a:spcAft>
                <a:spcPts val="0"/>
              </a:spcAft>
            </a:pPr>
            <a:r>
              <a:rPr sz="1100" b="0" i="0">
                <a:solidFill>
                  <a:srgbClr val="1B2A4A"/>
                </a:solidFill>
                <a:latin typeface="Consolas"/>
              </a:rPr>
              <a:t>1. Read every document, including appendices.</a:t>
            </a:r>
          </a:p>
          <a:p>
            <a:pPr algn="l">
              <a:lnSpc>
                <a:spcPct val="108000"/>
              </a:lnSpc>
              <a:spcAft>
                <a:spcPts val="0"/>
              </a:spcAft>
            </a:pPr>
            <a:r>
              <a:rPr sz="1100" b="0" i="0">
                <a:solidFill>
                  <a:srgbClr val="1B2A4A"/>
                </a:solidFill>
                <a:latin typeface="Consolas"/>
              </a:rPr>
              <a:t>2. Convert each into one wiki note in wiki/.</a:t>
            </a:r>
          </a:p>
          <a:p>
            <a:pPr algn="l">
              <a:lnSpc>
                <a:spcPct val="108000"/>
              </a:lnSpc>
              <a:spcAft>
                <a:spcPts val="0"/>
              </a:spcAft>
            </a:pPr>
            <a:r>
              <a:rPr sz="1100" b="0" i="0">
                <a:solidFill>
                  <a:srgbClr val="1B2A4A"/>
                </a:solidFill>
                <a:latin typeface="Consolas"/>
              </a:rPr>
              <a:t>3. Link notes wherever they share a topic.</a:t>
            </a:r>
          </a:p>
          <a:p>
            <a:pPr algn="l">
              <a:lnSpc>
                <a:spcPct val="108000"/>
              </a:lnSpc>
              <a:spcAft>
                <a:spcPts val="0"/>
              </a:spcAft>
            </a:pPr>
            <a:r>
              <a:rPr sz="1100" b="0" i="0">
                <a:solidFill>
                  <a:srgbClr val="1B2A4A"/>
                </a:solidFill>
                <a:latin typeface="Consolas"/>
              </a:rPr>
              <a:t>4. Write summary.html for the quality committee.</a:t>
            </a:r>
          </a:p>
          <a:p>
            <a:pPr algn="l">
              <a:lnSpc>
                <a:spcPct val="108000"/>
              </a:lnSpc>
              <a:spcAft>
                <a:spcPts val="0"/>
              </a:spcAft>
            </a:pPr>
          </a:p>
          <a:p>
            <a:pPr algn="l">
              <a:lnSpc>
                <a:spcPct val="108000"/>
              </a:lnSpc>
              <a:spcAft>
                <a:spcPts val="0"/>
              </a:spcAft>
            </a:pPr>
            <a:r>
              <a:rPr sz="1100" b="1" i="0">
                <a:solidFill>
                  <a:srgbClr val="1B2A4A"/>
                </a:solidFill>
                <a:latin typeface="Consolas"/>
              </a:rPr>
              <a:t>## The summary must include</a:t>
            </a:r>
          </a:p>
          <a:p>
            <a:pPr algn="l">
              <a:lnSpc>
                <a:spcPct val="108000"/>
              </a:lnSpc>
              <a:spcAft>
                <a:spcPts val="0"/>
              </a:spcAft>
            </a:pPr>
            <a:r>
              <a:rPr sz="1100" b="0" i="0">
                <a:solidFill>
                  <a:srgbClr val="1B2A4A"/>
                </a:solidFill>
                <a:latin typeface="Consolas"/>
              </a:rPr>
              <a:t>- Inventory of the documents</a:t>
            </a:r>
          </a:p>
          <a:p>
            <a:pPr algn="l">
              <a:lnSpc>
                <a:spcPct val="108000"/>
              </a:lnSpc>
              <a:spcAft>
                <a:spcPts val="0"/>
              </a:spcAft>
            </a:pPr>
            <a:r>
              <a:rPr sz="1100" b="0" i="0">
                <a:solidFill>
                  <a:srgbClr val="1B2A4A"/>
                </a:solidFill>
                <a:latin typeface="Consolas"/>
              </a:rPr>
              <a:t>- Contradictions, with the quoted sentences</a:t>
            </a:r>
          </a:p>
          <a:p>
            <a:pPr algn="l">
              <a:lnSpc>
                <a:spcPct val="108000"/>
              </a:lnSpc>
              <a:spcAft>
                <a:spcPts val="0"/>
              </a:spcAft>
            </a:pPr>
            <a:r>
              <a:rPr sz="1100" b="0" i="0">
                <a:solidFill>
                  <a:srgbClr val="1B2A4A"/>
                </a:solidFill>
                <a:latin typeface="Consolas"/>
              </a:rPr>
              <a:t>- Errors, duplications, and suggestions</a:t>
            </a:r>
          </a:p>
          <a:p>
            <a:pPr algn="l">
              <a:lnSpc>
                <a:spcPct val="108000"/>
              </a:lnSpc>
              <a:spcAft>
                <a:spcPts val="0"/>
              </a:spcAft>
            </a:pPr>
            <a:r>
              <a:rPr sz="1100" b="0" i="0">
                <a:solidFill>
                  <a:srgbClr val="1B2A4A"/>
                </a:solidFill>
                <a:latin typeface="Consolas"/>
              </a:rPr>
              <a:t>- Who should own each fix</a:t>
            </a:r>
          </a:p>
          <a:p>
            <a:pPr algn="l">
              <a:lnSpc>
                <a:spcPct val="108000"/>
              </a:lnSpc>
              <a:spcAft>
                <a:spcPts val="0"/>
              </a:spcAft>
            </a:pPr>
          </a:p>
          <a:p>
            <a:pPr algn="l">
              <a:lnSpc>
                <a:spcPct val="108000"/>
              </a:lnSpc>
              <a:spcAft>
                <a:spcPts val="0"/>
              </a:spcAft>
            </a:pPr>
            <a:r>
              <a:rPr sz="1100" b="1" i="0">
                <a:solidFill>
                  <a:srgbClr val="1B2A4A"/>
                </a:solidFill>
                <a:latin typeface="Consolas"/>
              </a:rPr>
              <a:t>## Hard rules</a:t>
            </a:r>
          </a:p>
          <a:p>
            <a:pPr algn="l">
              <a:lnSpc>
                <a:spcPct val="108000"/>
              </a:lnSpc>
              <a:spcAft>
                <a:spcPts val="0"/>
              </a:spcAft>
            </a:pPr>
            <a:r>
              <a:rPr sz="1100" b="0" i="0">
                <a:solidFill>
                  <a:srgbClr val="1B2A4A"/>
                </a:solidFill>
                <a:latin typeface="Consolas"/>
              </a:rPr>
              <a:t>- Do not invent a rule that is not in the files.</a:t>
            </a:r>
          </a:p>
          <a:p>
            <a:pPr algn="l">
              <a:lnSpc>
                <a:spcPct val="108000"/>
              </a:lnSpc>
              <a:spcAft>
                <a:spcPts val="0"/>
              </a:spcAft>
            </a:pPr>
            <a:r>
              <a:rPr sz="1100" b="0" i="0">
                <a:solidFill>
                  <a:srgbClr val="1B2A4A"/>
                </a:solidFill>
                <a:latin typeface="Consolas"/>
              </a:rPr>
              <a:t>- If you are unsure, say so.</a:t>
            </a:r>
          </a:p>
          <a:p>
            <a:pPr algn="l">
              <a:lnSpc>
                <a:spcPct val="108000"/>
              </a:lnSpc>
              <a:spcAft>
                <a:spcPts val="0"/>
              </a:spcAft>
            </a:pPr>
            <a:r>
              <a:rPr sz="1100" b="0" i="0">
                <a:solidFill>
                  <a:srgbClr val="1B2A4A"/>
                </a:solidFill>
                <a:latin typeface="Consolas"/>
              </a:rPr>
              <a:t>- Never paste a real patient name or MRN.</a:t>
            </a:r>
          </a:p>
        </p:txBody>
      </p:sp>
      <p:sp>
        <p:nvSpPr>
          <p:cNvPr id="17" name="TextBox 16"/>
          <p:cNvSpPr txBox="1"/>
          <p:nvPr/>
        </p:nvSpPr>
        <p:spPr>
          <a:xfrm>
            <a:off x="7589520" y="1938528"/>
            <a:ext cx="4053535" cy="4023360"/>
          </a:xfrm>
          <a:prstGeom prst="rect">
            <a:avLst/>
          </a:prstGeom>
          <a:noFill/>
        </p:spPr>
        <p:txBody>
          <a:bodyPr wrap="square" lIns="73152" rIns="73152" tIns="73152" bIns="73152"/>
          <a:lstStyle/>
          <a:p>
            <a:pPr marL="256032" indent="-256032">
              <a:lnSpc>
                <a:spcPct val="112000"/>
              </a:lnSpc>
              <a:spcAft>
                <a:spcPts val="1000"/>
              </a:spcAft>
              <a:buClr>
                <a:srgbClr val="EC008C"/>
              </a:buClr>
              <a:buFont typeface="Arial"/>
              <a:buChar char="•"/>
            </a:pPr>
            <a:r>
              <a:rPr sz="1500" b="0" i="0">
                <a:solidFill>
                  <a:srgbClr val="1B2A4A"/>
                </a:solidFill>
                <a:latin typeface="Calibri"/>
              </a:rPr>
              <a:t>Read at the start of every session — in Cowork or Claude Code.</a:t>
            </a:r>
          </a:p>
          <a:p>
            <a:pPr marL="256032" indent="-256032">
              <a:lnSpc>
                <a:spcPct val="112000"/>
              </a:lnSpc>
              <a:spcAft>
                <a:spcPts val="1000"/>
              </a:spcAft>
              <a:buClr>
                <a:srgbClr val="EC008C"/>
              </a:buClr>
              <a:buFont typeface="Arial"/>
              <a:buChar char="•"/>
            </a:pPr>
            <a:r>
              <a:rPr sz="1500" b="0" i="0">
                <a:solidFill>
                  <a:srgbClr val="1B2A4A"/>
                </a:solidFill>
                <a:latin typeface="Calibri"/>
              </a:rPr>
              <a:t>It names the job, the outputs, and the lines it must not cross.</a:t>
            </a:r>
          </a:p>
          <a:p>
            <a:pPr marL="256032" indent="-256032">
              <a:lnSpc>
                <a:spcPct val="112000"/>
              </a:lnSpc>
              <a:spcAft>
                <a:spcPts val="1000"/>
              </a:spcAft>
              <a:buClr>
                <a:srgbClr val="EC008C"/>
              </a:buClr>
              <a:buFont typeface="Arial"/>
              <a:buChar char="•"/>
            </a:pPr>
            <a:r>
              <a:rPr sz="1500" b="0" i="0">
                <a:solidFill>
                  <a:srgbClr val="1B2A4A"/>
                </a:solidFill>
                <a:latin typeface="Calibri"/>
              </a:rPr>
              <a:t>Skills are the recipes. MCP is the appliances. This is the book the chef follows every shift.</a:t>
            </a:r>
          </a:p>
          <a:p>
            <a:pPr marL="256032" indent="-256032">
              <a:lnSpc>
                <a:spcPct val="112000"/>
              </a:lnSpc>
              <a:spcAft>
                <a:spcPts val="1000"/>
              </a:spcAft>
              <a:buClr>
                <a:srgbClr val="EC008C"/>
              </a:buClr>
              <a:buFont typeface="Arial"/>
              <a:buChar char="•"/>
            </a:pPr>
            <a:r>
              <a:rPr sz="1500" b="0" i="0">
                <a:solidFill>
                  <a:srgbClr val="1B2A4A"/>
                </a:solidFill>
                <a:latin typeface="Calibri"/>
              </a:rPr>
              <a:t>Full file on the site: Block 5 → Open the full CLAUDE.md.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5 · 00:34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5-claude-m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27a40c3f-6065-49cf-a670-65c1d92ad26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D4C41"/>
                </a:solidFill>
                <a:latin typeface="Calibri"/>
              </a:rPr>
              <a:t>CEDAR WARD, RIVERSIDE CHILDREN’S CANCER CENTRE. MADE UP ON PURPOSE. THEY DO NOT AGREE WITH EACH OTHER.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Five policies, dropped in a folder</a:t>
            </a:r>
          </a:p>
        </p:txBody>
      </p:sp>
      <p:sp>
        <p:nvSpPr>
          <p:cNvPr id="16" name="Rounded Rectangle 15"/>
          <p:cNvSpPr/>
          <p:nvPr/>
        </p:nvSpPr>
        <p:spPr>
          <a:xfrm>
            <a:off x="548640" y="1938528"/>
            <a:ext cx="203600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066544"/>
            <a:ext cx="1743395"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POL-CW-01</a:t>
            </a:r>
          </a:p>
        </p:txBody>
      </p:sp>
      <p:sp>
        <p:nvSpPr>
          <p:cNvPr id="18" name="TextBox 17"/>
          <p:cNvSpPr txBox="1"/>
          <p:nvPr/>
        </p:nvSpPr>
        <p:spPr>
          <a:xfrm>
            <a:off x="694944" y="2286000"/>
            <a:ext cx="1743395" cy="329184"/>
          </a:xfrm>
          <a:prstGeom prst="rect">
            <a:avLst/>
          </a:prstGeom>
          <a:noFill/>
        </p:spPr>
        <p:txBody>
          <a:bodyPr wrap="square" anchor="t" lIns="0" rIns="0" tIns="0" bIns="0"/>
          <a:lstStyle/>
          <a:p>
            <a:pPr algn="l">
              <a:lnSpc>
                <a:spcPct val="100000"/>
              </a:lnSpc>
              <a:spcAft>
                <a:spcPts val="0"/>
              </a:spcAft>
            </a:pPr>
            <a:r>
              <a:rPr sz="1500" b="1" i="0">
                <a:solidFill>
                  <a:srgbClr val="1B2A4A"/>
                </a:solidFill>
                <a:latin typeface="Calibri"/>
              </a:rPr>
              <a:t>Febrile neutropenia</a:t>
            </a:r>
          </a:p>
        </p:txBody>
      </p:sp>
      <p:sp>
        <p:nvSpPr>
          <p:cNvPr id="19" name="TextBox 18"/>
          <p:cNvSpPr txBox="1"/>
          <p:nvPr/>
        </p:nvSpPr>
        <p:spPr>
          <a:xfrm>
            <a:off x="694944" y="2660904"/>
            <a:ext cx="1743395" cy="744322"/>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ID · Mar 2024 · ages 0–18</a:t>
            </a:r>
          </a:p>
        </p:txBody>
      </p:sp>
      <p:sp>
        <p:nvSpPr>
          <p:cNvPr id="20" name="Rounded Rectangle 19"/>
          <p:cNvSpPr/>
          <p:nvPr/>
        </p:nvSpPr>
        <p:spPr>
          <a:xfrm>
            <a:off x="2813243" y="1938528"/>
            <a:ext cx="203600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959547" y="2066544"/>
            <a:ext cx="1743395"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POL-CW-02</a:t>
            </a:r>
          </a:p>
        </p:txBody>
      </p:sp>
      <p:sp>
        <p:nvSpPr>
          <p:cNvPr id="22" name="TextBox 21"/>
          <p:cNvSpPr txBox="1"/>
          <p:nvPr/>
        </p:nvSpPr>
        <p:spPr>
          <a:xfrm>
            <a:off x="2959547" y="2286000"/>
            <a:ext cx="1743395" cy="329184"/>
          </a:xfrm>
          <a:prstGeom prst="rect">
            <a:avLst/>
          </a:prstGeom>
          <a:noFill/>
        </p:spPr>
        <p:txBody>
          <a:bodyPr wrap="square" anchor="t" lIns="0" rIns="0" tIns="0" bIns="0"/>
          <a:lstStyle/>
          <a:p>
            <a:pPr algn="l">
              <a:lnSpc>
                <a:spcPct val="100000"/>
              </a:lnSpc>
              <a:spcAft>
                <a:spcPts val="0"/>
              </a:spcAft>
            </a:pPr>
            <a:r>
              <a:rPr sz="1500" b="1" i="0">
                <a:solidFill>
                  <a:srgbClr val="1B2A4A"/>
                </a:solidFill>
                <a:latin typeface="Calibri"/>
              </a:rPr>
              <a:t>Central lines</a:t>
            </a:r>
          </a:p>
        </p:txBody>
      </p:sp>
      <p:sp>
        <p:nvSpPr>
          <p:cNvPr id="23" name="TextBox 22"/>
          <p:cNvSpPr txBox="1"/>
          <p:nvPr/>
        </p:nvSpPr>
        <p:spPr>
          <a:xfrm>
            <a:off x="2959547" y="2660904"/>
            <a:ext cx="1743395" cy="744322"/>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Vascular access · Jan 2026 · under 16</a:t>
            </a:r>
          </a:p>
        </p:txBody>
      </p:sp>
      <p:sp>
        <p:nvSpPr>
          <p:cNvPr id="24" name="Rounded Rectangle 23"/>
          <p:cNvSpPr/>
          <p:nvPr/>
        </p:nvSpPr>
        <p:spPr>
          <a:xfrm>
            <a:off x="5077846" y="1938528"/>
            <a:ext cx="203600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24150" y="2066544"/>
            <a:ext cx="1743395"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POL-CW-03</a:t>
            </a:r>
          </a:p>
        </p:txBody>
      </p:sp>
      <p:sp>
        <p:nvSpPr>
          <p:cNvPr id="26" name="TextBox 25"/>
          <p:cNvSpPr txBox="1"/>
          <p:nvPr/>
        </p:nvSpPr>
        <p:spPr>
          <a:xfrm>
            <a:off x="5224150" y="2286000"/>
            <a:ext cx="1743395" cy="329184"/>
          </a:xfrm>
          <a:prstGeom prst="rect">
            <a:avLst/>
          </a:prstGeom>
          <a:noFill/>
        </p:spPr>
        <p:txBody>
          <a:bodyPr wrap="square" anchor="t" lIns="0" rIns="0" tIns="0" bIns="0"/>
          <a:lstStyle/>
          <a:p>
            <a:pPr algn="l">
              <a:lnSpc>
                <a:spcPct val="100000"/>
              </a:lnSpc>
              <a:spcAft>
                <a:spcPts val="0"/>
              </a:spcAft>
            </a:pPr>
            <a:r>
              <a:rPr sz="1500" b="1" i="0">
                <a:solidFill>
                  <a:srgbClr val="1B2A4A"/>
                </a:solidFill>
                <a:latin typeface="Calibri"/>
              </a:rPr>
              <a:t>Visitors &amp; isolation</a:t>
            </a:r>
          </a:p>
        </p:txBody>
      </p:sp>
      <p:sp>
        <p:nvSpPr>
          <p:cNvPr id="27" name="TextBox 26"/>
          <p:cNvSpPr txBox="1"/>
          <p:nvPr/>
        </p:nvSpPr>
        <p:spPr>
          <a:xfrm>
            <a:off x="5224150" y="2660904"/>
            <a:ext cx="1743395" cy="744322"/>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IPC · Jun 2023 · review overdue</a:t>
            </a:r>
          </a:p>
        </p:txBody>
      </p:sp>
      <p:sp>
        <p:nvSpPr>
          <p:cNvPr id="28" name="Rounded Rectangle 27"/>
          <p:cNvSpPr/>
          <p:nvPr/>
        </p:nvSpPr>
        <p:spPr>
          <a:xfrm>
            <a:off x="7342449" y="1938528"/>
            <a:ext cx="203600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88753" y="2066544"/>
            <a:ext cx="1743395"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POL-CW-04</a:t>
            </a:r>
          </a:p>
        </p:txBody>
      </p:sp>
      <p:sp>
        <p:nvSpPr>
          <p:cNvPr id="30" name="TextBox 29"/>
          <p:cNvSpPr txBox="1"/>
          <p:nvPr/>
        </p:nvSpPr>
        <p:spPr>
          <a:xfrm>
            <a:off x="7488753" y="2286000"/>
            <a:ext cx="1743395" cy="329184"/>
          </a:xfrm>
          <a:prstGeom prst="rect">
            <a:avLst/>
          </a:prstGeom>
          <a:noFill/>
        </p:spPr>
        <p:txBody>
          <a:bodyPr wrap="square" anchor="t" lIns="0" rIns="0" tIns="0" bIns="0"/>
          <a:lstStyle/>
          <a:p>
            <a:pPr algn="l">
              <a:lnSpc>
                <a:spcPct val="100000"/>
              </a:lnSpc>
              <a:spcAft>
                <a:spcPts val="0"/>
              </a:spcAft>
            </a:pPr>
            <a:r>
              <a:rPr sz="1500" b="1" i="0">
                <a:solidFill>
                  <a:srgbClr val="1B2A4A"/>
                </a:solidFill>
                <a:latin typeface="Calibri"/>
              </a:rPr>
              <a:t>Chemo safety</a:t>
            </a:r>
          </a:p>
        </p:txBody>
      </p:sp>
      <p:sp>
        <p:nvSpPr>
          <p:cNvPr id="31" name="TextBox 30"/>
          <p:cNvSpPr txBox="1"/>
          <p:nvPr/>
        </p:nvSpPr>
        <p:spPr>
          <a:xfrm>
            <a:off x="7488753" y="2660904"/>
            <a:ext cx="1743395" cy="744322"/>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Pharmacy · Nov 2025 · ages 0–21</a:t>
            </a:r>
          </a:p>
        </p:txBody>
      </p:sp>
      <p:sp>
        <p:nvSpPr>
          <p:cNvPr id="32" name="Rounded Rectangle 31"/>
          <p:cNvSpPr/>
          <p:nvPr/>
        </p:nvSpPr>
        <p:spPr>
          <a:xfrm>
            <a:off x="9607052" y="1938528"/>
            <a:ext cx="203600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53356" y="2066544"/>
            <a:ext cx="1743395"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POL-CW-05</a:t>
            </a:r>
          </a:p>
        </p:txBody>
      </p:sp>
      <p:sp>
        <p:nvSpPr>
          <p:cNvPr id="34" name="TextBox 33"/>
          <p:cNvSpPr txBox="1"/>
          <p:nvPr/>
        </p:nvSpPr>
        <p:spPr>
          <a:xfrm>
            <a:off x="9753356" y="2286000"/>
            <a:ext cx="1743395" cy="329184"/>
          </a:xfrm>
          <a:prstGeom prst="rect">
            <a:avLst/>
          </a:prstGeom>
          <a:noFill/>
        </p:spPr>
        <p:txBody>
          <a:bodyPr wrap="square" anchor="t" lIns="0" rIns="0" tIns="0" bIns="0"/>
          <a:lstStyle/>
          <a:p>
            <a:pPr algn="l">
              <a:lnSpc>
                <a:spcPct val="100000"/>
              </a:lnSpc>
              <a:spcAft>
                <a:spcPts val="0"/>
              </a:spcAft>
            </a:pPr>
            <a:r>
              <a:rPr sz="1500" b="1" i="0">
                <a:solidFill>
                  <a:srgbClr val="1B2A4A"/>
                </a:solidFill>
                <a:latin typeface="Calibri"/>
              </a:rPr>
              <a:t>Discharge fever leaflet</a:t>
            </a:r>
          </a:p>
        </p:txBody>
      </p:sp>
      <p:sp>
        <p:nvSpPr>
          <p:cNvPr id="35" name="TextBox 34"/>
          <p:cNvSpPr txBox="1"/>
          <p:nvPr/>
        </p:nvSpPr>
        <p:spPr>
          <a:xfrm>
            <a:off x="9753356" y="2660904"/>
            <a:ext cx="1743395" cy="744322"/>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Nursing education · ID has not signed</a:t>
            </a:r>
          </a:p>
        </p:txBody>
      </p:sp>
      <p:sp>
        <p:nvSpPr>
          <p:cNvPr id="36" name="TextBox 35"/>
          <p:cNvSpPr txBox="1"/>
          <p:nvPr/>
        </p:nvSpPr>
        <p:spPr>
          <a:xfrm>
            <a:off x="548640" y="3767328"/>
            <a:ext cx="11094415" cy="274320"/>
          </a:xfrm>
          <a:prstGeom prst="rect">
            <a:avLst/>
          </a:prstGeom>
          <a:noFill/>
        </p:spPr>
        <p:txBody>
          <a:bodyPr wrap="square" anchor="t" lIns="0" rIns="0" tIns="0" bIns="0"/>
          <a:lstStyle/>
          <a:p>
            <a:pPr algn="l">
              <a:lnSpc>
                <a:spcPct val="115000"/>
              </a:lnSpc>
              <a:spcAft>
                <a:spcPts val="400"/>
              </a:spcAft>
            </a:pPr>
            <a:r>
              <a:rPr sz="1100" b="1" i="0">
                <a:solidFill>
                  <a:srgbClr val="6D4C41"/>
                </a:solidFill>
                <a:latin typeface="Calibri"/>
              </a:rPr>
              <a:t>WHAT THE MODEL FOUND</a:t>
            </a:r>
          </a:p>
        </p:txBody>
      </p:sp>
      <p:sp>
        <p:nvSpPr>
          <p:cNvPr id="37" name="Rounded Rectangle 36"/>
          <p:cNvSpPr/>
          <p:nvPr/>
        </p:nvSpPr>
        <p:spPr>
          <a:xfrm>
            <a:off x="548640" y="4087368"/>
            <a:ext cx="2602153" cy="1371600"/>
          </a:xfrm>
          <a:prstGeom prst="roundRect">
            <a:avLst>
              <a:gd name="adj" fmla="val 6000"/>
            </a:avLst>
          </a:prstGeom>
          <a:solidFill>
            <a:srgbClr val="F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94944" y="4215384"/>
            <a:ext cx="2309545" cy="329184"/>
          </a:xfrm>
          <a:prstGeom prst="rect">
            <a:avLst/>
          </a:prstGeom>
          <a:noFill/>
        </p:spPr>
        <p:txBody>
          <a:bodyPr wrap="square" anchor="t" lIns="0" rIns="0" tIns="0" bIns="0"/>
          <a:lstStyle/>
          <a:p>
            <a:pPr algn="l">
              <a:lnSpc>
                <a:spcPct val="100000"/>
              </a:lnSpc>
              <a:spcAft>
                <a:spcPts val="0"/>
              </a:spcAft>
            </a:pPr>
            <a:r>
              <a:rPr sz="1400" b="1" i="0">
                <a:solidFill>
                  <a:srgbClr val="EC008C"/>
                </a:solidFill>
                <a:latin typeface="Calibri"/>
              </a:rPr>
              <a:t>Three age bands</a:t>
            </a:r>
          </a:p>
        </p:txBody>
      </p:sp>
      <p:sp>
        <p:nvSpPr>
          <p:cNvPr id="39" name="TextBox 38"/>
          <p:cNvSpPr txBox="1"/>
          <p:nvPr/>
        </p:nvSpPr>
        <p:spPr>
          <a:xfrm>
            <a:off x="694944" y="4568342"/>
            <a:ext cx="2309545" cy="802844"/>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0–18, under 16, 0–21. Which ward is this?</a:t>
            </a:r>
          </a:p>
        </p:txBody>
      </p:sp>
      <p:sp>
        <p:nvSpPr>
          <p:cNvPr id="40" name="Rounded Rectangle 39"/>
          <p:cNvSpPr/>
          <p:nvPr/>
        </p:nvSpPr>
        <p:spPr>
          <a:xfrm>
            <a:off x="3379393" y="4087368"/>
            <a:ext cx="2602153" cy="1371600"/>
          </a:xfrm>
          <a:prstGeom prst="roundRect">
            <a:avLst>
              <a:gd name="adj" fmla="val 6000"/>
            </a:avLst>
          </a:prstGeom>
          <a:solidFill>
            <a:srgbClr val="F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525697" y="4215384"/>
            <a:ext cx="2309545" cy="329184"/>
          </a:xfrm>
          <a:prstGeom prst="rect">
            <a:avLst/>
          </a:prstGeom>
          <a:noFill/>
        </p:spPr>
        <p:txBody>
          <a:bodyPr wrap="square" anchor="t" lIns="0" rIns="0" tIns="0" bIns="0"/>
          <a:lstStyle/>
          <a:p>
            <a:pPr algn="l">
              <a:lnSpc>
                <a:spcPct val="100000"/>
              </a:lnSpc>
              <a:spcAft>
                <a:spcPts val="0"/>
              </a:spcAft>
            </a:pPr>
            <a:r>
              <a:rPr sz="1400" b="1" i="0">
                <a:solidFill>
                  <a:srgbClr val="EC008C"/>
                </a:solidFill>
                <a:latin typeface="Calibri"/>
              </a:rPr>
              <a:t>Two ANC cut-offs</a:t>
            </a:r>
          </a:p>
        </p:txBody>
      </p:sp>
      <p:sp>
        <p:nvSpPr>
          <p:cNvPr id="42" name="TextBox 41"/>
          <p:cNvSpPr txBox="1"/>
          <p:nvPr/>
        </p:nvSpPr>
        <p:spPr>
          <a:xfrm>
            <a:off x="3525697" y="4568342"/>
            <a:ext cx="2309545" cy="802844"/>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The policies disagree on who is neutropenic.</a:t>
            </a:r>
          </a:p>
        </p:txBody>
      </p:sp>
      <p:sp>
        <p:nvSpPr>
          <p:cNvPr id="43" name="Rounded Rectangle 42"/>
          <p:cNvSpPr/>
          <p:nvPr/>
        </p:nvSpPr>
        <p:spPr>
          <a:xfrm>
            <a:off x="6210147" y="4087368"/>
            <a:ext cx="2602153" cy="1371600"/>
          </a:xfrm>
          <a:prstGeom prst="roundRect">
            <a:avLst>
              <a:gd name="adj" fmla="val 6000"/>
            </a:avLst>
          </a:prstGeom>
          <a:solidFill>
            <a:srgbClr val="F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56451" y="4215384"/>
            <a:ext cx="2309545" cy="329184"/>
          </a:xfrm>
          <a:prstGeom prst="rect">
            <a:avLst/>
          </a:prstGeom>
          <a:noFill/>
        </p:spPr>
        <p:txBody>
          <a:bodyPr wrap="square" anchor="t" lIns="0" rIns="0" tIns="0" bIns="0"/>
          <a:lstStyle/>
          <a:p>
            <a:pPr algn="l">
              <a:lnSpc>
                <a:spcPct val="100000"/>
              </a:lnSpc>
              <a:spcAft>
                <a:spcPts val="0"/>
              </a:spcAft>
            </a:pPr>
            <a:r>
              <a:rPr sz="1400" b="1" i="0">
                <a:solidFill>
                  <a:srgbClr val="EC008C"/>
                </a:solidFill>
                <a:latin typeface="Calibri"/>
              </a:rPr>
              <a:t>Two first-line antibiotics</a:t>
            </a:r>
          </a:p>
        </p:txBody>
      </p:sp>
      <p:sp>
        <p:nvSpPr>
          <p:cNvPr id="45" name="TextBox 44"/>
          <p:cNvSpPr txBox="1"/>
          <p:nvPr/>
        </p:nvSpPr>
        <p:spPr>
          <a:xfrm>
            <a:off x="6356451" y="4568342"/>
            <a:ext cx="2309545" cy="802844"/>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Pharmacy and ID name different drugs.</a:t>
            </a:r>
          </a:p>
        </p:txBody>
      </p:sp>
      <p:sp>
        <p:nvSpPr>
          <p:cNvPr id="46" name="Rounded Rectangle 45"/>
          <p:cNvSpPr/>
          <p:nvPr/>
        </p:nvSpPr>
        <p:spPr>
          <a:xfrm>
            <a:off x="9040901" y="4087368"/>
            <a:ext cx="2602153" cy="1371600"/>
          </a:xfrm>
          <a:prstGeom prst="roundRect">
            <a:avLst>
              <a:gd name="adj" fmla="val 6000"/>
            </a:avLst>
          </a:prstGeom>
          <a:solidFill>
            <a:srgbClr val="F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87205" y="4215384"/>
            <a:ext cx="2309545" cy="329184"/>
          </a:xfrm>
          <a:prstGeom prst="rect">
            <a:avLst/>
          </a:prstGeom>
          <a:noFill/>
        </p:spPr>
        <p:txBody>
          <a:bodyPr wrap="square" anchor="t" lIns="0" rIns="0" tIns="0" bIns="0"/>
          <a:lstStyle/>
          <a:p>
            <a:pPr algn="l">
              <a:lnSpc>
                <a:spcPct val="100000"/>
              </a:lnSpc>
              <a:spcAft>
                <a:spcPts val="0"/>
              </a:spcAft>
            </a:pPr>
            <a:r>
              <a:rPr sz="1400" b="1" i="0">
                <a:solidFill>
                  <a:srgbClr val="EC008C"/>
                </a:solidFill>
                <a:latin typeface="Calibri"/>
              </a:rPr>
              <a:t>The leaflet says wait</a:t>
            </a:r>
          </a:p>
        </p:txBody>
      </p:sp>
      <p:sp>
        <p:nvSpPr>
          <p:cNvPr id="48" name="TextBox 47"/>
          <p:cNvSpPr txBox="1"/>
          <p:nvPr/>
        </p:nvSpPr>
        <p:spPr>
          <a:xfrm>
            <a:off x="9187205" y="4568342"/>
            <a:ext cx="2309545" cy="802844"/>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The family leaflet tells parents to wait until morning.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5 · 00:34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5-claude-m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426085e6-83f6-40b4-b1fe-66534016f2d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48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6D4C41"/>
                </a:solidFill>
                <a:latin typeface="Calibri"/>
              </a:rPr>
              <a:t>A WIKI NOTE IS NOT A REWRITE. IT IS THE RULES, THE LINKS, AND THE OPEN QUESTIONS.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Second brain — one note per file, linked</a:t>
            </a:r>
          </a:p>
        </p:txBody>
      </p:sp>
      <p:cxnSp>
        <p:nvCxnSpPr>
          <p:cNvPr id="16" name="Connector 15"/>
          <p:cNvCxnSpPr/>
          <p:nvPr/>
        </p:nvCxnSpPr>
        <p:spPr>
          <a:xfrm flipH="1" flipV="1">
            <a:off x="1188720" y="2304288"/>
            <a:ext cx="2377440" cy="1143000"/>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7160" y="1920240"/>
            <a:ext cx="2103120" cy="768096"/>
          </a:xfrm>
          <a:prstGeom prst="roundRect">
            <a:avLst>
              <a:gd name="adj" fmla="val 3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0"/>
              </a:spcAft>
            </a:pPr>
            <a:r>
              <a:rPr sz="1300" b="1" i="0">
                <a:solidFill>
                  <a:srgbClr val="1B2A4A"/>
                </a:solidFill>
                <a:latin typeface="Calibri"/>
              </a:rPr>
              <a:t>Central lines</a:t>
            </a:r>
          </a:p>
          <a:p>
            <a:pPr algn="ctr">
              <a:lnSpc>
                <a:spcPct val="115000"/>
              </a:lnSpc>
              <a:spcAft>
                <a:spcPts val="0"/>
              </a:spcAft>
            </a:pPr>
            <a:r>
              <a:rPr sz="1000" b="0" i="0">
                <a:solidFill>
                  <a:srgbClr val="607D8B"/>
                </a:solidFill>
                <a:latin typeface="Calibri"/>
              </a:rPr>
              <a:t>Heparin rule disagrees with itself</a:t>
            </a:r>
          </a:p>
        </p:txBody>
      </p:sp>
      <p:cxnSp>
        <p:nvCxnSpPr>
          <p:cNvPr id="18" name="Connector 17"/>
          <p:cNvCxnSpPr/>
          <p:nvPr/>
        </p:nvCxnSpPr>
        <p:spPr>
          <a:xfrm flipV="1">
            <a:off x="3566160" y="2304288"/>
            <a:ext cx="2377440" cy="1143000"/>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892040" y="1920240"/>
            <a:ext cx="2103120" cy="768096"/>
          </a:xfrm>
          <a:prstGeom prst="roundRect">
            <a:avLst>
              <a:gd name="adj" fmla="val 3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0"/>
              </a:spcAft>
            </a:pPr>
            <a:r>
              <a:rPr sz="1300" b="1" i="0">
                <a:solidFill>
                  <a:srgbClr val="1B2A4A"/>
                </a:solidFill>
                <a:latin typeface="Calibri"/>
              </a:rPr>
              <a:t>Visitors</a:t>
            </a:r>
          </a:p>
          <a:p>
            <a:pPr algn="ctr">
              <a:lnSpc>
                <a:spcPct val="115000"/>
              </a:lnSpc>
              <a:spcAft>
                <a:spcPts val="0"/>
              </a:spcAft>
            </a:pPr>
            <a:r>
              <a:rPr sz="1000" b="0" i="0">
                <a:solidFill>
                  <a:srgbClr val="607D8B"/>
                </a:solidFill>
                <a:latin typeface="Calibri"/>
              </a:rPr>
              <a:t>Review overdue · unlimited adults</a:t>
            </a:r>
          </a:p>
        </p:txBody>
      </p:sp>
      <p:cxnSp>
        <p:nvCxnSpPr>
          <p:cNvPr id="20" name="Connector 19"/>
          <p:cNvCxnSpPr/>
          <p:nvPr/>
        </p:nvCxnSpPr>
        <p:spPr>
          <a:xfrm flipH="1">
            <a:off x="1188720" y="3447288"/>
            <a:ext cx="2377440" cy="1143000"/>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37160" y="4206240"/>
            <a:ext cx="2103120" cy="768096"/>
          </a:xfrm>
          <a:prstGeom prst="roundRect">
            <a:avLst>
              <a:gd name="adj" fmla="val 3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0"/>
              </a:spcAft>
            </a:pPr>
            <a:r>
              <a:rPr sz="1300" b="1" i="0">
                <a:solidFill>
                  <a:srgbClr val="1B2A4A"/>
                </a:solidFill>
                <a:latin typeface="Calibri"/>
              </a:rPr>
              <a:t>Chemo safety</a:t>
            </a:r>
          </a:p>
          <a:p>
            <a:pPr algn="ctr">
              <a:lnSpc>
                <a:spcPct val="115000"/>
              </a:lnSpc>
              <a:spcAft>
                <a:spcPts val="0"/>
              </a:spcAft>
            </a:pPr>
            <a:r>
              <a:rPr sz="1000" b="0" i="0">
                <a:solidFill>
                  <a:srgbClr val="607D8B"/>
                </a:solidFill>
                <a:latin typeface="Calibri"/>
              </a:rPr>
              <a:t>Warm pack on doxorubicin</a:t>
            </a:r>
          </a:p>
        </p:txBody>
      </p:sp>
      <p:cxnSp>
        <p:nvCxnSpPr>
          <p:cNvPr id="22" name="Connector 21"/>
          <p:cNvCxnSpPr/>
          <p:nvPr/>
        </p:nvCxnSpPr>
        <p:spPr>
          <a:xfrm>
            <a:off x="3566160" y="3447288"/>
            <a:ext cx="2377440" cy="1143000"/>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892040" y="4206240"/>
            <a:ext cx="2103120" cy="768096"/>
          </a:xfrm>
          <a:prstGeom prst="roundRect">
            <a:avLst>
              <a:gd name="adj" fmla="val 3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0"/>
              </a:spcAft>
            </a:pPr>
            <a:r>
              <a:rPr sz="1300" b="1" i="0">
                <a:solidFill>
                  <a:srgbClr val="1B2A4A"/>
                </a:solidFill>
                <a:latin typeface="Calibri"/>
              </a:rPr>
              <a:t>Discharge leaflet</a:t>
            </a:r>
          </a:p>
          <a:p>
            <a:pPr algn="ctr">
              <a:lnSpc>
                <a:spcPct val="115000"/>
              </a:lnSpc>
              <a:spcAft>
                <a:spcPts val="0"/>
              </a:spcAft>
            </a:pPr>
            <a:r>
              <a:rPr sz="1000" b="0" i="0">
                <a:solidFill>
                  <a:srgbClr val="607D8B"/>
                </a:solidFill>
                <a:latin typeface="Calibri"/>
              </a:rPr>
              <a:t>Links to the rule it undoes</a:t>
            </a:r>
          </a:p>
        </p:txBody>
      </p:sp>
      <p:sp>
        <p:nvSpPr>
          <p:cNvPr id="24" name="Rounded Rectangle 23"/>
          <p:cNvSpPr/>
          <p:nvPr/>
        </p:nvSpPr>
        <p:spPr>
          <a:xfrm>
            <a:off x="2560320" y="3035808"/>
            <a:ext cx="2011680" cy="822960"/>
          </a:xfrm>
          <a:prstGeom prst="roundRect">
            <a:avLst>
              <a:gd name="adj" fmla="val 50000"/>
            </a:avLst>
          </a:prstGeom>
          <a:solidFill>
            <a:srgbClr val="6D4C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300" b="1" i="0">
                <a:solidFill>
                  <a:srgbClr val="FFFFFF"/>
                </a:solidFill>
                <a:latin typeface="Calibri"/>
              </a:rPr>
              <a:t>Febrile neutropenia
the hub</a:t>
            </a:r>
          </a:p>
        </p:txBody>
      </p:sp>
      <p:sp>
        <p:nvSpPr>
          <p:cNvPr id="25" name="TextBox 24"/>
          <p:cNvSpPr txBox="1"/>
          <p:nvPr/>
        </p:nvSpPr>
        <p:spPr>
          <a:xfrm>
            <a:off x="7223760" y="1938528"/>
            <a:ext cx="4419295" cy="1828800"/>
          </a:xfrm>
          <a:prstGeom prst="rect">
            <a:avLst/>
          </a:prstGeom>
          <a:noFill/>
        </p:spPr>
        <p:txBody>
          <a:bodyPr wrap="square" lIns="73152" rIns="73152" tIns="73152" bIns="73152"/>
          <a:lstStyle/>
          <a:p>
            <a:pPr marL="256032" indent="-256032">
              <a:lnSpc>
                <a:spcPct val="112000"/>
              </a:lnSpc>
              <a:spcAft>
                <a:spcPts val="800"/>
              </a:spcAft>
              <a:buClr>
                <a:srgbClr val="EC008C"/>
              </a:buClr>
              <a:buFont typeface="Arial"/>
              <a:buChar char="•"/>
            </a:pPr>
            <a:r>
              <a:rPr sz="1400" b="0" i="0">
                <a:solidFill>
                  <a:srgbClr val="1B2A4A"/>
                </a:solidFill>
                <a:latin typeface="Calibri"/>
              </a:rPr>
              <a:t>Dark dots are notes. Pale dots are the files they came from.</a:t>
            </a:r>
          </a:p>
          <a:p>
            <a:pPr marL="256032" indent="-256032">
              <a:lnSpc>
                <a:spcPct val="112000"/>
              </a:lnSpc>
              <a:spcAft>
                <a:spcPts val="800"/>
              </a:spcAft>
              <a:buClr>
                <a:srgbClr val="EC008C"/>
              </a:buClr>
              <a:buFont typeface="Arial"/>
              <a:buChar char="•"/>
            </a:pPr>
            <a:r>
              <a:rPr sz="1400" b="0" i="0">
                <a:solidFill>
                  <a:srgbClr val="1B2A4A"/>
                </a:solidFill>
                <a:latin typeface="Calibri"/>
              </a:rPr>
              <a:t>Febrile neutropenia sits in the middle because every other note argues with it.</a:t>
            </a:r>
          </a:p>
          <a:p>
            <a:pPr marL="256032" indent="-256032">
              <a:lnSpc>
                <a:spcPct val="112000"/>
              </a:lnSpc>
              <a:spcAft>
                <a:spcPts val="800"/>
              </a:spcAft>
              <a:buClr>
                <a:srgbClr val="EC008C"/>
              </a:buClr>
              <a:buFont typeface="Arial"/>
              <a:buChar char="•"/>
            </a:pPr>
            <a:r>
              <a:rPr sz="1400" b="0" i="0">
                <a:solidFill>
                  <a:srgbClr val="1B2A4A"/>
                </a:solidFill>
                <a:latin typeface="Calibri"/>
              </a:rPr>
              <a:t>On the site the map is clickable — a dot opens the file.</a:t>
            </a:r>
          </a:p>
        </p:txBody>
      </p:sp>
      <p:sp>
        <p:nvSpPr>
          <p:cNvPr id="26" name="Rounded Rectangle 25"/>
          <p:cNvSpPr/>
          <p:nvPr/>
        </p:nvSpPr>
        <p:spPr>
          <a:xfrm>
            <a:off x="7223760" y="3767328"/>
            <a:ext cx="4419295" cy="137160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70064" y="3895344"/>
            <a:ext cx="4126687" cy="228600"/>
          </a:xfrm>
          <a:prstGeom prst="rect">
            <a:avLst/>
          </a:prstGeom>
          <a:noFill/>
        </p:spPr>
        <p:txBody>
          <a:bodyPr wrap="square" anchor="t" lIns="0" rIns="0" tIns="0" bIns="0"/>
          <a:lstStyle/>
          <a:p>
            <a:pPr algn="l">
              <a:lnSpc>
                <a:spcPct val="100000"/>
              </a:lnSpc>
              <a:spcAft>
                <a:spcPts val="0"/>
              </a:spcAft>
            </a:pPr>
            <a:r>
              <a:rPr sz="900" b="1" i="0">
                <a:solidFill>
                  <a:srgbClr val="6D4C41"/>
                </a:solidFill>
                <a:latin typeface="Calibri"/>
              </a:rPr>
              <a:t>SUMMARY.HTML</a:t>
            </a:r>
          </a:p>
        </p:txBody>
      </p:sp>
      <p:sp>
        <p:nvSpPr>
          <p:cNvPr id="28" name="TextBox 27"/>
          <p:cNvSpPr txBox="1"/>
          <p:nvPr/>
        </p:nvSpPr>
        <p:spPr>
          <a:xfrm>
            <a:off x="7370064" y="4114800"/>
            <a:ext cx="4126687"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The file the committee actually opens</a:t>
            </a:r>
          </a:p>
        </p:txBody>
      </p:sp>
      <p:sp>
        <p:nvSpPr>
          <p:cNvPr id="29" name="TextBox 28"/>
          <p:cNvSpPr txBox="1"/>
          <p:nvPr/>
        </p:nvSpPr>
        <p:spPr>
          <a:xfrm>
            <a:off x="7370064" y="4467758"/>
            <a:ext cx="4126687" cy="583388"/>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Not a chat reply. A briefing: inventory, quoted contradictions, errors, duplications, and who should fix what. First screen: the family leaflet next to the ID rule.</a:t>
            </a:r>
          </a:p>
        </p:txBody>
      </p:sp>
      <p:sp>
        <p:nvSpPr>
          <p:cNvPr id="30" name="Rounded Rectangle 29"/>
          <p:cNvSpPr/>
          <p:nvPr/>
        </p:nvSpPr>
        <p:spPr>
          <a:xfrm>
            <a:off x="548640" y="5212080"/>
            <a:ext cx="11094415" cy="6858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48640" y="5212080"/>
            <a:ext cx="73152" cy="68580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212080"/>
            <a:ext cx="10774375" cy="68580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A skill is a recipe. MCP is a plug. CLAUDE.md is the standing orders for the folder. That is how a drop of policies becomes a wiki and a quality review, instead of another chat you cannot find next week.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6</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6  ·  00:37</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Small models
&amp; the edge</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Four places a model can live. Fine-tune here. Federate across hospitals — scans never leave.</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5-small-models.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75e1de89-b7a1-4f98-a1f1-9edbba03edf2}" type="datetime9">
              <a:rPr lang="en-US" sz="1400" b="1" dirty="0" smtClean="0">
                <a:solidFill>
                  <a:srgbClr val="FFFFFF"/>
                </a:solidFill>
                <a:latin typeface="Calibri"/>
              </a:rPr>
              <a:t>1:04 AM</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8e830e3-b6e4-4a8c-9206-2cbcfb39cb4e}"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FOUR PLACES. FAR TO NEAR.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Where does the program sit when you send it a note?</a:t>
            </a:r>
          </a:p>
        </p:txBody>
      </p:sp>
      <p:sp>
        <p:nvSpPr>
          <p:cNvPr id="16" name="Rounded Rectangle 15"/>
          <p:cNvSpPr/>
          <p:nvPr/>
        </p:nvSpPr>
        <p:spPr>
          <a:xfrm>
            <a:off x="548640" y="1938528"/>
            <a:ext cx="2602153" cy="29260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1938528"/>
            <a:ext cx="2602153" cy="91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2121408"/>
            <a:ext cx="2236393" cy="36576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1 · Public cloud</a:t>
            </a:r>
          </a:p>
        </p:txBody>
      </p:sp>
      <p:sp>
        <p:nvSpPr>
          <p:cNvPr id="19" name="TextBox 18"/>
          <p:cNvSpPr txBox="1"/>
          <p:nvPr/>
        </p:nvSpPr>
        <p:spPr>
          <a:xfrm>
            <a:off x="731520" y="2505456"/>
            <a:ext cx="2236393" cy="5486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Large model on the cloud, via a connector API</a:t>
            </a:r>
          </a:p>
        </p:txBody>
      </p:sp>
      <p:sp>
        <p:nvSpPr>
          <p:cNvPr id="20" name="Rounded Rectangle 19"/>
          <p:cNvSpPr/>
          <p:nvPr/>
        </p:nvSpPr>
        <p:spPr>
          <a:xfrm>
            <a:off x="731520" y="3127248"/>
            <a:ext cx="2236393" cy="27432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Notes leave the hospital</a:t>
            </a:r>
          </a:p>
        </p:txBody>
      </p:sp>
      <p:sp>
        <p:nvSpPr>
          <p:cNvPr id="21" name="TextBox 20"/>
          <p:cNvSpPr txBox="1"/>
          <p:nvPr/>
        </p:nvSpPr>
        <p:spPr>
          <a:xfrm>
            <a:off x="731520" y="3538728"/>
            <a:ext cx="2236393" cy="12801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ChatGPT, Claude, Gemini in the browser. Usually no hospital contract.</a:t>
            </a:r>
          </a:p>
        </p:txBody>
      </p:sp>
      <p:sp>
        <p:nvSpPr>
          <p:cNvPr id="22" name="Rounded Rectangle 21"/>
          <p:cNvSpPr/>
          <p:nvPr/>
        </p:nvSpPr>
        <p:spPr>
          <a:xfrm>
            <a:off x="3379393" y="1938528"/>
            <a:ext cx="2602153" cy="29260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379393" y="1938528"/>
            <a:ext cx="2602153" cy="9144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562273" y="2121408"/>
            <a:ext cx="2236393" cy="36576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2 · Contracted cloud</a:t>
            </a:r>
          </a:p>
        </p:txBody>
      </p:sp>
      <p:sp>
        <p:nvSpPr>
          <p:cNvPr id="25" name="TextBox 24"/>
          <p:cNvSpPr txBox="1"/>
          <p:nvPr/>
        </p:nvSpPr>
        <p:spPr>
          <a:xfrm>
            <a:off x="3562273" y="2505456"/>
            <a:ext cx="2236393" cy="5486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Large model, HIPAA path with a BAA</a:t>
            </a:r>
          </a:p>
        </p:txBody>
      </p:sp>
      <p:sp>
        <p:nvSpPr>
          <p:cNvPr id="26" name="Rounded Rectangle 25"/>
          <p:cNvSpPr/>
          <p:nvPr/>
        </p:nvSpPr>
        <p:spPr>
          <a:xfrm>
            <a:off x="3562273" y="3127248"/>
            <a:ext cx="2236393" cy="274320"/>
          </a:xfrm>
          <a:prstGeom prst="roundRect">
            <a:avLst>
              <a:gd name="adj" fmla="val 5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Notes leave — under contract</a:t>
            </a:r>
          </a:p>
        </p:txBody>
      </p:sp>
      <p:sp>
        <p:nvSpPr>
          <p:cNvPr id="27" name="TextBox 26"/>
          <p:cNvSpPr txBox="1"/>
          <p:nvPr/>
        </p:nvSpPr>
        <p:spPr>
          <a:xfrm>
            <a:off x="3562273" y="3538728"/>
            <a:ext cx="2236393" cy="12801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Azure OpenAI, AWS Bedrock, Google Vertex through a private encrypted link.</a:t>
            </a:r>
          </a:p>
        </p:txBody>
      </p:sp>
      <p:sp>
        <p:nvSpPr>
          <p:cNvPr id="28" name="Rounded Rectangle 27"/>
          <p:cNvSpPr/>
          <p:nvPr/>
        </p:nvSpPr>
        <p:spPr>
          <a:xfrm>
            <a:off x="6210147" y="1938528"/>
            <a:ext cx="2602153" cy="29260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210147" y="1938528"/>
            <a:ext cx="2602153" cy="91440"/>
          </a:xfrm>
          <a:prstGeom prst="rect">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93027" y="2121408"/>
            <a:ext cx="2236393" cy="36576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3 · Hospital servers</a:t>
            </a:r>
          </a:p>
        </p:txBody>
      </p:sp>
      <p:sp>
        <p:nvSpPr>
          <p:cNvPr id="31" name="TextBox 30"/>
          <p:cNvSpPr txBox="1"/>
          <p:nvPr/>
        </p:nvSpPr>
        <p:spPr>
          <a:xfrm>
            <a:off x="6393027" y="2505456"/>
            <a:ext cx="2236393" cy="5486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Large model on-premise</a:t>
            </a:r>
          </a:p>
        </p:txBody>
      </p:sp>
      <p:sp>
        <p:nvSpPr>
          <p:cNvPr id="32" name="Rounded Rectangle 31"/>
          <p:cNvSpPr/>
          <p:nvPr/>
        </p:nvSpPr>
        <p:spPr>
          <a:xfrm>
            <a:off x="6393027" y="3127248"/>
            <a:ext cx="2236393" cy="274320"/>
          </a:xfrm>
          <a:prstGeom prst="roundRect">
            <a:avLst>
              <a:gd name="adj" fmla="val 50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Notes stay inside the walls</a:t>
            </a:r>
          </a:p>
        </p:txBody>
      </p:sp>
      <p:sp>
        <p:nvSpPr>
          <p:cNvPr id="33" name="TextBox 32"/>
          <p:cNvSpPr txBox="1"/>
          <p:nvPr/>
        </p:nvSpPr>
        <p:spPr>
          <a:xfrm>
            <a:off x="6393027" y="3538728"/>
            <a:ext cx="2236393" cy="12801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Computers in the hospital’s own data centre. You own the box, so you own the rules.</a:t>
            </a:r>
          </a:p>
        </p:txBody>
      </p:sp>
      <p:sp>
        <p:nvSpPr>
          <p:cNvPr id="34" name="Rounded Rectangle 33"/>
          <p:cNvSpPr/>
          <p:nvPr/>
        </p:nvSpPr>
        <p:spPr>
          <a:xfrm>
            <a:off x="9040901" y="1938528"/>
            <a:ext cx="2602153" cy="29260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040901" y="1938528"/>
            <a:ext cx="2602153" cy="91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23781" y="2121408"/>
            <a:ext cx="2236393" cy="365760"/>
          </a:xfrm>
          <a:prstGeom prst="rect">
            <a:avLst/>
          </a:prstGeom>
          <a:noFill/>
        </p:spPr>
        <p:txBody>
          <a:bodyPr wrap="square" anchor="t" lIns="0" rIns="0" tIns="0" bIns="0"/>
          <a:lstStyle/>
          <a:p>
            <a:pPr algn="l">
              <a:lnSpc>
                <a:spcPct val="115000"/>
              </a:lnSpc>
              <a:spcAft>
                <a:spcPts val="400"/>
              </a:spcAft>
            </a:pPr>
            <a:r>
              <a:rPr sz="1700" b="1" i="0">
                <a:solidFill>
                  <a:srgbClr val="1B2A4A"/>
                </a:solidFill>
                <a:latin typeface="Calibri"/>
              </a:rPr>
              <a:t>4 · On this device</a:t>
            </a:r>
          </a:p>
        </p:txBody>
      </p:sp>
      <p:sp>
        <p:nvSpPr>
          <p:cNvPr id="37" name="TextBox 36"/>
          <p:cNvSpPr txBox="1"/>
          <p:nvPr/>
        </p:nvSpPr>
        <p:spPr>
          <a:xfrm>
            <a:off x="9223781" y="2505456"/>
            <a:ext cx="2236393" cy="5486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Small model on the edge (1–8B)</a:t>
            </a:r>
          </a:p>
        </p:txBody>
      </p:sp>
      <p:sp>
        <p:nvSpPr>
          <p:cNvPr id="38" name="Rounded Rectangle 37"/>
          <p:cNvSpPr/>
          <p:nvPr/>
        </p:nvSpPr>
        <p:spPr>
          <a:xfrm>
            <a:off x="9223781" y="3127248"/>
            <a:ext cx="2236393"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Notes stay on this laptop</a:t>
            </a:r>
          </a:p>
        </p:txBody>
      </p:sp>
      <p:sp>
        <p:nvSpPr>
          <p:cNvPr id="39" name="TextBox 38"/>
          <p:cNvSpPr txBox="1"/>
          <p:nvPr/>
        </p:nvSpPr>
        <p:spPr>
          <a:xfrm>
            <a:off x="9223781" y="3538728"/>
            <a:ext cx="2236393" cy="12801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Small enough for a laptop, a phone, a browser tab. Compute stays where the notes already are.</a:t>
            </a:r>
          </a:p>
        </p:txBody>
      </p:sp>
      <p:sp>
        <p:nvSpPr>
          <p:cNvPr id="40" name="TextBox 39"/>
          <p:cNvSpPr txBox="1"/>
          <p:nvPr/>
        </p:nvSpPr>
        <p:spPr>
          <a:xfrm>
            <a:off x="548640" y="5047488"/>
            <a:ext cx="11094415" cy="8229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A BAA (Business Associate Agreement) is a contract that says the vendor must protect patient information the way the hospital must. HIPAA is the US name. Outside the US you still want the same kind of contract under your own law.</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c7131175-9488-4841-935b-6079221634e5}"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SMALL AND LOCAL FOR THE ROUTINE AND THE SENSITIVE; LARGE AND REMOTE FOR THE DIFFICULT.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Pros and cons, square by square</a:t>
            </a:r>
          </a:p>
        </p:txBody>
      </p:sp>
      <p:graphicFrame>
        <p:nvGraphicFramePr>
          <p:cNvPr id="16" name="Table 15"/>
          <p:cNvGraphicFramePr>
            <a:graphicFrameLocks noGrp="1"/>
          </p:cNvGraphicFramePr>
          <p:nvPr/>
        </p:nvGraphicFramePr>
        <p:xfrm>
          <a:off x="548640" y="1892808"/>
          <a:ext cx="11094414" cy="3886200"/>
        </p:xfrm>
        <a:graphic>
          <a:graphicData uri="http://schemas.openxmlformats.org/drawingml/2006/table">
            <a:tbl>
              <a:tblPr firstRow="1" bandRow="1">
                <a:tableStyleId>{5C22544A-7EE6-4342-B048-85BDC9FD1C3A}</a:tableStyleId>
              </a:tblPr>
              <a:tblGrid>
                <a:gridCol w="2000632"/>
                <a:gridCol w="4546891"/>
                <a:gridCol w="4546891"/>
              </a:tblGrid>
              <a:tr h="777240">
                <a:tc>
                  <a:txBody>
                    <a:bodyPr wrap="square"/>
                    <a:lstStyle/>
                    <a:p/>
                  </a:txBody>
                  <a:tcPr marL="73152" marR="73152" marT="36576" marB="36576" anchor="ctr">
                    <a:solidFill>
                      <a:srgbClr val="C62828"/>
                    </a:solidFill>
                  </a:tcPr>
                </a:tc>
                <a:tc>
                  <a:txBody>
                    <a:bodyPr wrap="square"/>
                    <a:lstStyle/>
                    <a:p>
                      <a:r>
                        <a:rPr sz="1100" b="1" i="0">
                          <a:solidFill>
                            <a:srgbClr val="FFFFFF"/>
                          </a:solidFill>
                          <a:latin typeface="Calibri"/>
                        </a:rPr>
                        <a:t>Pros</a:t>
                      </a:r>
                    </a:p>
                  </a:txBody>
                  <a:tcPr marL="73152" marR="73152" marT="36576" marB="36576" anchor="ctr">
                    <a:solidFill>
                      <a:srgbClr val="C62828"/>
                    </a:solidFill>
                  </a:tcPr>
                </a:tc>
                <a:tc>
                  <a:txBody>
                    <a:bodyPr wrap="square"/>
                    <a:lstStyle/>
                    <a:p>
                      <a:r>
                        <a:rPr sz="1100" b="1" i="0">
                          <a:solidFill>
                            <a:srgbClr val="FFFFFF"/>
                          </a:solidFill>
                          <a:latin typeface="Calibri"/>
                        </a:rPr>
                        <a:t>Cons</a:t>
                      </a:r>
                    </a:p>
                  </a:txBody>
                  <a:tcPr marL="73152" marR="73152" marT="36576" marB="36576" anchor="ctr">
                    <a:solidFill>
                      <a:srgbClr val="C62828"/>
                    </a:solidFill>
                  </a:tcPr>
                </a:tc>
              </a:tr>
              <a:tr h="777240">
                <a:tc>
                  <a:txBody>
                    <a:bodyPr wrap="square"/>
                    <a:lstStyle/>
                    <a:p>
                      <a:r>
                        <a:rPr sz="1100" b="1" i="0">
                          <a:solidFill>
                            <a:srgbClr val="1B2A4A"/>
                          </a:solidFill>
                          <a:latin typeface="Calibri"/>
                        </a:rPr>
                        <a:t>1 · Public cloud</a:t>
                      </a:r>
                    </a:p>
                  </a:txBody>
                  <a:tcPr marL="73152" marR="73152" marT="36576" marB="36576" anchor="ctr">
                    <a:solidFill>
                      <a:srgbClr val="FFFFFF"/>
                    </a:solidFill>
                  </a:tcPr>
                </a:tc>
                <a:tc>
                  <a:txBody>
                    <a:bodyPr wrap="square"/>
                    <a:lstStyle/>
                    <a:p>
                      <a:r>
                        <a:rPr sz="1100" b="0" i="0">
                          <a:solidFill>
                            <a:srgbClr val="1B2A4A"/>
                          </a:solidFill>
                          <a:latin typeface="Calibri"/>
                        </a:rPr>
                        <a:t>Strongest models, ready this afternoon · nothing to install; connectors to Drive, mail, PubMed · cheap to try</a:t>
                      </a:r>
                    </a:p>
                  </a:txBody>
                  <a:tcPr marL="73152" marR="73152" marT="36576" marB="36576" anchor="ctr">
                    <a:solidFill>
                      <a:srgbClr val="FFFFFF"/>
                    </a:solidFill>
                  </a:tcPr>
                </a:tc>
                <a:tc>
                  <a:txBody>
                    <a:bodyPr wrap="square"/>
                    <a:lstStyle/>
                    <a:p>
                      <a:r>
                        <a:rPr sz="1100" b="0" i="0">
                          <a:solidFill>
                            <a:srgbClr val="1B2A4A"/>
                          </a:solidFill>
                          <a:latin typeface="Calibri"/>
                        </a:rPr>
                        <a:t>Patient notes leave the hospital · consumer terms, no BAA · needs the internet</a:t>
                      </a:r>
                    </a:p>
                  </a:txBody>
                  <a:tcPr marL="73152" marR="73152" marT="36576" marB="36576" anchor="ctr">
                    <a:solidFill>
                      <a:srgbClr val="FFFFFF"/>
                    </a:solidFill>
                  </a:tcPr>
                </a:tc>
              </a:tr>
              <a:tr h="777240">
                <a:tc>
                  <a:txBody>
                    <a:bodyPr wrap="square"/>
                    <a:lstStyle/>
                    <a:p>
                      <a:r>
                        <a:rPr sz="1100" b="1" i="0">
                          <a:solidFill>
                            <a:srgbClr val="1B2A4A"/>
                          </a:solidFill>
                          <a:latin typeface="Calibri"/>
                        </a:rPr>
                        <a:t>2 · Contracted cloud</a:t>
                      </a:r>
                    </a:p>
                  </a:txBody>
                  <a:tcPr marL="73152" marR="73152" marT="36576" marB="36576" anchor="ctr">
                    <a:solidFill>
                      <a:srgbClr val="FAFBFD"/>
                    </a:solidFill>
                  </a:tcPr>
                </a:tc>
                <a:tc>
                  <a:txBody>
                    <a:bodyPr wrap="square"/>
                    <a:lstStyle/>
                    <a:p>
                      <a:r>
                        <a:rPr sz="1100" b="0" i="0">
                          <a:solidFill>
                            <a:srgbClr val="1B2A4A"/>
                          </a:solidFill>
                          <a:latin typeface="Calibri"/>
                        </a:rPr>
                        <a:t>Large-model quality with a legal contract · encrypted, logged, access-controlled · IT can switch it off for a unit</a:t>
                      </a:r>
                    </a:p>
                  </a:txBody>
                  <a:tcPr marL="73152" marR="73152" marT="36576" marB="36576" anchor="ctr">
                    <a:solidFill>
                      <a:srgbClr val="FAFBFD"/>
                    </a:solidFill>
                  </a:tcPr>
                </a:tc>
                <a:tc>
                  <a:txBody>
                    <a:bodyPr wrap="square"/>
                    <a:lstStyle/>
                    <a:p>
                      <a:r>
                        <a:rPr sz="1100" b="0" i="0">
                          <a:solidFill>
                            <a:srgbClr val="1B2A4A"/>
                          </a:solidFill>
                          <a:latin typeface="Calibri"/>
                        </a:rPr>
                        <a:t>Notes still leave the building, to a named vendor · needs IT, money, and months · not a conference-laptop demo</a:t>
                      </a:r>
                    </a:p>
                  </a:txBody>
                  <a:tcPr marL="73152" marR="73152" marT="36576" marB="36576" anchor="ctr">
                    <a:solidFill>
                      <a:srgbClr val="FAFBFD"/>
                    </a:solidFill>
                  </a:tcPr>
                </a:tc>
              </a:tr>
              <a:tr h="777240">
                <a:tc>
                  <a:txBody>
                    <a:bodyPr wrap="square"/>
                    <a:lstStyle/>
                    <a:p>
                      <a:r>
                        <a:rPr sz="1100" b="1" i="0">
                          <a:solidFill>
                            <a:srgbClr val="1B2A4A"/>
                          </a:solidFill>
                          <a:latin typeface="Calibri"/>
                        </a:rPr>
                        <a:t>3 · Hospital servers</a:t>
                      </a:r>
                    </a:p>
                  </a:txBody>
                  <a:tcPr marL="73152" marR="73152" marT="36576" marB="36576" anchor="ctr">
                    <a:solidFill>
                      <a:srgbClr val="FFFFFF"/>
                    </a:solidFill>
                  </a:tcPr>
                </a:tc>
                <a:tc>
                  <a:txBody>
                    <a:bodyPr wrap="square"/>
                    <a:lstStyle/>
                    <a:p>
                      <a:r>
                        <a:rPr sz="1100" b="0" i="0">
                          <a:solidFill>
                            <a:srgbClr val="1B2A4A"/>
                          </a:solidFill>
                          <a:latin typeface="Calibri"/>
                        </a:rPr>
                        <a:t>Data never leaves the hospital · you set who can use it · keeps working if the public internet is down</a:t>
                      </a:r>
                    </a:p>
                  </a:txBody>
                  <a:tcPr marL="73152" marR="73152" marT="36576" marB="36576" anchor="ctr">
                    <a:solidFill>
                      <a:srgbClr val="FFFFFF"/>
                    </a:solidFill>
                  </a:tcPr>
                </a:tc>
                <a:tc>
                  <a:txBody>
                    <a:bodyPr wrap="square"/>
                    <a:lstStyle/>
                    <a:p>
                      <a:r>
                        <a:rPr sz="1100" b="0" i="0">
                          <a:solidFill>
                            <a:srgbClr val="1B2A4A"/>
                          </a:solidFill>
                          <a:latin typeface="Calibri"/>
                        </a:rPr>
                        <a:t>GPUs and staff cost real money · usually a step behind ChatGPT · hard for a small unit to own alone</a:t>
                      </a:r>
                    </a:p>
                  </a:txBody>
                  <a:tcPr marL="73152" marR="73152" marT="36576" marB="36576" anchor="ctr">
                    <a:solidFill>
                      <a:srgbClr val="FFFFFF"/>
                    </a:solidFill>
                  </a:tcPr>
                </a:tc>
              </a:tr>
              <a:tr h="777240">
                <a:tc>
                  <a:txBody>
                    <a:bodyPr wrap="square"/>
                    <a:lstStyle/>
                    <a:p>
                      <a:r>
                        <a:rPr sz="1100" b="1" i="0">
                          <a:solidFill>
                            <a:srgbClr val="1B2A4A"/>
                          </a:solidFill>
                          <a:latin typeface="Calibri"/>
                        </a:rPr>
                        <a:t>4 · On this device</a:t>
                      </a:r>
                    </a:p>
                  </a:txBody>
                  <a:tcPr marL="73152" marR="73152" marT="36576" marB="36576" anchor="ctr">
                    <a:solidFill>
                      <a:srgbClr val="FAFBFD"/>
                    </a:solidFill>
                  </a:tcPr>
                </a:tc>
                <a:tc>
                  <a:txBody>
                    <a:bodyPr wrap="square"/>
                    <a:lstStyle/>
                    <a:p>
                      <a:r>
                        <a:rPr sz="1100" b="0" i="0">
                          <a:solidFill>
                            <a:srgbClr val="1B2A4A"/>
                          </a:solidFill>
                          <a:latin typeface="Calibri"/>
                        </a:rPr>
                        <a:t>Notes never leave this device · works with the wi-fi off · no per-token bill; answers the sovereignty question</a:t>
                      </a:r>
                    </a:p>
                  </a:txBody>
                  <a:tcPr marL="73152" marR="73152" marT="36576" marB="36576" anchor="ctr">
                    <a:solidFill>
                      <a:srgbClr val="FAFBFD"/>
                    </a:solidFill>
                  </a:tcPr>
                </a:tc>
                <a:tc>
                  <a:txBody>
                    <a:bodyPr wrap="square"/>
                    <a:lstStyle/>
                    <a:p>
                      <a:r>
                        <a:rPr sz="1100" b="0" i="0">
                          <a:solidFill>
                            <a:srgbClr val="1B2A4A"/>
                          </a:solidFill>
                          <a:latin typeface="Calibri"/>
                        </a:rPr>
                        <a:t>Weaker at hard, open-ended questions · best at narrow jobs, not a second opinion · first download is large — cache it before you demo</a:t>
                      </a:r>
                    </a:p>
                  </a:txBody>
                  <a:tcPr marL="73152" marR="73152" marT="36576" marB="36576" anchor="ctr">
                    <a:solidFill>
                      <a:srgbClr val="FAFBFD"/>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fbf93a94-65e5-485a-833b-5c92a25fdffc}"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52</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THE NEXT MOVE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Teach it on our data. Do not ship the notes.</a:t>
            </a:r>
          </a:p>
        </p:txBody>
      </p:sp>
      <p:sp>
        <p:nvSpPr>
          <p:cNvPr id="16" name="TextBox 15"/>
          <p:cNvSpPr txBox="1"/>
          <p:nvPr/>
        </p:nvSpPr>
        <p:spPr>
          <a:xfrm>
            <a:off x="548640" y="1920240"/>
            <a:ext cx="11094415" cy="1188720"/>
          </a:xfrm>
          <a:prstGeom prst="rect">
            <a:avLst/>
          </a:prstGeom>
          <a:noFill/>
        </p:spPr>
        <p:txBody>
          <a:bodyPr wrap="square" anchor="t" lIns="0" rIns="0" tIns="0" bIns="0"/>
          <a:lstStyle/>
          <a:p>
            <a:pPr algn="l">
              <a:lnSpc>
                <a:spcPct val="115000"/>
              </a:lnSpc>
              <a:spcAft>
                <a:spcPts val="400"/>
              </a:spcAft>
            </a:pPr>
            <a:r>
              <a:rPr sz="1500" b="0" i="0">
                <a:solidFill>
                  <a:srgbClr val="1B2A4A"/>
                </a:solidFill>
                <a:latin typeface="Calibri"/>
              </a:rPr>
              <a:t>A general model is a new intern from a good school. It can write. It has not rotated on your ward. Fine-tuning is that extra month of practice on your examples — your reports, your language, your habit. You are not building a new intern from scratch. You are sending this one to your unit.</a:t>
            </a:r>
          </a:p>
        </p:txBody>
      </p:sp>
      <p:sp>
        <p:nvSpPr>
          <p:cNvPr id="17" name="Rounded Rectangle 16"/>
          <p:cNvSpPr/>
          <p:nvPr/>
        </p:nvSpPr>
        <p:spPr>
          <a:xfrm>
            <a:off x="548640" y="3246120"/>
            <a:ext cx="5410047"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3374136"/>
            <a:ext cx="5117439" cy="228600"/>
          </a:xfrm>
          <a:prstGeom prst="rect">
            <a:avLst/>
          </a:prstGeom>
          <a:noFill/>
        </p:spPr>
        <p:txBody>
          <a:bodyPr wrap="square" anchor="t" lIns="0" rIns="0" tIns="0" bIns="0"/>
          <a:lstStyle/>
          <a:p>
            <a:pPr algn="l">
              <a:lnSpc>
                <a:spcPct val="100000"/>
              </a:lnSpc>
              <a:spcAft>
                <a:spcPts val="0"/>
              </a:spcAft>
            </a:pPr>
            <a:r>
              <a:rPr sz="900" b="1" i="0">
                <a:solidFill>
                  <a:srgbClr val="C62828"/>
                </a:solidFill>
                <a:latin typeface="Calibri"/>
              </a:rPr>
              <a:t>EXTRA PRACTICE ON LOCAL EXAMPLES</a:t>
            </a:r>
          </a:p>
        </p:txBody>
      </p:sp>
      <p:sp>
        <p:nvSpPr>
          <p:cNvPr id="19" name="TextBox 18"/>
          <p:cNvSpPr txBox="1"/>
          <p:nvPr/>
        </p:nvSpPr>
        <p:spPr>
          <a:xfrm>
            <a:off x="694944" y="3593592"/>
            <a:ext cx="511743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Fine-tune · one hospital</a:t>
            </a:r>
          </a:p>
        </p:txBody>
      </p:sp>
      <p:sp>
        <p:nvSpPr>
          <p:cNvPr id="20" name="TextBox 19"/>
          <p:cNvSpPr txBox="1"/>
          <p:nvPr/>
        </p:nvSpPr>
        <p:spPr>
          <a:xfrm>
            <a:off x="694944" y="4012387"/>
            <a:ext cx="5117439" cy="700431"/>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Show the model a few hundred of your reports. It copies the local habit. Notes never leave the building. This is square 3 or 4 with homework.</a:t>
            </a:r>
          </a:p>
        </p:txBody>
      </p:sp>
      <p:sp>
        <p:nvSpPr>
          <p:cNvPr id="21" name="Rounded Rectangle 20"/>
          <p:cNvSpPr/>
          <p:nvPr/>
        </p:nvSpPr>
        <p:spPr>
          <a:xfrm>
            <a:off x="6233007" y="3246120"/>
            <a:ext cx="5410047"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79311" y="3374136"/>
            <a:ext cx="5117439" cy="228600"/>
          </a:xfrm>
          <a:prstGeom prst="rect">
            <a:avLst/>
          </a:prstGeom>
          <a:noFill/>
        </p:spPr>
        <p:txBody>
          <a:bodyPr wrap="square" anchor="t" lIns="0" rIns="0" tIns="0" bIns="0"/>
          <a:lstStyle/>
          <a:p>
            <a:pPr algn="l">
              <a:lnSpc>
                <a:spcPct val="100000"/>
              </a:lnSpc>
              <a:spcAft>
                <a:spcPts val="0"/>
              </a:spcAft>
            </a:pPr>
            <a:r>
              <a:rPr sz="900" b="1" i="0">
                <a:solidFill>
                  <a:srgbClr val="C62828"/>
                </a:solidFill>
                <a:latin typeface="Calibri"/>
              </a:rPr>
              <a:t>THE INTERN GOES ON ROTATION</a:t>
            </a:r>
          </a:p>
        </p:txBody>
      </p:sp>
      <p:sp>
        <p:nvSpPr>
          <p:cNvPr id="23" name="TextBox 22"/>
          <p:cNvSpPr txBox="1"/>
          <p:nvPr/>
        </p:nvSpPr>
        <p:spPr>
          <a:xfrm>
            <a:off x="6379311" y="3593592"/>
            <a:ext cx="5117439"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Federate · many hospitals</a:t>
            </a:r>
          </a:p>
        </p:txBody>
      </p:sp>
      <p:sp>
        <p:nvSpPr>
          <p:cNvPr id="24" name="TextBox 23"/>
          <p:cNvSpPr txBox="1"/>
          <p:nvPr/>
        </p:nvSpPr>
        <p:spPr>
          <a:xfrm>
            <a:off x="6379311" y="4012387"/>
            <a:ext cx="5117439" cy="700431"/>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The same extra practice, at every site. Each hospital trains on its own scans. Only the updated lesson — not the images, not the names — comes back.</a:t>
            </a:r>
          </a:p>
        </p:txBody>
      </p:sp>
      <p:sp>
        <p:nvSpPr>
          <p:cNvPr id="25" name="TextBox 24"/>
          <p:cNvSpPr txBox="1"/>
          <p:nvPr/>
        </p:nvSpPr>
        <p:spPr>
          <a:xfrm>
            <a:off x="548640" y="4937760"/>
            <a:ext cx="11094415" cy="100584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Pediatric data is the hard case: rare enough that no single centre has enough, sensitive enough that you cannot post the archive to a shared drive. Data-use agreements and de-identification eat years. So turn the arrow around.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3630ff1-5c73-40b9-8511-c9c86204b10e}"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BRING THE DATA TO THE MODEL · BRING THE MODEL TO THE DATA</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Turn the arrow around</a:t>
            </a:r>
          </a:p>
        </p:txBody>
      </p:sp>
      <p:sp>
        <p:nvSpPr>
          <p:cNvPr id="16" name="Rounded Rectangle 15"/>
          <p:cNvSpPr/>
          <p:nvPr/>
        </p:nvSpPr>
        <p:spPr>
          <a:xfrm>
            <a:off x="548640" y="1920240"/>
            <a:ext cx="5364327"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2057400"/>
            <a:ext cx="4907127" cy="365760"/>
          </a:xfrm>
          <a:prstGeom prst="rect">
            <a:avLst/>
          </a:prstGeom>
          <a:noFill/>
        </p:spPr>
        <p:txBody>
          <a:bodyPr wrap="square" anchor="t" lIns="0" rIns="0" tIns="0" bIns="0"/>
          <a:lstStyle/>
          <a:p>
            <a:pPr algn="l">
              <a:lnSpc>
                <a:spcPct val="115000"/>
              </a:lnSpc>
              <a:spcAft>
                <a:spcPts val="400"/>
              </a:spcAft>
            </a:pPr>
            <a:r>
              <a:rPr sz="2000" b="1" i="0">
                <a:solidFill>
                  <a:srgbClr val="21409A"/>
                </a:solidFill>
                <a:latin typeface="Calibri"/>
              </a:rPr>
              <a:t>Usual study</a:t>
            </a:r>
          </a:p>
        </p:txBody>
      </p:sp>
      <p:sp>
        <p:nvSpPr>
          <p:cNvPr id="18" name="TextBox 17"/>
          <p:cNvSpPr txBox="1"/>
          <p:nvPr/>
        </p:nvSpPr>
        <p:spPr>
          <a:xfrm>
            <a:off x="777240" y="2423160"/>
            <a:ext cx="4907127" cy="320040"/>
          </a:xfrm>
          <a:prstGeom prst="rect">
            <a:avLst/>
          </a:prstGeom>
          <a:noFill/>
        </p:spPr>
        <p:txBody>
          <a:bodyPr wrap="square" anchor="t" lIns="0" rIns="0" tIns="0" bIns="0"/>
          <a:lstStyle/>
          <a:p>
            <a:pPr algn="l">
              <a:lnSpc>
                <a:spcPct val="115000"/>
              </a:lnSpc>
              <a:spcAft>
                <a:spcPts val="400"/>
              </a:spcAft>
            </a:pPr>
            <a:r>
              <a:rPr sz="1300" b="0" i="1">
                <a:solidFill>
                  <a:srgbClr val="607D8B"/>
                </a:solidFill>
                <a:latin typeface="Calibri"/>
              </a:rPr>
              <a:t>Bring the data to the model</a:t>
            </a:r>
          </a:p>
        </p:txBody>
      </p:sp>
      <p:sp>
        <p:nvSpPr>
          <p:cNvPr id="19" name="Rounded Rectangle 18"/>
          <p:cNvSpPr/>
          <p:nvPr/>
        </p:nvSpPr>
        <p:spPr>
          <a:xfrm>
            <a:off x="822960"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A</a:t>
            </a:r>
          </a:p>
        </p:txBody>
      </p:sp>
      <p:sp>
        <p:nvSpPr>
          <p:cNvPr id="20" name="Down Arrow 19"/>
          <p:cNvSpPr/>
          <p:nvPr/>
        </p:nvSpPr>
        <p:spPr>
          <a:xfrm>
            <a:off x="1330452" y="3611880"/>
            <a:ext cx="219456" cy="365760"/>
          </a:xfrm>
          <a:prstGeom prst="downArrow">
            <a:avLst/>
          </a:prstGeom>
          <a:solidFill>
            <a:srgbClr val="90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40280"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B</a:t>
            </a:r>
          </a:p>
        </p:txBody>
      </p:sp>
      <p:sp>
        <p:nvSpPr>
          <p:cNvPr id="22" name="Down Arrow 21"/>
          <p:cNvSpPr/>
          <p:nvPr/>
        </p:nvSpPr>
        <p:spPr>
          <a:xfrm>
            <a:off x="2747772" y="3611880"/>
            <a:ext cx="219456" cy="365760"/>
          </a:xfrm>
          <a:prstGeom prst="downArrow">
            <a:avLst/>
          </a:prstGeom>
          <a:solidFill>
            <a:srgbClr val="90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0"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C</a:t>
            </a:r>
          </a:p>
        </p:txBody>
      </p:sp>
      <p:sp>
        <p:nvSpPr>
          <p:cNvPr id="24" name="Down Arrow 23"/>
          <p:cNvSpPr/>
          <p:nvPr/>
        </p:nvSpPr>
        <p:spPr>
          <a:xfrm>
            <a:off x="4165092" y="3611880"/>
            <a:ext cx="219456" cy="365760"/>
          </a:xfrm>
          <a:prstGeom prst="downArrow">
            <a:avLst/>
          </a:prstGeom>
          <a:solidFill>
            <a:srgbClr val="90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2960" y="4069080"/>
            <a:ext cx="4069080" cy="685800"/>
          </a:xfrm>
          <a:prstGeom prst="roundRect">
            <a:avLst>
              <a:gd name="adj" fmla="val 15000"/>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200" b="1" i="0">
                <a:solidFill>
                  <a:srgbClr val="FFFFFF"/>
                </a:solidFill>
                <a:latin typeface="Calibri"/>
              </a:rPr>
              <a:t>ONE BOX · all the scans · contracts, de-id, years</a:t>
            </a:r>
          </a:p>
        </p:txBody>
      </p:sp>
      <p:sp>
        <p:nvSpPr>
          <p:cNvPr id="26" name="TextBox 25"/>
          <p:cNvSpPr txBox="1"/>
          <p:nvPr/>
        </p:nvSpPr>
        <p:spPr>
          <a:xfrm>
            <a:off x="777240" y="4846320"/>
            <a:ext cx="4907127" cy="10058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Copy every MRI into one computer. Lawyers first. Imaging later. A 19-hospital pediatric archive almost never leaves the building this way.</a:t>
            </a:r>
          </a:p>
        </p:txBody>
      </p:sp>
      <p:sp>
        <p:nvSpPr>
          <p:cNvPr id="27" name="Rounded Rectangle 26"/>
          <p:cNvSpPr/>
          <p:nvPr/>
        </p:nvSpPr>
        <p:spPr>
          <a:xfrm>
            <a:off x="6278727" y="1920240"/>
            <a:ext cx="5364327" cy="3977639"/>
          </a:xfrm>
          <a:prstGeom prst="roundRect">
            <a:avLst>
              <a:gd name="adj" fmla="val 8000"/>
            </a:avLst>
          </a:prstGeom>
          <a:solidFill>
            <a:srgbClr val="FFFFFF"/>
          </a:solid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07327" y="2057400"/>
            <a:ext cx="4907127" cy="365760"/>
          </a:xfrm>
          <a:prstGeom prst="rect">
            <a:avLst/>
          </a:prstGeom>
          <a:noFill/>
        </p:spPr>
        <p:txBody>
          <a:bodyPr wrap="square" anchor="t" lIns="0" rIns="0" tIns="0" bIns="0"/>
          <a:lstStyle/>
          <a:p>
            <a:pPr algn="l">
              <a:lnSpc>
                <a:spcPct val="115000"/>
              </a:lnSpc>
              <a:spcAft>
                <a:spcPts val="400"/>
              </a:spcAft>
            </a:pPr>
            <a:r>
              <a:rPr sz="2000" b="1" i="0">
                <a:solidFill>
                  <a:srgbClr val="21409A"/>
                </a:solidFill>
                <a:latin typeface="Calibri"/>
              </a:rPr>
              <a:t>Federated learning</a:t>
            </a:r>
          </a:p>
        </p:txBody>
      </p:sp>
      <p:sp>
        <p:nvSpPr>
          <p:cNvPr id="29" name="TextBox 28"/>
          <p:cNvSpPr txBox="1"/>
          <p:nvPr/>
        </p:nvSpPr>
        <p:spPr>
          <a:xfrm>
            <a:off x="6507327" y="2423160"/>
            <a:ext cx="4907127" cy="320040"/>
          </a:xfrm>
          <a:prstGeom prst="rect">
            <a:avLst/>
          </a:prstGeom>
          <a:noFill/>
        </p:spPr>
        <p:txBody>
          <a:bodyPr wrap="square" anchor="t" lIns="0" rIns="0" tIns="0" bIns="0"/>
          <a:lstStyle/>
          <a:p>
            <a:pPr algn="l">
              <a:lnSpc>
                <a:spcPct val="115000"/>
              </a:lnSpc>
              <a:spcAft>
                <a:spcPts val="400"/>
              </a:spcAft>
            </a:pPr>
            <a:r>
              <a:rPr sz="1300" b="0" i="1">
                <a:solidFill>
                  <a:srgbClr val="607D8B"/>
                </a:solidFill>
                <a:latin typeface="Calibri"/>
              </a:rPr>
              <a:t>Bring the model to the data</a:t>
            </a:r>
          </a:p>
        </p:txBody>
      </p:sp>
      <p:sp>
        <p:nvSpPr>
          <p:cNvPr id="30" name="Rounded Rectangle 29"/>
          <p:cNvSpPr/>
          <p:nvPr/>
        </p:nvSpPr>
        <p:spPr>
          <a:xfrm>
            <a:off x="6553047"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A
scans stay</a:t>
            </a:r>
          </a:p>
        </p:txBody>
      </p:sp>
      <p:sp>
        <p:nvSpPr>
          <p:cNvPr id="31" name="Up Arrow 30"/>
          <p:cNvSpPr/>
          <p:nvPr/>
        </p:nvSpPr>
        <p:spPr>
          <a:xfrm>
            <a:off x="7060539" y="3611880"/>
            <a:ext cx="219456" cy="365760"/>
          </a:xfrm>
          <a:prstGeom prst="upArrow">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970367"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B
scans stay</a:t>
            </a:r>
          </a:p>
        </p:txBody>
      </p:sp>
      <p:sp>
        <p:nvSpPr>
          <p:cNvPr id="33" name="Up Arrow 32"/>
          <p:cNvSpPr/>
          <p:nvPr/>
        </p:nvSpPr>
        <p:spPr>
          <a:xfrm>
            <a:off x="8477859" y="3611880"/>
            <a:ext cx="219456" cy="365760"/>
          </a:xfrm>
          <a:prstGeom prst="upArrow">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387687" y="2880360"/>
            <a:ext cx="1234440" cy="640080"/>
          </a:xfrm>
          <a:prstGeom prst="roundRect">
            <a:avLst>
              <a:gd name="adj" fmla="val 2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100" b="1" i="0">
                <a:solidFill>
                  <a:srgbClr val="1B2A4A"/>
                </a:solidFill>
                <a:latin typeface="Calibri"/>
              </a:rPr>
              <a:t>Site C
scans stay</a:t>
            </a:r>
          </a:p>
        </p:txBody>
      </p:sp>
      <p:sp>
        <p:nvSpPr>
          <p:cNvPr id="35" name="Up Arrow 34"/>
          <p:cNvSpPr/>
          <p:nvPr/>
        </p:nvSpPr>
        <p:spPr>
          <a:xfrm>
            <a:off x="9895179" y="3611880"/>
            <a:ext cx="219456" cy="365760"/>
          </a:xfrm>
          <a:prstGeom prst="upArrow">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53047" y="4069080"/>
            <a:ext cx="4069080" cy="685800"/>
          </a:xfrm>
          <a:prstGeom prst="roundRect">
            <a:avLst>
              <a:gd name="adj" fmla="val 15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15000"/>
              </a:lnSpc>
              <a:spcAft>
                <a:spcPts val="400"/>
              </a:spcAft>
            </a:pPr>
            <a:r>
              <a:rPr sz="1200" b="1" i="0">
                <a:solidFill>
                  <a:srgbClr val="FFFFFF"/>
                </a:solidFill>
                <a:latin typeface="Calibri"/>
              </a:rPr>
              <a:t>MODEL visits · only the lesson travels</a:t>
            </a:r>
          </a:p>
        </p:txBody>
      </p:sp>
      <p:sp>
        <p:nvSpPr>
          <p:cNvPr id="37" name="TextBox 36"/>
          <p:cNvSpPr txBox="1"/>
          <p:nvPr/>
        </p:nvSpPr>
        <p:spPr>
          <a:xfrm>
            <a:off x="6507327" y="4846320"/>
            <a:ext cx="4907127" cy="10058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Each hospital trains on what it already holds. You still need an ethics board. You do not assemble one giant copy of everyone’s MRI archive.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ceb504f7-7a60-482b-b0e7-21559b3f233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NATURE COMMUNICATIONS 2024 · DOI 10.1038/S41467-024-51172-5</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FL-PedBrain — the scans never sat in one folder</a:t>
            </a:r>
          </a:p>
        </p:txBody>
      </p:sp>
      <p:pic>
        <p:nvPicPr>
          <p:cNvPr id="16" name="Picture 15" descr="fl-pedbrain.png"/>
          <p:cNvPicPr>
            <a:picLocks noChangeAspect="1"/>
          </p:cNvPicPr>
          <p:nvPr/>
        </p:nvPicPr>
        <p:blipFill>
          <a:blip r:embed="rId4"/>
          <a:stretch>
            <a:fillRect/>
          </a:stretch>
        </p:blipFill>
        <p:spPr>
          <a:xfrm>
            <a:off x="550288" y="1847088"/>
            <a:ext cx="5483104" cy="3566160"/>
          </a:xfrm>
          <a:prstGeom prst="rect">
            <a:avLst/>
          </a:prstGeom>
          <a:ln w="9525">
            <a:solidFill>
              <a:srgbClr val="E0E0E0"/>
            </a:solidFill>
          </a:ln>
        </p:spPr>
      </p:pic>
      <p:sp>
        <p:nvSpPr>
          <p:cNvPr id="17" name="TextBox 16"/>
          <p:cNvSpPr txBox="1"/>
          <p:nvPr/>
        </p:nvSpPr>
        <p:spPr>
          <a:xfrm>
            <a:off x="6309360" y="1847088"/>
            <a:ext cx="5333695" cy="822960"/>
          </a:xfrm>
          <a:prstGeom prst="rect">
            <a:avLst/>
          </a:prstGeom>
          <a:noFill/>
        </p:spPr>
        <p:txBody>
          <a:bodyPr wrap="square" anchor="t" lIns="0" rIns="0" tIns="0" bIns="0"/>
          <a:lstStyle/>
          <a:p>
            <a:pPr algn="l">
              <a:lnSpc>
                <a:spcPct val="115000"/>
              </a:lnSpc>
              <a:spcAft>
                <a:spcPts val="400"/>
              </a:spcAft>
            </a:pPr>
            <a:r>
              <a:rPr sz="1500" b="1" i="0">
                <a:solidFill>
                  <a:srgbClr val="1B2A4A"/>
                </a:solidFill>
                <a:latin typeface="Calibri"/>
              </a:rPr>
              <a:t>An international study presenting a federated learning AI platform for pediatric brain tumors</a:t>
            </a:r>
          </a:p>
        </p:txBody>
      </p:sp>
      <p:sp>
        <p:nvSpPr>
          <p:cNvPr id="18" name="TextBox 17"/>
          <p:cNvSpPr txBox="1"/>
          <p:nvPr/>
        </p:nvSpPr>
        <p:spPr>
          <a:xfrm>
            <a:off x="6309360" y="2670048"/>
            <a:ext cx="5333695" cy="36576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Lee, Han, Wright, Prolo, Yeom et al. · Nat Commun 15, 7615 (2024)</a:t>
            </a:r>
          </a:p>
        </p:txBody>
      </p:sp>
      <p:sp>
        <p:nvSpPr>
          <p:cNvPr id="19" name="Rounded Rectangle 18"/>
          <p:cNvSpPr/>
          <p:nvPr/>
        </p:nvSpPr>
        <p:spPr>
          <a:xfrm>
            <a:off x="6309360" y="3127248"/>
            <a:ext cx="2575407" cy="9601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3200400"/>
            <a:ext cx="2301087" cy="457200"/>
          </a:xfrm>
          <a:prstGeom prst="rect">
            <a:avLst/>
          </a:prstGeom>
          <a:noFill/>
        </p:spPr>
        <p:txBody>
          <a:bodyPr wrap="square" anchor="t" lIns="0" rIns="0" tIns="0" bIns="0"/>
          <a:lstStyle/>
          <a:p>
            <a:pPr algn="l">
              <a:lnSpc>
                <a:spcPct val="115000"/>
              </a:lnSpc>
              <a:spcAft>
                <a:spcPts val="400"/>
              </a:spcAft>
            </a:pPr>
            <a:r>
              <a:rPr sz="2400" b="1" i="0">
                <a:solidFill>
                  <a:srgbClr val="21409A"/>
                </a:solidFill>
                <a:latin typeface="Calibri"/>
              </a:rPr>
              <a:t>19</a:t>
            </a:r>
          </a:p>
        </p:txBody>
      </p:sp>
      <p:sp>
        <p:nvSpPr>
          <p:cNvPr id="21" name="TextBox 20"/>
          <p:cNvSpPr txBox="1"/>
          <p:nvPr/>
        </p:nvSpPr>
        <p:spPr>
          <a:xfrm>
            <a:off x="6446520" y="3657600"/>
            <a:ext cx="2301087" cy="41148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sites, five continents</a:t>
            </a:r>
          </a:p>
        </p:txBody>
      </p:sp>
      <p:sp>
        <p:nvSpPr>
          <p:cNvPr id="22" name="Rounded Rectangle 21"/>
          <p:cNvSpPr/>
          <p:nvPr/>
        </p:nvSpPr>
        <p:spPr>
          <a:xfrm>
            <a:off x="9067647" y="3127248"/>
            <a:ext cx="2575407" cy="9601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04807" y="3200400"/>
            <a:ext cx="2301087" cy="457200"/>
          </a:xfrm>
          <a:prstGeom prst="rect">
            <a:avLst/>
          </a:prstGeom>
          <a:noFill/>
        </p:spPr>
        <p:txBody>
          <a:bodyPr wrap="square" anchor="t" lIns="0" rIns="0" tIns="0" bIns="0"/>
          <a:lstStyle/>
          <a:p>
            <a:pPr algn="l">
              <a:lnSpc>
                <a:spcPct val="115000"/>
              </a:lnSpc>
              <a:spcAft>
                <a:spcPts val="400"/>
              </a:spcAft>
            </a:pPr>
            <a:r>
              <a:rPr sz="2400" b="1" i="0">
                <a:solidFill>
                  <a:srgbClr val="21409A"/>
                </a:solidFill>
                <a:latin typeface="Calibri"/>
              </a:rPr>
              <a:t>1,468</a:t>
            </a:r>
          </a:p>
        </p:txBody>
      </p:sp>
      <p:sp>
        <p:nvSpPr>
          <p:cNvPr id="24" name="TextBox 23"/>
          <p:cNvSpPr txBox="1"/>
          <p:nvPr/>
        </p:nvSpPr>
        <p:spPr>
          <a:xfrm>
            <a:off x="9204807" y="3657600"/>
            <a:ext cx="2301087" cy="41148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children, posterior fossa tumours</a:t>
            </a:r>
          </a:p>
        </p:txBody>
      </p:sp>
      <p:sp>
        <p:nvSpPr>
          <p:cNvPr id="25" name="Rounded Rectangle 24"/>
          <p:cNvSpPr/>
          <p:nvPr/>
        </p:nvSpPr>
        <p:spPr>
          <a:xfrm>
            <a:off x="6309360" y="4178808"/>
            <a:ext cx="2575407" cy="9601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46520" y="4251960"/>
            <a:ext cx="2301087" cy="457200"/>
          </a:xfrm>
          <a:prstGeom prst="rect">
            <a:avLst/>
          </a:prstGeom>
          <a:noFill/>
        </p:spPr>
        <p:txBody>
          <a:bodyPr wrap="square" anchor="t" lIns="0" rIns="0" tIns="0" bIns="0"/>
          <a:lstStyle/>
          <a:p>
            <a:pPr algn="l">
              <a:lnSpc>
                <a:spcPct val="115000"/>
              </a:lnSpc>
              <a:spcAft>
                <a:spcPts val="400"/>
              </a:spcAft>
            </a:pPr>
            <a:r>
              <a:rPr sz="2400" b="1" i="0">
                <a:solidFill>
                  <a:srgbClr val="21409A"/>
                </a:solidFill>
                <a:latin typeface="Calibri"/>
              </a:rPr>
              <a:t>&lt;1.5%</a:t>
            </a:r>
          </a:p>
        </p:txBody>
      </p:sp>
      <p:sp>
        <p:nvSpPr>
          <p:cNvPr id="27" name="TextBox 26"/>
          <p:cNvSpPr txBox="1"/>
          <p:nvPr/>
        </p:nvSpPr>
        <p:spPr>
          <a:xfrm>
            <a:off x="6446520" y="4709160"/>
            <a:ext cx="2301087" cy="41148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off pooling everything (classification)</a:t>
            </a:r>
          </a:p>
        </p:txBody>
      </p:sp>
      <p:sp>
        <p:nvSpPr>
          <p:cNvPr id="28" name="Rounded Rectangle 27"/>
          <p:cNvSpPr/>
          <p:nvPr/>
        </p:nvSpPr>
        <p:spPr>
          <a:xfrm>
            <a:off x="9067647" y="4178808"/>
            <a:ext cx="2575407" cy="9601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04807" y="4251960"/>
            <a:ext cx="2301087" cy="457200"/>
          </a:xfrm>
          <a:prstGeom prst="rect">
            <a:avLst/>
          </a:prstGeom>
          <a:noFill/>
        </p:spPr>
        <p:txBody>
          <a:bodyPr wrap="square" anchor="t" lIns="0" rIns="0" tIns="0" bIns="0"/>
          <a:lstStyle/>
          <a:p>
            <a:pPr algn="l">
              <a:lnSpc>
                <a:spcPct val="115000"/>
              </a:lnSpc>
              <a:spcAft>
                <a:spcPts val="400"/>
              </a:spcAft>
            </a:pPr>
            <a:r>
              <a:rPr sz="2400" b="1" i="0">
                <a:solidFill>
                  <a:srgbClr val="21409A"/>
                </a:solidFill>
                <a:latin typeface="Calibri"/>
              </a:rPr>
              <a:t>20–30%</a:t>
            </a:r>
          </a:p>
        </p:txBody>
      </p:sp>
      <p:sp>
        <p:nvSpPr>
          <p:cNvPr id="30" name="TextBox 29"/>
          <p:cNvSpPr txBox="1"/>
          <p:nvPr/>
        </p:nvSpPr>
        <p:spPr>
          <a:xfrm>
            <a:off x="9204807" y="4709160"/>
            <a:ext cx="2301087" cy="41148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better than one hospital alone (segmentation)</a:t>
            </a:r>
          </a:p>
        </p:txBody>
      </p:sp>
      <p:sp>
        <p:nvSpPr>
          <p:cNvPr id="31" name="TextBox 30"/>
          <p:cNvSpPr txBox="1"/>
          <p:nvPr/>
        </p:nvSpPr>
        <p:spPr>
          <a:xfrm>
            <a:off x="6309360" y="5230368"/>
            <a:ext cx="5333695" cy="64008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Medulloblastoma, ependymoma, pilocytic astrocytoma, DIPG. The model learned to classify the tumour and draw its outline on MRI. That is the SIOP problem, and the SIOP opening.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6 · 00:37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5-small-model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3f3dcbe-88d2-4463-9317-1f505edd3f8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C62828"/>
                </a:solidFill>
                <a:latin typeface="Calibri"/>
              </a:rPr>
              <a:t>ON THE SITE: LOAD ONCE (~290 MB), THEN SWITCH THE WI-FI OFF</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Square 4, live — Bonsai 1.7B in a browser tab</a:t>
            </a:r>
          </a:p>
        </p:txBody>
      </p:sp>
      <p:sp>
        <p:nvSpPr>
          <p:cNvPr id="16" name="TextBox 15"/>
          <p:cNvSpPr txBox="1"/>
          <p:nvPr/>
        </p:nvSpPr>
        <p:spPr>
          <a:xfrm>
            <a:off x="548640" y="1938528"/>
            <a:ext cx="6583680" cy="3017520"/>
          </a:xfrm>
          <a:prstGeom prst="rect">
            <a:avLst/>
          </a:prstGeom>
          <a:noFill/>
        </p:spPr>
        <p:txBody>
          <a:bodyPr wrap="square" lIns="73152" rIns="73152" tIns="73152" bIns="73152"/>
          <a:lstStyle/>
          <a:p>
            <a:pPr marL="256032" indent="-256032">
              <a:lnSpc>
                <a:spcPct val="112000"/>
              </a:lnSpc>
              <a:spcAft>
                <a:spcPts val="900"/>
              </a:spcAft>
              <a:buClr>
                <a:srgbClr val="EC008C"/>
              </a:buClr>
              <a:buFont typeface="Arial"/>
              <a:buChar char="•"/>
            </a:pPr>
            <a:r>
              <a:rPr sz="1500" b="0" i="0">
                <a:solidFill>
                  <a:srgbClr val="1B2A4A"/>
                </a:solidFill>
                <a:latin typeface="Calibri"/>
              </a:rPr>
              <a:t>Prism ML’s 1-bit Bonsai 1.7B, weights from onnx-community/Bonsai-1.7B-ONNX. After the first download it stays in the browser.</a:t>
            </a:r>
          </a:p>
          <a:p>
            <a:pPr marL="256032" indent="-256032">
              <a:lnSpc>
                <a:spcPct val="112000"/>
              </a:lnSpc>
              <a:spcAft>
                <a:spcPts val="900"/>
              </a:spcAft>
              <a:buClr>
                <a:srgbClr val="EC008C"/>
              </a:buClr>
              <a:buFont typeface="Arial"/>
              <a:buChar char="•"/>
            </a:pPr>
            <a:r>
              <a:rPr sz="1500" b="0" i="0">
                <a:solidFill>
                  <a:srgbClr val="1B2A4A"/>
                </a:solidFill>
                <a:latin typeface="Calibri"/>
              </a:rPr>
              <a:t>The demo: paste a sentence with language errors and ask it to fix the English. Nothing is sent to a cloud.</a:t>
            </a:r>
          </a:p>
          <a:p>
            <a:pPr marL="256032" indent="-256032">
              <a:lnSpc>
                <a:spcPct val="112000"/>
              </a:lnSpc>
              <a:spcAft>
                <a:spcPts val="900"/>
              </a:spcAft>
              <a:buClr>
                <a:srgbClr val="EC008C"/>
              </a:buClr>
              <a:buFont typeface="Arial"/>
              <a:buChar char="•"/>
            </a:pPr>
            <a:r>
              <a:rPr sz="1500" b="0" i="0">
                <a:solidFill>
                  <a:srgbClr val="1B2A4A"/>
                </a:solidFill>
                <a:latin typeface="Calibri"/>
              </a:rPr>
              <a:t>It is not a second opinion. It is the fourth square: a narrow job, on the computer that already has the note.</a:t>
            </a:r>
          </a:p>
          <a:p>
            <a:pPr marL="256032" indent="-256032">
              <a:lnSpc>
                <a:spcPct val="112000"/>
              </a:lnSpc>
              <a:spcAft>
                <a:spcPts val="900"/>
              </a:spcAft>
              <a:buClr>
                <a:srgbClr val="EC008C"/>
              </a:buClr>
              <a:buFont typeface="Arial"/>
              <a:buChar char="•"/>
            </a:pPr>
            <a:r>
              <a:rPr sz="1500" b="0" i="0">
                <a:solidFill>
                  <a:srgbClr val="1B2A4A"/>
                </a:solidFill>
                <a:latin typeface="Calibri"/>
              </a:rPr>
              <a:t>Chrome or Edge works best. Cache it before you demo.</a:t>
            </a:r>
          </a:p>
        </p:txBody>
      </p:sp>
      <p:sp>
        <p:nvSpPr>
          <p:cNvPr id="17" name="Rounded Rectangle 16"/>
          <p:cNvSpPr/>
          <p:nvPr/>
        </p:nvSpPr>
        <p:spPr>
          <a:xfrm>
            <a:off x="7498080" y="1938528"/>
            <a:ext cx="4144975" cy="118872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26096" y="2011680"/>
            <a:ext cx="388894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 → BONSAI (WI-FI OFF)</a:t>
            </a:r>
          </a:p>
        </p:txBody>
      </p:sp>
      <p:sp>
        <p:nvSpPr>
          <p:cNvPr id="19" name="TextBox 18"/>
          <p:cNvSpPr txBox="1"/>
          <p:nvPr/>
        </p:nvSpPr>
        <p:spPr>
          <a:xfrm>
            <a:off x="7626096" y="2231136"/>
            <a:ext cx="3888943" cy="822960"/>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Fix the English: “the patient have fever since 2 hour and the ANC are 80, we brought him in the ER”.</a:t>
            </a:r>
          </a:p>
        </p:txBody>
      </p:sp>
      <p:sp>
        <p:nvSpPr>
          <p:cNvPr id="20" name="Rounded Rectangle 19"/>
          <p:cNvSpPr/>
          <p:nvPr/>
        </p:nvSpPr>
        <p:spPr>
          <a:xfrm>
            <a:off x="7498080" y="3264408"/>
            <a:ext cx="4144975" cy="16916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26096" y="3337560"/>
            <a:ext cx="3888943"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BONSAI 1.7B — IN THIS TAB</a:t>
            </a:r>
          </a:p>
        </p:txBody>
      </p:sp>
      <p:sp>
        <p:nvSpPr>
          <p:cNvPr id="22" name="TextBox 21"/>
          <p:cNvSpPr txBox="1"/>
          <p:nvPr/>
        </p:nvSpPr>
        <p:spPr>
          <a:xfrm>
            <a:off x="7626096" y="3557016"/>
            <a:ext cx="3888943" cy="1325880"/>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The patient has had a fever for two hours and the ANC is 80. We brought him to the ER.
(Illustrative of the demo output; the live model rephrases slightly each run.)</a:t>
            </a:r>
          </a:p>
        </p:txBody>
      </p:sp>
      <p:sp>
        <p:nvSpPr>
          <p:cNvPr id="23" name="Rounded Rectangle 22"/>
          <p:cNvSpPr/>
          <p:nvPr/>
        </p:nvSpPr>
        <p:spPr>
          <a:xfrm>
            <a:off x="548640" y="5212080"/>
            <a:ext cx="11094415" cy="6858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5212080"/>
            <a:ext cx="73152" cy="68580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5212080"/>
            <a:ext cx="10774375" cy="68580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Small and local for the routine and the sensitive; large and remote for the difficult. When the notes cannot travel, send the model. Fine-tune on one hospital. Federate across the network.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7</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7  ·  00:43</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A small app
in five minutes</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A saved skill writes the brief. The brief writes the app. You still own the rules.</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6-small-app.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f9bb094d-8165-4976-903a-ee3136946816}" type="datetime9">
              <a:rPr lang="en-US" sz="1400" b="1" dirty="0" smtClean="0">
                <a:solidFill>
                  <a:srgbClr val="FFFFFF"/>
                </a:solidFill>
                <a:latin typeface="Calibri"/>
              </a:rPr>
              <a:t>1:04 AM</a:t>
            </a:fld>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b1a342e3-9c62-4a14-ba2b-3668b97ac65d}"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A HEAD NURSE’S MONTHLY HEADACHE, AS SOMETHING YOU CAN SHOW IT ON MONDAY</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Roster Builder, live — Cedar Ward, April 2026</a:t>
            </a:r>
          </a:p>
        </p:txBody>
      </p:sp>
      <p:pic>
        <p:nvPicPr>
          <p:cNvPr id="16" name="Picture 15" descr="roster-builder.png"/>
          <p:cNvPicPr>
            <a:picLocks noChangeAspect="1"/>
          </p:cNvPicPr>
          <p:nvPr/>
        </p:nvPicPr>
        <p:blipFill>
          <a:blip r:embed="rId4"/>
          <a:stretch>
            <a:fillRect/>
          </a:stretch>
        </p:blipFill>
        <p:spPr>
          <a:xfrm>
            <a:off x="2564372" y="1847088"/>
            <a:ext cx="7062951" cy="3200400"/>
          </a:xfrm>
          <a:prstGeom prst="rect">
            <a:avLst/>
          </a:prstGeom>
          <a:ln w="9525">
            <a:solidFill>
              <a:srgbClr val="E0E0E0"/>
            </a:solidFill>
          </a:ln>
        </p:spPr>
      </p:pic>
      <p:sp>
        <p:nvSpPr>
          <p:cNvPr id="17" name="TextBox 16"/>
          <p:cNvSpPr txBox="1"/>
          <p:nvPr/>
        </p:nvSpPr>
        <p:spPr>
          <a:xfrm>
            <a:off x="548640" y="5138928"/>
            <a:ext cx="11094415" cy="64008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Staff list, requested days off, and approved leave are in. Capacity is green. Generate ten candidates. Compare. Export. Live at roster-builder-iyadsultan.replit.app — no patient names anywhere.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d5aa9c7-6d68-4380-b86f-d44c3b3015ac}"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BLOCK 1 TAUGHT THE PROMPT. BLOCK 3 GAVE YOU PRD-BUILDER. HERE THEY EARN THEIR KEEP.</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Five beats. Do not skip the last one.</a:t>
            </a:r>
          </a:p>
        </p:txBody>
      </p:sp>
      <p:sp>
        <p:nvSpPr>
          <p:cNvPr id="16" name="Rounded Rectangle 15"/>
          <p:cNvSpPr/>
          <p:nvPr/>
        </p:nvSpPr>
        <p:spPr>
          <a:xfrm>
            <a:off x="548640" y="1938528"/>
            <a:ext cx="203600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06654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066544"/>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Prompt</a:t>
            </a:r>
          </a:p>
        </p:txBody>
      </p:sp>
      <p:sp>
        <p:nvSpPr>
          <p:cNvPr id="19" name="TextBox 18"/>
          <p:cNvSpPr txBox="1"/>
          <p:nvPr/>
        </p:nvSpPr>
        <p:spPr>
          <a:xfrm>
            <a:off x="1197864" y="2485339"/>
            <a:ext cx="1240475" cy="155996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Name the job. Name the input. Name the constraint. Ask it not to guess.</a:t>
            </a:r>
          </a:p>
        </p:txBody>
      </p:sp>
      <p:sp>
        <p:nvSpPr>
          <p:cNvPr id="20" name="Right Arrow 19"/>
          <p:cNvSpPr/>
          <p:nvPr/>
        </p:nvSpPr>
        <p:spPr>
          <a:xfrm>
            <a:off x="2602931" y="2898648"/>
            <a:ext cx="192024" cy="219456"/>
          </a:xfrm>
          <a:prstGeom prst="rightArrow">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13243" y="1938528"/>
            <a:ext cx="203600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2959547" y="206654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3" name="TextBox 22"/>
          <p:cNvSpPr txBox="1"/>
          <p:nvPr/>
        </p:nvSpPr>
        <p:spPr>
          <a:xfrm>
            <a:off x="3462467" y="2066544"/>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Skill</a:t>
            </a:r>
          </a:p>
        </p:txBody>
      </p:sp>
      <p:sp>
        <p:nvSpPr>
          <p:cNvPr id="24" name="TextBox 23"/>
          <p:cNvSpPr txBox="1"/>
          <p:nvPr/>
        </p:nvSpPr>
        <p:spPr>
          <a:xfrm>
            <a:off x="3462467" y="2485339"/>
            <a:ext cx="1240475" cy="155996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The skill asks the missing pieces before it writes a word.</a:t>
            </a:r>
          </a:p>
        </p:txBody>
      </p:sp>
      <p:sp>
        <p:nvSpPr>
          <p:cNvPr id="25" name="Right Arrow 24"/>
          <p:cNvSpPr/>
          <p:nvPr/>
        </p:nvSpPr>
        <p:spPr>
          <a:xfrm>
            <a:off x="4867534" y="2898648"/>
            <a:ext cx="192024" cy="219456"/>
          </a:xfrm>
          <a:prstGeom prst="rightArrow">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77846" y="1938528"/>
            <a:ext cx="203600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5224150" y="206654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8" name="TextBox 27"/>
          <p:cNvSpPr txBox="1"/>
          <p:nvPr/>
        </p:nvSpPr>
        <p:spPr>
          <a:xfrm>
            <a:off x="5727070" y="2066544"/>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PRD</a:t>
            </a:r>
          </a:p>
        </p:txBody>
      </p:sp>
      <p:sp>
        <p:nvSpPr>
          <p:cNvPr id="29" name="TextBox 28"/>
          <p:cNvSpPr txBox="1"/>
          <p:nvPr/>
        </p:nvSpPr>
        <p:spPr>
          <a:xfrm>
            <a:off x="5727070" y="2485339"/>
            <a:ext cx="1240475" cy="155996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Who it is for. What it must do. What it must never do.</a:t>
            </a:r>
          </a:p>
        </p:txBody>
      </p:sp>
      <p:sp>
        <p:nvSpPr>
          <p:cNvPr id="30" name="Right Arrow 29"/>
          <p:cNvSpPr/>
          <p:nvPr/>
        </p:nvSpPr>
        <p:spPr>
          <a:xfrm>
            <a:off x="7132137" y="2898648"/>
            <a:ext cx="192024" cy="219456"/>
          </a:xfrm>
          <a:prstGeom prst="rightArrow">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42449" y="1938528"/>
            <a:ext cx="203600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7488753" y="206654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3" name="TextBox 32"/>
          <p:cNvSpPr txBox="1"/>
          <p:nvPr/>
        </p:nvSpPr>
        <p:spPr>
          <a:xfrm>
            <a:off x="7991673" y="2066544"/>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App</a:t>
            </a:r>
          </a:p>
        </p:txBody>
      </p:sp>
      <p:sp>
        <p:nvSpPr>
          <p:cNvPr id="34" name="TextBox 33"/>
          <p:cNvSpPr txBox="1"/>
          <p:nvPr/>
        </p:nvSpPr>
        <p:spPr>
          <a:xfrm>
            <a:off x="7991673" y="2485339"/>
            <a:ext cx="1240475" cy="155996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Ten candidate rosters, ranked, on Replit.</a:t>
            </a:r>
          </a:p>
        </p:txBody>
      </p:sp>
      <p:sp>
        <p:nvSpPr>
          <p:cNvPr id="35" name="Right Arrow 34"/>
          <p:cNvSpPr/>
          <p:nvPr/>
        </p:nvSpPr>
        <p:spPr>
          <a:xfrm>
            <a:off x="9396740" y="2898648"/>
            <a:ext cx="192024" cy="219456"/>
          </a:xfrm>
          <a:prstGeom prst="rightArrow">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07052" y="1938528"/>
            <a:ext cx="203600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753356" y="2066544"/>
            <a:ext cx="384048" cy="384048"/>
          </a:xfrm>
          <a:prstGeom prst="roundRect">
            <a:avLst>
              <a:gd name="adj" fmla="val 25000"/>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5</a:t>
            </a:r>
          </a:p>
        </p:txBody>
      </p:sp>
      <p:sp>
        <p:nvSpPr>
          <p:cNvPr id="38" name="TextBox 37"/>
          <p:cNvSpPr txBox="1"/>
          <p:nvPr/>
        </p:nvSpPr>
        <p:spPr>
          <a:xfrm>
            <a:off x="10256276" y="2066544"/>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Still</a:t>
            </a:r>
          </a:p>
        </p:txBody>
      </p:sp>
      <p:sp>
        <p:nvSpPr>
          <p:cNvPr id="39" name="TextBox 38"/>
          <p:cNvSpPr txBox="1"/>
          <p:nvPr/>
        </p:nvSpPr>
        <p:spPr>
          <a:xfrm>
            <a:off x="10256276" y="2485339"/>
            <a:ext cx="1240475" cy="155996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Screens, server, locks, store, who may look, a real address, a hosting bill, and talking to other apps.</a:t>
            </a:r>
          </a:p>
        </p:txBody>
      </p:sp>
      <p:sp>
        <p:nvSpPr>
          <p:cNvPr id="40" name="Rounded Rectangle 39"/>
          <p:cNvSpPr/>
          <p:nvPr/>
        </p:nvSpPr>
        <p:spPr>
          <a:xfrm>
            <a:off x="548640" y="4407408"/>
            <a:ext cx="11094415" cy="59436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48640" y="4407408"/>
            <a:ext cx="73152" cy="59436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77240" y="4407408"/>
            <a:ext cx="10774375" cy="59436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The app is the proof. The PRD is the thing you keep. The last beat is what IT will ask you on Monday.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c3ee7ce-aa18-45f3-b2b1-20b7761aa89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59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CUSTOMIZE → SKILLS → TURN ON PRD-BUILDER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On Claude.ai — prd-builder on. Paste this.</a:t>
            </a:r>
          </a:p>
        </p:txBody>
      </p:sp>
      <p:sp>
        <p:nvSpPr>
          <p:cNvPr id="16" name="Rounded Rectangle 15"/>
          <p:cNvSpPr/>
          <p:nvPr/>
        </p:nvSpPr>
        <p:spPr>
          <a:xfrm>
            <a:off x="548640" y="1965960"/>
            <a:ext cx="6949440" cy="393192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39112"/>
            <a:ext cx="6693408"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258568"/>
            <a:ext cx="6693408" cy="356616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Write a PRD for a nurse call-scheduling tool.
Input: a list of nurses with name, seniority level, the maximum number of call shifts each can take, and the October dates they've asked not to be on duty.
The tool should generate ten or more candidate call schedules and rank them on how evenly they distribute workload — total shifts, day versus night, and weekends — and on how many of the requested days off they satisfy.
Constraint: keep the patient-to-nurse ratio at 4 patients per nurse per shift. The unit holds 20 patients on weekdays and 15 on weekends.
Ask me if anything is unclear.</a:t>
            </a:r>
          </a:p>
        </p:txBody>
      </p:sp>
      <p:sp>
        <p:nvSpPr>
          <p:cNvPr id="19" name="TextBox 18"/>
          <p:cNvSpPr txBox="1"/>
          <p:nvPr/>
        </p:nvSpPr>
        <p:spPr>
          <a:xfrm>
            <a:off x="7772400" y="1965960"/>
            <a:ext cx="3870655" cy="274320"/>
          </a:xfrm>
          <a:prstGeom prst="rect">
            <a:avLst/>
          </a:prstGeom>
          <a:noFill/>
        </p:spPr>
        <p:txBody>
          <a:bodyPr wrap="square" anchor="t" lIns="0" rIns="0" tIns="0" bIns="0"/>
          <a:lstStyle/>
          <a:p>
            <a:pPr algn="l">
              <a:lnSpc>
                <a:spcPct val="115000"/>
              </a:lnSpc>
              <a:spcAft>
                <a:spcPts val="400"/>
              </a:spcAft>
            </a:pPr>
            <a:r>
              <a:rPr sz="1000" b="1" i="0">
                <a:solidFill>
                  <a:srgbClr val="0277BD"/>
                </a:solidFill>
                <a:latin typeface="Calibri"/>
              </a:rPr>
              <a:t>THE SKILL STOPS AND ASKS</a:t>
            </a:r>
          </a:p>
        </p:txBody>
      </p:sp>
      <p:sp>
        <p:nvSpPr>
          <p:cNvPr id="20" name="Rounded Rectangle 19"/>
          <p:cNvSpPr/>
          <p:nvPr/>
        </p:nvSpPr>
        <p:spPr>
          <a:xfrm>
            <a:off x="7772400" y="2286000"/>
            <a:ext cx="3870655" cy="11155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909560" y="2359152"/>
            <a:ext cx="3596335" cy="320040"/>
          </a:xfrm>
          <a:prstGeom prst="rect">
            <a:avLst/>
          </a:prstGeom>
          <a:noFill/>
        </p:spPr>
        <p:txBody>
          <a:bodyPr wrap="square" anchor="t" lIns="0" rIns="0" tIns="0" bIns="0"/>
          <a:lstStyle/>
          <a:p>
            <a:pPr algn="l">
              <a:lnSpc>
                <a:spcPct val="115000"/>
              </a:lnSpc>
              <a:spcAft>
                <a:spcPts val="400"/>
              </a:spcAft>
            </a:pPr>
            <a:r>
              <a:rPr sz="1300" b="1" i="0">
                <a:solidFill>
                  <a:srgbClr val="1B2A4A"/>
                </a:solidFill>
                <a:latin typeface="Calibri"/>
              </a:rPr>
              <a:t>How many shifts in a day?</a:t>
            </a:r>
          </a:p>
        </p:txBody>
      </p:sp>
      <p:sp>
        <p:nvSpPr>
          <p:cNvPr id="22" name="TextBox 21"/>
          <p:cNvSpPr txBox="1"/>
          <p:nvPr/>
        </p:nvSpPr>
        <p:spPr>
          <a:xfrm>
            <a:off x="7909560" y="2670048"/>
            <a:ext cx="3596335" cy="73152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Three 8-hour shifts: Morning 07:00–15:00, Evening 15:00–23:00, Night 23:00–07:00. Not two.</a:t>
            </a:r>
          </a:p>
        </p:txBody>
      </p:sp>
      <p:sp>
        <p:nvSpPr>
          <p:cNvPr id="23" name="Rounded Rectangle 22"/>
          <p:cNvSpPr/>
          <p:nvPr/>
        </p:nvSpPr>
        <p:spPr>
          <a:xfrm>
            <a:off x="7772400" y="3493008"/>
            <a:ext cx="3870655" cy="11155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09560" y="3566160"/>
            <a:ext cx="3596335" cy="320040"/>
          </a:xfrm>
          <a:prstGeom prst="rect">
            <a:avLst/>
          </a:prstGeom>
          <a:noFill/>
        </p:spPr>
        <p:txBody>
          <a:bodyPr wrap="square" anchor="t" lIns="0" rIns="0" tIns="0" bIns="0"/>
          <a:lstStyle/>
          <a:p>
            <a:pPr algn="l">
              <a:lnSpc>
                <a:spcPct val="115000"/>
              </a:lnSpc>
              <a:spcAft>
                <a:spcPts val="400"/>
              </a:spcAft>
            </a:pPr>
            <a:r>
              <a:rPr sz="1300" b="1" i="0">
                <a:solidFill>
                  <a:srgbClr val="1B2A4A"/>
                </a:solidFill>
                <a:latin typeface="Calibri"/>
              </a:rPr>
              <a:t>Are requested days off a hard block?</a:t>
            </a:r>
          </a:p>
        </p:txBody>
      </p:sp>
      <p:sp>
        <p:nvSpPr>
          <p:cNvPr id="25" name="TextBox 24"/>
          <p:cNvSpPr txBox="1"/>
          <p:nvPr/>
        </p:nvSpPr>
        <p:spPr>
          <a:xfrm>
            <a:off x="7909560" y="3877056"/>
            <a:ext cx="3596335" cy="73152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No. Requested off is a preference. Approved leave is a hard block — never schedule through it.</a:t>
            </a:r>
          </a:p>
        </p:txBody>
      </p:sp>
      <p:sp>
        <p:nvSpPr>
          <p:cNvPr id="26" name="Rounded Rectangle 25"/>
          <p:cNvSpPr/>
          <p:nvPr/>
        </p:nvSpPr>
        <p:spPr>
          <a:xfrm>
            <a:off x="7772400" y="4700016"/>
            <a:ext cx="3870655" cy="11155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09560" y="4773168"/>
            <a:ext cx="3596335" cy="320040"/>
          </a:xfrm>
          <a:prstGeom prst="rect">
            <a:avLst/>
          </a:prstGeom>
          <a:noFill/>
        </p:spPr>
        <p:txBody>
          <a:bodyPr wrap="square" anchor="t" lIns="0" rIns="0" tIns="0" bIns="0"/>
          <a:lstStyle/>
          <a:p>
            <a:pPr algn="l">
              <a:lnSpc>
                <a:spcPct val="115000"/>
              </a:lnSpc>
              <a:spcAft>
                <a:spcPts val="400"/>
              </a:spcAft>
            </a:pPr>
            <a:r>
              <a:rPr sz="1300" b="1" i="0">
                <a:solidFill>
                  <a:srgbClr val="1B2A4A"/>
                </a:solidFill>
                <a:latin typeface="Calibri"/>
              </a:rPr>
              <a:t>Must every shift have a senior nurse?</a:t>
            </a:r>
          </a:p>
        </p:txBody>
      </p:sp>
      <p:sp>
        <p:nvSpPr>
          <p:cNvPr id="28" name="TextBox 27"/>
          <p:cNvSpPr txBox="1"/>
          <p:nvPr/>
        </p:nvSpPr>
        <p:spPr>
          <a:xfrm>
            <a:off x="7909560" y="5084064"/>
            <a:ext cx="3596335" cy="73152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Yes. A candidate that leaves a shift without a Senior is never shown.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8fab064-a096-4442-bff0-fe0af66db7d7}"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ROSTER BUILDER — A SMALL DJANGO APP FOR ONE UNIT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What the skill wrote</a:t>
            </a:r>
          </a:p>
        </p:txBody>
      </p:sp>
      <p:sp>
        <p:nvSpPr>
          <p:cNvPr id="16" name="TextBox 15"/>
          <p:cNvSpPr txBox="1"/>
          <p:nvPr/>
        </p:nvSpPr>
        <p:spPr>
          <a:xfrm>
            <a:off x="548640" y="1920240"/>
            <a:ext cx="11094415" cy="731520"/>
          </a:xfrm>
          <a:prstGeom prst="rect">
            <a:avLst/>
          </a:prstGeom>
          <a:noFill/>
        </p:spPr>
        <p:txBody>
          <a:bodyPr wrap="square" anchor="t" lIns="0" rIns="0" tIns="0" bIns="0"/>
          <a:lstStyle/>
          <a:p>
            <a:pPr algn="l">
              <a:lnSpc>
                <a:spcPct val="115000"/>
              </a:lnSpc>
              <a:spcAft>
                <a:spcPts val="400"/>
              </a:spcAft>
            </a:pPr>
            <a:r>
              <a:rPr sz="1400" b="0" i="0">
                <a:solidFill>
                  <a:srgbClr val="607D8B"/>
                </a:solidFill>
                <a:latin typeface="Calibri"/>
              </a:rPr>
              <a:t>The head nurse types the staff list, marks leave, and gets ten legal October schedules, ranked on coverage, fairness, and requests honoured. Export to Excel or PDF. No patient names anywhere. Census is just a number.</a:t>
            </a:r>
          </a:p>
        </p:txBody>
      </p:sp>
      <p:sp>
        <p:nvSpPr>
          <p:cNvPr id="17" name="Rounded Rectangle 16"/>
          <p:cNvSpPr/>
          <p:nvPr/>
        </p:nvSpPr>
        <p:spPr>
          <a:xfrm>
            <a:off x="548640" y="2743200"/>
            <a:ext cx="2286000" cy="11430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2788920"/>
            <a:ext cx="2011680" cy="274320"/>
          </a:xfrm>
          <a:prstGeom prst="rect">
            <a:avLst/>
          </a:prstGeom>
          <a:noFill/>
        </p:spPr>
        <p:txBody>
          <a:bodyPr wrap="square" anchor="t" lIns="0" rIns="0" tIns="0" bIns="0"/>
          <a:lstStyle/>
          <a:p>
            <a:pPr algn="l">
              <a:lnSpc>
                <a:spcPct val="115000"/>
              </a:lnSpc>
              <a:spcAft>
                <a:spcPts val="400"/>
              </a:spcAft>
            </a:pPr>
            <a:r>
              <a:rPr sz="900" b="1" i="0">
                <a:solidFill>
                  <a:srgbClr val="034EA2"/>
                </a:solidFill>
                <a:latin typeface="Calibri"/>
              </a:rPr>
              <a:t>WEEKDAY</a:t>
            </a:r>
          </a:p>
        </p:txBody>
      </p:sp>
      <p:sp>
        <p:nvSpPr>
          <p:cNvPr id="19" name="TextBox 18"/>
          <p:cNvSpPr txBox="1"/>
          <p:nvPr/>
        </p:nvSpPr>
        <p:spPr>
          <a:xfrm>
            <a:off x="685800" y="3017520"/>
            <a:ext cx="2011680" cy="457200"/>
          </a:xfrm>
          <a:prstGeom prst="rect">
            <a:avLst/>
          </a:prstGeom>
          <a:noFill/>
        </p:spPr>
        <p:txBody>
          <a:bodyPr wrap="square" anchor="t" lIns="0" rIns="0" tIns="0" bIns="0"/>
          <a:lstStyle/>
          <a:p>
            <a:pPr algn="l">
              <a:lnSpc>
                <a:spcPct val="115000"/>
              </a:lnSpc>
              <a:spcAft>
                <a:spcPts val="400"/>
              </a:spcAft>
            </a:pPr>
            <a:r>
              <a:rPr sz="2200" b="1" i="0">
                <a:solidFill>
                  <a:srgbClr val="21409A"/>
                </a:solidFill>
                <a:latin typeface="Calibri"/>
              </a:rPr>
              <a:t>20 patients</a:t>
            </a:r>
          </a:p>
        </p:txBody>
      </p:sp>
      <p:sp>
        <p:nvSpPr>
          <p:cNvPr id="20" name="TextBox 19"/>
          <p:cNvSpPr txBox="1"/>
          <p:nvPr/>
        </p:nvSpPr>
        <p:spPr>
          <a:xfrm>
            <a:off x="685800" y="3474720"/>
            <a:ext cx="2011680" cy="36576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5 nurses × 3 shifts × 22 days</a:t>
            </a:r>
          </a:p>
        </p:txBody>
      </p:sp>
      <p:sp>
        <p:nvSpPr>
          <p:cNvPr id="21" name="Rounded Rectangle 20"/>
          <p:cNvSpPr/>
          <p:nvPr/>
        </p:nvSpPr>
        <p:spPr>
          <a:xfrm>
            <a:off x="3017520" y="2743200"/>
            <a:ext cx="2286000" cy="11430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154680" y="2788920"/>
            <a:ext cx="2011680" cy="274320"/>
          </a:xfrm>
          <a:prstGeom prst="rect">
            <a:avLst/>
          </a:prstGeom>
          <a:noFill/>
        </p:spPr>
        <p:txBody>
          <a:bodyPr wrap="square" anchor="t" lIns="0" rIns="0" tIns="0" bIns="0"/>
          <a:lstStyle/>
          <a:p>
            <a:pPr algn="l">
              <a:lnSpc>
                <a:spcPct val="115000"/>
              </a:lnSpc>
              <a:spcAft>
                <a:spcPts val="400"/>
              </a:spcAft>
            </a:pPr>
            <a:r>
              <a:rPr sz="900" b="1" i="0">
                <a:solidFill>
                  <a:srgbClr val="034EA2"/>
                </a:solidFill>
                <a:latin typeface="Calibri"/>
              </a:rPr>
              <a:t>WEEKEND</a:t>
            </a:r>
          </a:p>
        </p:txBody>
      </p:sp>
      <p:sp>
        <p:nvSpPr>
          <p:cNvPr id="23" name="TextBox 22"/>
          <p:cNvSpPr txBox="1"/>
          <p:nvPr/>
        </p:nvSpPr>
        <p:spPr>
          <a:xfrm>
            <a:off x="3154680" y="3017520"/>
            <a:ext cx="2011680" cy="457200"/>
          </a:xfrm>
          <a:prstGeom prst="rect">
            <a:avLst/>
          </a:prstGeom>
          <a:noFill/>
        </p:spPr>
        <p:txBody>
          <a:bodyPr wrap="square" anchor="t" lIns="0" rIns="0" tIns="0" bIns="0"/>
          <a:lstStyle/>
          <a:p>
            <a:pPr algn="l">
              <a:lnSpc>
                <a:spcPct val="115000"/>
              </a:lnSpc>
              <a:spcAft>
                <a:spcPts val="400"/>
              </a:spcAft>
            </a:pPr>
            <a:r>
              <a:rPr sz="2200" b="1" i="0">
                <a:solidFill>
                  <a:srgbClr val="21409A"/>
                </a:solidFill>
                <a:latin typeface="Calibri"/>
              </a:rPr>
              <a:t>15 patients</a:t>
            </a:r>
          </a:p>
        </p:txBody>
      </p:sp>
      <p:sp>
        <p:nvSpPr>
          <p:cNvPr id="24" name="TextBox 23"/>
          <p:cNvSpPr txBox="1"/>
          <p:nvPr/>
        </p:nvSpPr>
        <p:spPr>
          <a:xfrm>
            <a:off x="3154680" y="3474720"/>
            <a:ext cx="2011680" cy="36576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4 nurses × 3 shifts × 9 days</a:t>
            </a:r>
          </a:p>
        </p:txBody>
      </p:sp>
      <p:sp>
        <p:nvSpPr>
          <p:cNvPr id="25" name="Rounded Rectangle 24"/>
          <p:cNvSpPr/>
          <p:nvPr/>
        </p:nvSpPr>
        <p:spPr>
          <a:xfrm>
            <a:off x="5486400" y="2743200"/>
            <a:ext cx="2286000" cy="114300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23560" y="2788920"/>
            <a:ext cx="2011680" cy="274320"/>
          </a:xfrm>
          <a:prstGeom prst="rect">
            <a:avLst/>
          </a:prstGeom>
          <a:noFill/>
        </p:spPr>
        <p:txBody>
          <a:bodyPr wrap="square" anchor="t" lIns="0" rIns="0" tIns="0" bIns="0"/>
          <a:lstStyle/>
          <a:p>
            <a:pPr algn="l">
              <a:lnSpc>
                <a:spcPct val="115000"/>
              </a:lnSpc>
              <a:spcAft>
                <a:spcPts val="400"/>
              </a:spcAft>
            </a:pPr>
            <a:r>
              <a:rPr sz="900" b="1" i="0">
                <a:solidFill>
                  <a:srgbClr val="034EA2"/>
                </a:solidFill>
                <a:latin typeface="Calibri"/>
              </a:rPr>
              <a:t>OCTOBER 2026</a:t>
            </a:r>
          </a:p>
        </p:txBody>
      </p:sp>
      <p:sp>
        <p:nvSpPr>
          <p:cNvPr id="27" name="TextBox 26"/>
          <p:cNvSpPr txBox="1"/>
          <p:nvPr/>
        </p:nvSpPr>
        <p:spPr>
          <a:xfrm>
            <a:off x="5623560" y="3017520"/>
            <a:ext cx="2011680" cy="457200"/>
          </a:xfrm>
          <a:prstGeom prst="rect">
            <a:avLst/>
          </a:prstGeom>
          <a:noFill/>
        </p:spPr>
        <p:txBody>
          <a:bodyPr wrap="square" anchor="t" lIns="0" rIns="0" tIns="0" bIns="0"/>
          <a:lstStyle/>
          <a:p>
            <a:pPr algn="l">
              <a:lnSpc>
                <a:spcPct val="115000"/>
              </a:lnSpc>
              <a:spcAft>
                <a:spcPts val="400"/>
              </a:spcAft>
            </a:pPr>
            <a:r>
              <a:rPr sz="2200" b="1" i="0">
                <a:solidFill>
                  <a:srgbClr val="21409A"/>
                </a:solidFill>
                <a:latin typeface="Calibri"/>
              </a:rPr>
              <a:t>438</a:t>
            </a:r>
          </a:p>
        </p:txBody>
      </p:sp>
      <p:sp>
        <p:nvSpPr>
          <p:cNvPr id="28" name="TextBox 27"/>
          <p:cNvSpPr txBox="1"/>
          <p:nvPr/>
        </p:nvSpPr>
        <p:spPr>
          <a:xfrm>
            <a:off x="5623560" y="3474720"/>
            <a:ext cx="2011680" cy="365760"/>
          </a:xfrm>
          <a:prstGeom prst="rect">
            <a:avLst/>
          </a:prstGeom>
          <a:noFill/>
        </p:spPr>
        <p:txBody>
          <a:bodyPr wrap="square" anchor="t" lIns="0" rIns="0" tIns="0" bIns="0"/>
          <a:lstStyle/>
          <a:p>
            <a:pPr algn="l">
              <a:lnSpc>
                <a:spcPct val="115000"/>
              </a:lnSpc>
              <a:spcAft>
                <a:spcPts val="400"/>
              </a:spcAft>
            </a:pPr>
            <a:r>
              <a:rPr sz="1000" b="0" i="0">
                <a:solidFill>
                  <a:srgbClr val="607D8B"/>
                </a:solidFill>
                <a:latin typeface="Calibri"/>
              </a:rPr>
              <a:t>nurse-shifts to fill</a:t>
            </a:r>
          </a:p>
        </p:txBody>
      </p:sp>
      <p:sp>
        <p:nvSpPr>
          <p:cNvPr id="29" name="TextBox 28"/>
          <p:cNvSpPr txBox="1"/>
          <p:nvPr/>
        </p:nvSpPr>
        <p:spPr>
          <a:xfrm>
            <a:off x="548640" y="3977640"/>
            <a:ext cx="7315200" cy="64008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At a 21-shift cap you need about 21 nurses with no leave — realistically 24 or more. Senior cover on all 93 shifts is usually the binding constraint, not headcount.</a:t>
            </a:r>
          </a:p>
        </p:txBody>
      </p:sp>
      <p:sp>
        <p:nvSpPr>
          <p:cNvPr id="30" name="Rounded Rectangle 29"/>
          <p:cNvSpPr/>
          <p:nvPr/>
        </p:nvSpPr>
        <p:spPr>
          <a:xfrm>
            <a:off x="8229600" y="1920240"/>
            <a:ext cx="3413455" cy="2103120"/>
          </a:xfrm>
          <a:prstGeom prst="roundRect">
            <a:avLst>
              <a:gd name="adj" fmla="val 8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marL="256032" indent="-256032">
              <a:lnSpc>
                <a:spcPct val="112000"/>
              </a:lnSpc>
              <a:spcAft>
                <a:spcPts val="600"/>
              </a:spcAft>
              <a:buClr>
                <a:srgbClr val="C62828"/>
              </a:buClr>
              <a:buFont typeface="Arial"/>
              <a:buChar char="✕"/>
            </a:pPr>
            <a:r>
              <a:rPr sz="1100" b="1" i="0">
                <a:solidFill>
                  <a:srgbClr val="1B2A4A"/>
                </a:solidFill>
                <a:latin typeface="Calibri"/>
              </a:rPr>
              <a:t>Never break</a:t>
            </a:r>
            <a:r>
              <a:rPr sz="1100" b="0" i="0">
                <a:solidFill>
                  <a:srgbClr val="1B2A4A"/>
                </a:solidFill>
                <a:latin typeface="Calibri"/>
              </a:rPr>
              <a:t> — no one works approved leave · one shift per nurse per day · stay under the monthly cap · a Senior on every shift · night → off the next calendar day · no evening then next morning · no more than 5 days in a row</a:t>
            </a:r>
          </a:p>
        </p:txBody>
      </p:sp>
      <p:sp>
        <p:nvSpPr>
          <p:cNvPr id="31" name="Rounded Rectangle 30"/>
          <p:cNvSpPr/>
          <p:nvPr/>
        </p:nvSpPr>
        <p:spPr>
          <a:xfrm>
            <a:off x="8229600" y="4114800"/>
            <a:ext cx="3413455" cy="1097280"/>
          </a:xfrm>
          <a:prstGeom prst="roundRect">
            <a:avLst>
              <a:gd name="adj" fmla="val 8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marL="256032" indent="-256032">
              <a:lnSpc>
                <a:spcPct val="112000"/>
              </a:lnSpc>
              <a:spcAft>
                <a:spcPts val="600"/>
              </a:spcAft>
              <a:buClr>
                <a:srgbClr val="2E7D32"/>
              </a:buClr>
              <a:buFont typeface="Arial"/>
              <a:buChar char="✓"/>
            </a:pPr>
            <a:r>
              <a:rPr sz="1100" b="1" i="0">
                <a:solidFill>
                  <a:srgbClr val="1B2A4A"/>
                </a:solidFill>
                <a:latin typeface="Calibri"/>
              </a:rPr>
              <a:t>Rank on these</a:t>
            </a:r>
            <a:r>
              <a:rPr sz="1100" b="0" i="0">
                <a:solidFill>
                  <a:srgbClr val="1B2A4A"/>
                </a:solidFill>
                <a:latin typeface="Calibri"/>
              </a:rPr>
              <a:t> — requested days off honoured · even share of total shifts · even nights · even weekends</a:t>
            </a:r>
          </a:p>
        </p:txBody>
      </p:sp>
      <p:sp>
        <p:nvSpPr>
          <p:cNvPr id="32" name="TextBox 31"/>
          <p:cNvSpPr txBox="1"/>
          <p:nvPr/>
        </p:nvSpPr>
        <p:spPr>
          <a:xfrm>
            <a:off x="548640" y="4709160"/>
            <a:ext cx="7315200" cy="457200"/>
          </a:xfrm>
          <a:prstGeom prst="rect">
            <a:avLst/>
          </a:prstGeom>
          <a:noFill/>
        </p:spPr>
        <p:txBody>
          <a:bodyPr wrap="square" anchor="t" lIns="0" rIns="0" tIns="0" bIns="0"/>
          <a:lstStyle/>
          <a:p>
            <a:pPr algn="l">
              <a:lnSpc>
                <a:spcPct val="115000"/>
              </a:lnSpc>
              <a:spcAft>
                <a:spcPts val="400"/>
              </a:spcAft>
            </a:pPr>
            <a:r>
              <a:rPr sz="1200" b="1" i="0">
                <a:solidFill>
                  <a:srgbClr val="1B2A4A"/>
                </a:solidFill>
                <a:latin typeface="Calibri"/>
              </a:rPr>
              <a:t>A schedule that breaks a hard rule is not a candidate. Soft rules are scored, not guaranteed.</a:t>
            </a:r>
          </a:p>
        </p:txBody>
      </p:sp>
      <p:sp>
        <p:nvSpPr>
          <p:cNvPr id="33" name="Rounded Rectangle 32"/>
          <p:cNvSpPr/>
          <p:nvPr/>
        </p:nvSpPr>
        <p:spPr>
          <a:xfrm>
            <a:off x="548640" y="5349240"/>
            <a:ext cx="11094415" cy="5029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48640" y="5349240"/>
            <a:ext cx="73152" cy="5029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77240" y="5349240"/>
            <a:ext cx="10774375" cy="50292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Full PRD on the site: Block 7 → Read the full PRD / Download .md. Then open Replit and paste it.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a9a8650b-67a7-4996-a717-44a52a2531e8}"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REPLIT — EASY TO START, A MONTHLY BILL, NOT A HOSPITAL SYSTEM</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Then hand the PRD to a builder</a:t>
            </a:r>
          </a:p>
        </p:txBody>
      </p:sp>
      <p:sp>
        <p:nvSpPr>
          <p:cNvPr id="16" name="Rounded Rectangle 15"/>
          <p:cNvSpPr/>
          <p:nvPr/>
        </p:nvSpPr>
        <p:spPr>
          <a:xfrm>
            <a:off x="548640" y="20116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1396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Easy to use</a:t>
            </a:r>
          </a:p>
        </p:txBody>
      </p:sp>
      <p:sp>
        <p:nvSpPr>
          <p:cNvPr id="18" name="TextBox 17"/>
          <p:cNvSpPr txBox="1"/>
          <p:nvPr/>
        </p:nvSpPr>
        <p:spPr>
          <a:xfrm>
            <a:off x="694944" y="24926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Type what you want in ordinary words. Watch a working page appear.</a:t>
            </a:r>
          </a:p>
        </p:txBody>
      </p:sp>
      <p:sp>
        <p:nvSpPr>
          <p:cNvPr id="19" name="Rounded Rectangle 18"/>
          <p:cNvSpPr/>
          <p:nvPr/>
        </p:nvSpPr>
        <p:spPr>
          <a:xfrm>
            <a:off x="3379393" y="20116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525697" y="21396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Prompt an app</a:t>
            </a:r>
          </a:p>
        </p:txBody>
      </p:sp>
      <p:sp>
        <p:nvSpPr>
          <p:cNvPr id="21" name="TextBox 20"/>
          <p:cNvSpPr txBox="1"/>
          <p:nvPr/>
        </p:nvSpPr>
        <p:spPr>
          <a:xfrm>
            <a:off x="3525697" y="24926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Paste the PRD. That is the whole brief. Do not start from a blank file.</a:t>
            </a:r>
          </a:p>
        </p:txBody>
      </p:sp>
      <p:sp>
        <p:nvSpPr>
          <p:cNvPr id="22" name="Rounded Rectangle 21"/>
          <p:cNvSpPr/>
          <p:nvPr/>
        </p:nvSpPr>
        <p:spPr>
          <a:xfrm>
            <a:off x="6210147" y="20116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56451" y="21396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Any coding skill</a:t>
            </a:r>
          </a:p>
        </p:txBody>
      </p:sp>
      <p:sp>
        <p:nvSpPr>
          <p:cNvPr id="24" name="TextBox 23"/>
          <p:cNvSpPr txBox="1"/>
          <p:nvPr/>
        </p:nvSpPr>
        <p:spPr>
          <a:xfrm>
            <a:off x="6356451" y="24926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 head nurse and a resident can both try. You do not need the same background.</a:t>
            </a:r>
          </a:p>
        </p:txBody>
      </p:sp>
      <p:sp>
        <p:nvSpPr>
          <p:cNvPr id="25" name="Rounded Rectangle 24"/>
          <p:cNvSpPr/>
          <p:nvPr/>
        </p:nvSpPr>
        <p:spPr>
          <a:xfrm>
            <a:off x="9040901" y="20116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87205" y="21396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Backend + database</a:t>
            </a:r>
          </a:p>
        </p:txBody>
      </p:sp>
      <p:sp>
        <p:nvSpPr>
          <p:cNvPr id="27" name="TextBox 26"/>
          <p:cNvSpPr txBox="1"/>
          <p:nvPr/>
        </p:nvSpPr>
        <p:spPr>
          <a:xfrm>
            <a:off x="9187205" y="24926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Not just a pretty page. It can save the staff list and serve it next time.</a:t>
            </a:r>
          </a:p>
        </p:txBody>
      </p:sp>
      <p:sp>
        <p:nvSpPr>
          <p:cNvPr id="28" name="Rounded Rectangle 27"/>
          <p:cNvSpPr/>
          <p:nvPr/>
        </p:nvSpPr>
        <p:spPr>
          <a:xfrm>
            <a:off x="548640" y="3611880"/>
            <a:ext cx="2602153" cy="146304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4944" y="3739896"/>
            <a:ext cx="2309545" cy="329184"/>
          </a:xfrm>
          <a:prstGeom prst="rect">
            <a:avLst/>
          </a:prstGeom>
          <a:noFill/>
        </p:spPr>
        <p:txBody>
          <a:bodyPr wrap="square" anchor="t" lIns="0" rIns="0" tIns="0" bIns="0"/>
          <a:lstStyle/>
          <a:p>
            <a:pPr algn="l">
              <a:lnSpc>
                <a:spcPct val="100000"/>
              </a:lnSpc>
              <a:spcAft>
                <a:spcPts val="0"/>
              </a:spcAft>
            </a:pPr>
            <a:r>
              <a:rPr sz="1400" b="1" i="0">
                <a:solidFill>
                  <a:srgbClr val="8D6E00"/>
                </a:solidFill>
                <a:latin typeface="Calibri"/>
              </a:rPr>
              <a:t>Affordable, not free</a:t>
            </a:r>
          </a:p>
        </p:txBody>
      </p:sp>
      <p:sp>
        <p:nvSpPr>
          <p:cNvPr id="30" name="TextBox 29"/>
          <p:cNvSpPr txBox="1"/>
          <p:nvPr/>
        </p:nvSpPr>
        <p:spPr>
          <a:xfrm>
            <a:off x="694944" y="40928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 small monthly bill. Ask who pays before you promise the unit a tool.</a:t>
            </a:r>
          </a:p>
        </p:txBody>
      </p:sp>
      <p:sp>
        <p:nvSpPr>
          <p:cNvPr id="31" name="Rounded Rectangle 30"/>
          <p:cNvSpPr/>
          <p:nvPr/>
        </p:nvSpPr>
        <p:spPr>
          <a:xfrm>
            <a:off x="3379393" y="3611880"/>
            <a:ext cx="2602153" cy="146304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25697" y="3739896"/>
            <a:ext cx="2309545" cy="329184"/>
          </a:xfrm>
          <a:prstGeom prst="rect">
            <a:avLst/>
          </a:prstGeom>
          <a:noFill/>
        </p:spPr>
        <p:txBody>
          <a:bodyPr wrap="square" anchor="t" lIns="0" rIns="0" tIns="0" bIns="0"/>
          <a:lstStyle/>
          <a:p>
            <a:pPr algn="l">
              <a:lnSpc>
                <a:spcPct val="100000"/>
              </a:lnSpc>
              <a:spcAft>
                <a:spcPts val="0"/>
              </a:spcAft>
            </a:pPr>
            <a:r>
              <a:rPr sz="1400" b="1" i="0">
                <a:solidFill>
                  <a:srgbClr val="8D6E00"/>
                </a:solidFill>
                <a:latin typeface="Calibri"/>
              </a:rPr>
              <a:t>Secure, not HIPAA</a:t>
            </a:r>
          </a:p>
        </p:txBody>
      </p:sp>
      <p:sp>
        <p:nvSpPr>
          <p:cNvPr id="33" name="TextBox 32"/>
          <p:cNvSpPr txBox="1"/>
          <p:nvPr/>
        </p:nvSpPr>
        <p:spPr>
          <a:xfrm>
            <a:off x="3525697" y="40928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Login and HTTPS, but no hospital contract. Do not put real patients here.</a:t>
            </a:r>
          </a:p>
        </p:txBody>
      </p:sp>
      <p:sp>
        <p:nvSpPr>
          <p:cNvPr id="34" name="Rounded Rectangle 33"/>
          <p:cNvSpPr/>
          <p:nvPr/>
        </p:nvSpPr>
        <p:spPr>
          <a:xfrm>
            <a:off x="6210147" y="36118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56451" y="37398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Right job</a:t>
            </a:r>
          </a:p>
        </p:txBody>
      </p:sp>
      <p:sp>
        <p:nvSpPr>
          <p:cNvPr id="36" name="TextBox 35"/>
          <p:cNvSpPr txBox="1"/>
          <p:nvPr/>
        </p:nvSpPr>
        <p:spPr>
          <a:xfrm>
            <a:off x="6356451" y="40928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 proof of concept, a first working version, or a place to develop. Not the ward on Monday.</a:t>
            </a:r>
          </a:p>
        </p:txBody>
      </p:sp>
      <p:sp>
        <p:nvSpPr>
          <p:cNvPr id="37" name="Rounded Rectangle 36"/>
          <p:cNvSpPr/>
          <p:nvPr/>
        </p:nvSpPr>
        <p:spPr>
          <a:xfrm>
            <a:off x="9040901" y="3611880"/>
            <a:ext cx="2602153"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87205" y="3739896"/>
            <a:ext cx="230954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Five minutes is the demo</a:t>
            </a:r>
          </a:p>
        </p:txBody>
      </p:sp>
      <p:sp>
        <p:nvSpPr>
          <p:cNvPr id="39" name="TextBox 38"/>
          <p:cNvSpPr txBox="1"/>
          <p:nvPr/>
        </p:nvSpPr>
        <p:spPr>
          <a:xfrm>
            <a:off x="9187205" y="4092854"/>
            <a:ext cx="2309545" cy="89428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The week of checking it against a real month is still yours.</a:t>
            </a:r>
          </a:p>
        </p:txBody>
      </p:sp>
      <p:sp>
        <p:nvSpPr>
          <p:cNvPr id="40" name="Rounded Rectangle 39"/>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Never paste a real staff roster — names, leave dates, employee numbers — into a consumer cloud builder unless your hospital has already said that hosting is allowed.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f96ccd5c-8040-4a6e-a750-a09e75f9289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62</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A QUICK APP STILL HAS EIGHT JOBS. SKIP ONE AND YOU HAVE A DEMO, NOT A HOSPITAL TOOL.</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What five minutes did not buy you</a:t>
            </a:r>
          </a:p>
        </p:txBody>
      </p:sp>
      <p:sp>
        <p:nvSpPr>
          <p:cNvPr id="16" name="Rounded Rectangle 15"/>
          <p:cNvSpPr/>
          <p:nvPr/>
        </p:nvSpPr>
        <p:spPr>
          <a:xfrm>
            <a:off x="548640" y="189280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02082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02082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Front end</a:t>
            </a:r>
          </a:p>
        </p:txBody>
      </p:sp>
      <p:sp>
        <p:nvSpPr>
          <p:cNvPr id="19" name="TextBox 18"/>
          <p:cNvSpPr txBox="1"/>
          <p:nvPr/>
        </p:nvSpPr>
        <p:spPr>
          <a:xfrm>
            <a:off x="1197864" y="237378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The screens people click. If a head nurse cannot read it from a ward computer, it is not done.</a:t>
            </a:r>
          </a:p>
        </p:txBody>
      </p:sp>
      <p:sp>
        <p:nvSpPr>
          <p:cNvPr id="20" name="Rounded Rectangle 19"/>
          <p:cNvSpPr/>
          <p:nvPr/>
        </p:nvSpPr>
        <p:spPr>
          <a:xfrm>
            <a:off x="3379393" y="189280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525697" y="202082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2" name="TextBox 21"/>
          <p:cNvSpPr txBox="1"/>
          <p:nvPr/>
        </p:nvSpPr>
        <p:spPr>
          <a:xfrm>
            <a:off x="4028617" y="202082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Back end</a:t>
            </a:r>
          </a:p>
        </p:txBody>
      </p:sp>
      <p:sp>
        <p:nvSpPr>
          <p:cNvPr id="23" name="TextBox 22"/>
          <p:cNvSpPr txBox="1"/>
          <p:nvPr/>
        </p:nvSpPr>
        <p:spPr>
          <a:xfrm>
            <a:off x="4028617" y="237378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The hidden work. Saving the staff list. Running the generator. Building the Excel file.</a:t>
            </a:r>
          </a:p>
        </p:txBody>
      </p:sp>
      <p:sp>
        <p:nvSpPr>
          <p:cNvPr id="24" name="Rounded Rectangle 23"/>
          <p:cNvSpPr/>
          <p:nvPr/>
        </p:nvSpPr>
        <p:spPr>
          <a:xfrm>
            <a:off x="6210147" y="189280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356451" y="202082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6" name="TextBox 25"/>
          <p:cNvSpPr txBox="1"/>
          <p:nvPr/>
        </p:nvSpPr>
        <p:spPr>
          <a:xfrm>
            <a:off x="6859371" y="202082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Security</a:t>
            </a:r>
          </a:p>
        </p:txBody>
      </p:sp>
      <p:sp>
        <p:nvSpPr>
          <p:cNvPr id="27" name="TextBox 26"/>
          <p:cNvSpPr txBox="1"/>
          <p:nvPr/>
        </p:nvSpPr>
        <p:spPr>
          <a:xfrm>
            <a:off x="6859371" y="237378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Locks. Encrypted traffic. No passwords in the code. A log of who opened what.</a:t>
            </a:r>
          </a:p>
        </p:txBody>
      </p:sp>
      <p:sp>
        <p:nvSpPr>
          <p:cNvPr id="28" name="Rounded Rectangle 27"/>
          <p:cNvSpPr/>
          <p:nvPr/>
        </p:nvSpPr>
        <p:spPr>
          <a:xfrm>
            <a:off x="9040901" y="189280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9187205" y="202082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0" name="TextBox 29"/>
          <p:cNvSpPr txBox="1"/>
          <p:nvPr/>
        </p:nvSpPr>
        <p:spPr>
          <a:xfrm>
            <a:off x="9690125" y="202082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Database</a:t>
            </a:r>
          </a:p>
        </p:txBody>
      </p:sp>
      <p:sp>
        <p:nvSpPr>
          <p:cNvPr id="31" name="TextBox 30"/>
          <p:cNvSpPr txBox="1"/>
          <p:nvPr/>
        </p:nvSpPr>
        <p:spPr>
          <a:xfrm>
            <a:off x="9690125" y="237378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Where the lists live after you close the tab. A file on someone’s laptop is not a database.</a:t>
            </a:r>
          </a:p>
        </p:txBody>
      </p:sp>
      <p:sp>
        <p:nvSpPr>
          <p:cNvPr id="32" name="Rounded Rectangle 31"/>
          <p:cNvSpPr/>
          <p:nvPr/>
        </p:nvSpPr>
        <p:spPr>
          <a:xfrm>
            <a:off x="548640" y="358444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94944" y="371246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5</a:t>
            </a:r>
          </a:p>
        </p:txBody>
      </p:sp>
      <p:sp>
        <p:nvSpPr>
          <p:cNvPr id="34" name="TextBox 33"/>
          <p:cNvSpPr txBox="1"/>
          <p:nvPr/>
        </p:nvSpPr>
        <p:spPr>
          <a:xfrm>
            <a:off x="1197864" y="371246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Who may look</a:t>
            </a:r>
          </a:p>
        </p:txBody>
      </p:sp>
      <p:sp>
        <p:nvSpPr>
          <p:cNvPr id="35" name="TextBox 34"/>
          <p:cNvSpPr txBox="1"/>
          <p:nvPr/>
        </p:nvSpPr>
        <p:spPr>
          <a:xfrm>
            <a:off x="1197864" y="406542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Authorization — permission, not just a login. The head nurse sees Cedar Ward. Not every ward.</a:t>
            </a:r>
          </a:p>
        </p:txBody>
      </p:sp>
      <p:sp>
        <p:nvSpPr>
          <p:cNvPr id="36" name="Rounded Rectangle 35"/>
          <p:cNvSpPr/>
          <p:nvPr/>
        </p:nvSpPr>
        <p:spPr>
          <a:xfrm>
            <a:off x="3379393" y="358444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3525697" y="371246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6</a:t>
            </a:r>
          </a:p>
        </p:txBody>
      </p:sp>
      <p:sp>
        <p:nvSpPr>
          <p:cNvPr id="38" name="TextBox 37"/>
          <p:cNvSpPr txBox="1"/>
          <p:nvPr/>
        </p:nvSpPr>
        <p:spPr>
          <a:xfrm>
            <a:off x="4028617" y="371246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Domain name</a:t>
            </a:r>
          </a:p>
        </p:txBody>
      </p:sp>
      <p:sp>
        <p:nvSpPr>
          <p:cNvPr id="39" name="TextBox 38"/>
          <p:cNvSpPr txBox="1"/>
          <p:nvPr/>
        </p:nvSpPr>
        <p:spPr>
          <a:xfrm>
            <a:off x="4028617" y="406542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roster.yourhospital.org can live on a badge. A Replit link is a temporary street.</a:t>
            </a:r>
          </a:p>
        </p:txBody>
      </p:sp>
      <p:sp>
        <p:nvSpPr>
          <p:cNvPr id="40" name="Rounded Rectangle 39"/>
          <p:cNvSpPr/>
          <p:nvPr/>
        </p:nvSpPr>
        <p:spPr>
          <a:xfrm>
            <a:off x="6210147" y="358444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356451" y="371246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7</a:t>
            </a:r>
          </a:p>
        </p:txBody>
      </p:sp>
      <p:sp>
        <p:nvSpPr>
          <p:cNvPr id="42" name="TextBox 41"/>
          <p:cNvSpPr txBox="1"/>
          <p:nvPr/>
        </p:nvSpPr>
        <p:spPr>
          <a:xfrm>
            <a:off x="6859371" y="371246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Hosting — and the bill</a:t>
            </a:r>
          </a:p>
        </p:txBody>
      </p:sp>
      <p:sp>
        <p:nvSpPr>
          <p:cNvPr id="43" name="TextBox 42"/>
          <p:cNvSpPr txBox="1"/>
          <p:nvPr/>
        </p:nvSpPr>
        <p:spPr>
          <a:xfrm>
            <a:off x="6859371" y="406542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The computer the app lives on is a monthly cost. Backups, and a promise it stays up overnight.</a:t>
            </a:r>
          </a:p>
        </p:txBody>
      </p:sp>
      <p:sp>
        <p:nvSpPr>
          <p:cNvPr id="44" name="Rounded Rectangle 43"/>
          <p:cNvSpPr/>
          <p:nvPr/>
        </p:nvSpPr>
        <p:spPr>
          <a:xfrm>
            <a:off x="9040901" y="3584448"/>
            <a:ext cx="2602153" cy="155448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9187205" y="3712464"/>
            <a:ext cx="384048" cy="384048"/>
          </a:xfrm>
          <a:prstGeom prst="roundRect">
            <a:avLst>
              <a:gd name="adj" fmla="val 25000"/>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8</a:t>
            </a:r>
          </a:p>
        </p:txBody>
      </p:sp>
      <p:sp>
        <p:nvSpPr>
          <p:cNvPr id="46" name="TextBox 45"/>
          <p:cNvSpPr txBox="1"/>
          <p:nvPr/>
        </p:nvSpPr>
        <p:spPr>
          <a:xfrm>
            <a:off x="9690125" y="3712464"/>
            <a:ext cx="1806625" cy="329184"/>
          </a:xfrm>
          <a:prstGeom prst="rect">
            <a:avLst/>
          </a:prstGeom>
          <a:noFill/>
        </p:spPr>
        <p:txBody>
          <a:bodyPr wrap="square" anchor="t" lIns="0" rIns="0" tIns="0" bIns="0"/>
          <a:lstStyle/>
          <a:p>
            <a:pPr algn="l">
              <a:lnSpc>
                <a:spcPct val="100000"/>
              </a:lnSpc>
              <a:spcAft>
                <a:spcPts val="0"/>
              </a:spcAft>
            </a:pPr>
            <a:r>
              <a:rPr sz="1400" b="1" i="0">
                <a:solidFill>
                  <a:srgbClr val="1B2A4A"/>
                </a:solidFill>
                <a:latin typeface="Calibri"/>
              </a:rPr>
              <a:t>Talking to other apps</a:t>
            </a:r>
          </a:p>
        </p:txBody>
      </p:sp>
      <p:sp>
        <p:nvSpPr>
          <p:cNvPr id="47" name="TextBox 46"/>
          <p:cNvSpPr txBox="1"/>
          <p:nvPr/>
        </p:nvSpPr>
        <p:spPr>
          <a:xfrm>
            <a:off x="9690125" y="4065422"/>
            <a:ext cx="1806625" cy="985724"/>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 live roster should speak to HR, email, or the record. That is integration.</a:t>
            </a:r>
          </a:p>
        </p:txBody>
      </p:sp>
      <p:sp>
        <p:nvSpPr>
          <p:cNvPr id="48" name="Rounded Rectangle 47"/>
          <p:cNvSpPr/>
          <p:nvPr/>
        </p:nvSpPr>
        <p:spPr>
          <a:xfrm>
            <a:off x="548640" y="5367528"/>
            <a:ext cx="11094415" cy="5029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48640" y="5367528"/>
            <a:ext cx="73152" cy="5029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77240" y="5367528"/>
            <a:ext cx="10774375" cy="50292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Roster Builder is the conversation with IT. These eight are the work after the conversation.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7 · 00:43</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6-small-app.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31bba3b5-25fd-4438-992f-199afcca11b5}"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277BD"/>
                </a:solidFill>
                <a:latin typeface="Calibri"/>
              </a:rPr>
              <a:t>HIPAA IN THE US, GDPR IN EUROPE, AND YOUR OWN NATIONAL LAW ALL SAY THE SAME FIRST MOVE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400" b="1" i="0">
                <a:solidFill>
                  <a:srgbClr val="21409A"/>
                </a:solidFill>
                <a:latin typeface="Calibri"/>
              </a:rPr>
              <a:t>If the app holds patient data: de-identify before it lands</a:t>
            </a:r>
          </a:p>
        </p:txBody>
      </p:sp>
      <p:sp>
        <p:nvSpPr>
          <p:cNvPr id="16" name="Rounded Rectangle 15"/>
          <p:cNvSpPr/>
          <p:nvPr/>
        </p:nvSpPr>
        <p:spPr>
          <a:xfrm>
            <a:off x="548640" y="1993392"/>
            <a:ext cx="4206240" cy="1737360"/>
          </a:xfrm>
          <a:prstGeom prst="roundRect">
            <a:avLst>
              <a:gd name="adj" fmla="val 1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2130552"/>
            <a:ext cx="3749040" cy="274320"/>
          </a:xfrm>
          <a:prstGeom prst="rect">
            <a:avLst/>
          </a:prstGeom>
          <a:noFill/>
        </p:spPr>
        <p:txBody>
          <a:bodyPr wrap="square" anchor="t" lIns="0" rIns="0" tIns="0" bIns="0"/>
          <a:lstStyle/>
          <a:p>
            <a:pPr algn="l">
              <a:lnSpc>
                <a:spcPct val="115000"/>
              </a:lnSpc>
              <a:spcAft>
                <a:spcPts val="400"/>
              </a:spcAft>
            </a:pPr>
            <a:r>
              <a:rPr sz="1000" b="1" i="0">
                <a:solidFill>
                  <a:srgbClr val="C62828"/>
                </a:solidFill>
                <a:latin typeface="Calibri"/>
              </a:rPr>
              <a:t>WHAT YOU MUST NOT STORE</a:t>
            </a:r>
          </a:p>
        </p:txBody>
      </p:sp>
      <p:sp>
        <p:nvSpPr>
          <p:cNvPr id="18" name="TextBox 17"/>
          <p:cNvSpPr txBox="1"/>
          <p:nvPr/>
        </p:nvSpPr>
        <p:spPr>
          <a:xfrm>
            <a:off x="777240" y="2450592"/>
            <a:ext cx="3749040" cy="548640"/>
          </a:xfrm>
          <a:prstGeom prst="rect">
            <a:avLst/>
          </a:prstGeom>
          <a:noFill/>
        </p:spPr>
        <p:txBody>
          <a:bodyPr wrap="square" anchor="t" lIns="0" rIns="0" tIns="0" bIns="0"/>
          <a:lstStyle/>
          <a:p>
            <a:pPr algn="l">
              <a:lnSpc>
                <a:spcPct val="115000"/>
              </a:lnSpc>
              <a:spcAft>
                <a:spcPts val="400"/>
              </a:spcAft>
            </a:pPr>
            <a:r>
              <a:rPr sz="2800" b="1" i="0">
                <a:solidFill>
                  <a:srgbClr val="1B2A4A"/>
                </a:solidFill>
                <a:latin typeface="Consolas"/>
              </a:rPr>
              <a:t>142-04-6697</a:t>
            </a:r>
          </a:p>
        </p:txBody>
      </p:sp>
      <p:sp>
        <p:nvSpPr>
          <p:cNvPr id="19" name="TextBox 18"/>
          <p:cNvSpPr txBox="1"/>
          <p:nvPr/>
        </p:nvSpPr>
        <p:spPr>
          <a:xfrm>
            <a:off x="777240" y="3044952"/>
            <a:ext cx="3749040" cy="64008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US Social Security number — or your local national ID. This example is made up.</a:t>
            </a:r>
          </a:p>
        </p:txBody>
      </p:sp>
      <p:sp>
        <p:nvSpPr>
          <p:cNvPr id="20" name="Right Arrow 19"/>
          <p:cNvSpPr/>
          <p:nvPr/>
        </p:nvSpPr>
        <p:spPr>
          <a:xfrm>
            <a:off x="5029200" y="2679192"/>
            <a:ext cx="1097280" cy="365760"/>
          </a:xfrm>
          <a:prstGeom prst="rightArrow">
            <a:avLst/>
          </a:prstGeom>
          <a:solidFill>
            <a:srgbClr val="027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3090672"/>
            <a:ext cx="1280160" cy="274320"/>
          </a:xfrm>
          <a:prstGeom prst="rect">
            <a:avLst/>
          </a:prstGeom>
          <a:noFill/>
        </p:spPr>
        <p:txBody>
          <a:bodyPr wrap="square" anchor="t" lIns="0" rIns="0" tIns="0" bIns="0"/>
          <a:lstStyle/>
          <a:p>
            <a:pPr algn="ctr">
              <a:lnSpc>
                <a:spcPct val="115000"/>
              </a:lnSpc>
              <a:spcAft>
                <a:spcPts val="400"/>
              </a:spcAft>
            </a:pPr>
            <a:r>
              <a:rPr sz="1100" b="0" i="0">
                <a:solidFill>
                  <a:srgbClr val="607D8B"/>
                </a:solidFill>
                <a:latin typeface="Calibri"/>
              </a:rPr>
              <a:t>becomes</a:t>
            </a:r>
          </a:p>
        </p:txBody>
      </p:sp>
      <p:sp>
        <p:nvSpPr>
          <p:cNvPr id="22" name="Rounded Rectangle 21"/>
          <p:cNvSpPr/>
          <p:nvPr/>
        </p:nvSpPr>
        <p:spPr>
          <a:xfrm>
            <a:off x="6400800" y="1993392"/>
            <a:ext cx="5242255" cy="1737360"/>
          </a:xfrm>
          <a:prstGeom prst="roundRect">
            <a:avLst>
              <a:gd name="adj" fmla="val 10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29400" y="2130552"/>
            <a:ext cx="4785055" cy="274320"/>
          </a:xfrm>
          <a:prstGeom prst="rect">
            <a:avLst/>
          </a:prstGeom>
          <a:noFill/>
        </p:spPr>
        <p:txBody>
          <a:bodyPr wrap="square" anchor="t" lIns="0" rIns="0" tIns="0" bIns="0"/>
          <a:lstStyle/>
          <a:p>
            <a:pPr algn="l">
              <a:lnSpc>
                <a:spcPct val="115000"/>
              </a:lnSpc>
              <a:spcAft>
                <a:spcPts val="400"/>
              </a:spcAft>
            </a:pPr>
            <a:r>
              <a:rPr sz="1000" b="1" i="0">
                <a:solidFill>
                  <a:srgbClr val="2E7D32"/>
                </a:solidFill>
                <a:latin typeface="Calibri"/>
              </a:rPr>
              <a:t>WHAT THE DATABASE HOLDS</a:t>
            </a:r>
          </a:p>
        </p:txBody>
      </p:sp>
      <p:sp>
        <p:nvSpPr>
          <p:cNvPr id="24" name="TextBox 23"/>
          <p:cNvSpPr txBox="1"/>
          <p:nvPr/>
        </p:nvSpPr>
        <p:spPr>
          <a:xfrm>
            <a:off x="6629400" y="2450592"/>
            <a:ext cx="4785055" cy="548640"/>
          </a:xfrm>
          <a:prstGeom prst="rect">
            <a:avLst/>
          </a:prstGeom>
          <a:noFill/>
        </p:spPr>
        <p:txBody>
          <a:bodyPr wrap="square" anchor="t" lIns="0" rIns="0" tIns="0" bIns="0"/>
          <a:lstStyle/>
          <a:p>
            <a:pPr algn="l">
              <a:lnSpc>
                <a:spcPct val="115000"/>
              </a:lnSpc>
              <a:spcAft>
                <a:spcPts val="400"/>
              </a:spcAft>
            </a:pPr>
            <a:r>
              <a:rPr sz="2800" b="1" i="0">
                <a:solidFill>
                  <a:srgbClr val="1B2A4A"/>
                </a:solidFill>
                <a:latin typeface="Consolas"/>
              </a:rPr>
              <a:t>34321226754342423</a:t>
            </a:r>
          </a:p>
        </p:txBody>
      </p:sp>
      <p:sp>
        <p:nvSpPr>
          <p:cNvPr id="25" name="TextBox 24"/>
          <p:cNvSpPr txBox="1"/>
          <p:nvPr/>
        </p:nvSpPr>
        <p:spPr>
          <a:xfrm>
            <a:off x="6629400" y="3044952"/>
            <a:ext cx="4785055" cy="64008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A token. Only the hospital vault knows the pairing.</a:t>
            </a:r>
          </a:p>
        </p:txBody>
      </p:sp>
      <p:sp>
        <p:nvSpPr>
          <p:cNvPr id="26" name="TextBox 25"/>
          <p:cNvSpPr txBox="1"/>
          <p:nvPr/>
        </p:nvSpPr>
        <p:spPr>
          <a:xfrm>
            <a:off x="548640" y="4005072"/>
            <a:ext cx="11094415" cy="1280160"/>
          </a:xfrm>
          <a:prstGeom prst="rect">
            <a:avLst/>
          </a:prstGeom>
          <a:noFill/>
        </p:spPr>
        <p:txBody>
          <a:bodyPr wrap="square" lIns="73152" rIns="73152" tIns="73152" bIns="73152"/>
          <a:lstStyle/>
          <a:p>
            <a:pPr marL="256032" indent="-256032">
              <a:lnSpc>
                <a:spcPct val="112000"/>
              </a:lnSpc>
              <a:spcAft>
                <a:spcPts val="800"/>
              </a:spcAft>
              <a:buClr>
                <a:srgbClr val="EC008C"/>
              </a:buClr>
              <a:buFont typeface="Arial"/>
              <a:buChar char="•"/>
            </a:pPr>
            <a:r>
              <a:rPr sz="1400" b="0" i="0">
                <a:solidFill>
                  <a:srgbClr val="1B2A4A"/>
                </a:solidFill>
                <a:latin typeface="Calibri"/>
              </a:rPr>
              <a:t>Swap the real identifier for a token the hospital vault can map back, and the app cannot. Names, dates of birth, national IDs, and medical record numbers all count.</a:t>
            </a:r>
          </a:p>
          <a:p>
            <a:pPr marL="256032" indent="-256032">
              <a:lnSpc>
                <a:spcPct val="112000"/>
              </a:lnSpc>
              <a:spcAft>
                <a:spcPts val="800"/>
              </a:spcAft>
              <a:buClr>
                <a:srgbClr val="EC008C"/>
              </a:buClr>
              <a:buFont typeface="Arial"/>
              <a:buChar char="•"/>
            </a:pPr>
            <a:r>
              <a:rPr sz="1400" b="0" i="0">
                <a:solidFill>
                  <a:srgbClr val="1B2A4A"/>
                </a:solidFill>
                <a:latin typeface="Calibri"/>
              </a:rPr>
              <a:t>Roster Builder sidesteps this on purpose: census is a number, not a patient list. Staff names and leave are still personal data. The moment you add an MRN, this swap is required.</a:t>
            </a:r>
          </a:p>
        </p:txBody>
      </p:sp>
      <p:sp>
        <p:nvSpPr>
          <p:cNvPr id="27" name="Rounded Rectangle 26"/>
          <p:cNvSpPr/>
          <p:nvPr/>
        </p:nvSpPr>
        <p:spPr>
          <a:xfrm>
            <a:off x="548640" y="5166360"/>
            <a:ext cx="11094415" cy="7315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48640" y="5166360"/>
            <a:ext cx="73152" cy="7315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5166360"/>
            <a:ext cx="10774375" cy="73152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Write the brief first. A prototype starts the conversation with IT; it does not replace screens, a server, a database, security, who may look, a real address, a hosting bill, or a way to talk to other apps. Patient IDs go in as tokens, not as the real number.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8</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8  ·  00:48</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AI for
research</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Plug the chat into your own Zotero library, step by step — then the model writes the code; you remain the author.</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7-research.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8f3701e9-2223-408e-ad3f-ef49ce49fb0b}" type="datetime9">
              <a:rPr lang="en-US" sz="1400" b="1" dirty="0" smtClean="0">
                <a:solidFill>
                  <a:srgbClr val="FFFFFF"/>
                </a:solidFill>
                <a:latin typeface="Calibri"/>
              </a:rPr>
              <a:t>1:04 AM</a:t>
            </a:fld>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88afa650-592c-42e5-9722-b55974dab185}"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ZOTERO-MCP — A FREE COMMUNITY CONNECTOR THAT TALKS TO THE ZOTERO APP ALREADY RUNNING ON YOUR MACHINE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400" b="1" i="0">
                <a:solidFill>
                  <a:srgbClr val="21409A"/>
                </a:solidFill>
                <a:latin typeface="Calibri"/>
              </a:rPr>
              <a:t>Five steps. Ten minutes. Nothing leaves your laptop.</a:t>
            </a:r>
          </a:p>
        </p:txBody>
      </p:sp>
      <p:sp>
        <p:nvSpPr>
          <p:cNvPr id="16" name="Rounded Rectangle 15"/>
          <p:cNvSpPr/>
          <p:nvPr/>
        </p:nvSpPr>
        <p:spPr>
          <a:xfrm>
            <a:off x="548640" y="1901952"/>
            <a:ext cx="2036003"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029968"/>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8" name="TextBox 17"/>
          <p:cNvSpPr txBox="1"/>
          <p:nvPr/>
        </p:nvSpPr>
        <p:spPr>
          <a:xfrm>
            <a:off x="1197864" y="2029968"/>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Zotero</a:t>
            </a:r>
          </a:p>
        </p:txBody>
      </p:sp>
      <p:sp>
        <p:nvSpPr>
          <p:cNvPr id="19" name="TextBox 18"/>
          <p:cNvSpPr txBox="1"/>
          <p:nvPr/>
        </p:nvSpPr>
        <p:spPr>
          <a:xfrm>
            <a:off x="1197864" y="2448763"/>
            <a:ext cx="1240475" cy="128564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Zotero 7 open, with one tick-box turned on.</a:t>
            </a:r>
          </a:p>
        </p:txBody>
      </p:sp>
      <p:sp>
        <p:nvSpPr>
          <p:cNvPr id="20" name="Rounded Rectangle 19"/>
          <p:cNvSpPr/>
          <p:nvPr/>
        </p:nvSpPr>
        <p:spPr>
          <a:xfrm>
            <a:off x="2813243" y="1901952"/>
            <a:ext cx="2036003"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2959547" y="2029968"/>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2" name="TextBox 21"/>
          <p:cNvSpPr txBox="1"/>
          <p:nvPr/>
        </p:nvSpPr>
        <p:spPr>
          <a:xfrm>
            <a:off x="3462467" y="2029968"/>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Install</a:t>
            </a:r>
          </a:p>
        </p:txBody>
      </p:sp>
      <p:sp>
        <p:nvSpPr>
          <p:cNvPr id="23" name="TextBox 22"/>
          <p:cNvSpPr txBox="1"/>
          <p:nvPr/>
        </p:nvSpPr>
        <p:spPr>
          <a:xfrm>
            <a:off x="3462467" y="2448763"/>
            <a:ext cx="1240475" cy="128564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Two lines in a terminal. One installs the tool runner, one installs the plug.</a:t>
            </a:r>
          </a:p>
        </p:txBody>
      </p:sp>
      <p:sp>
        <p:nvSpPr>
          <p:cNvPr id="24" name="Rounded Rectangle 23"/>
          <p:cNvSpPr/>
          <p:nvPr/>
        </p:nvSpPr>
        <p:spPr>
          <a:xfrm>
            <a:off x="5077846" y="1901952"/>
            <a:ext cx="2036003"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5224150" y="2029968"/>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6" name="TextBox 25"/>
          <p:cNvSpPr txBox="1"/>
          <p:nvPr/>
        </p:nvSpPr>
        <p:spPr>
          <a:xfrm>
            <a:off x="5727070" y="2029968"/>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Connect</a:t>
            </a:r>
          </a:p>
        </p:txBody>
      </p:sp>
      <p:sp>
        <p:nvSpPr>
          <p:cNvPr id="27" name="TextBox 26"/>
          <p:cNvSpPr txBox="1"/>
          <p:nvPr/>
        </p:nvSpPr>
        <p:spPr>
          <a:xfrm>
            <a:off x="5727070" y="2448763"/>
            <a:ext cx="1240475" cy="128564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One command writes the Claude Desktop config for you. Restart Claude.</a:t>
            </a:r>
          </a:p>
        </p:txBody>
      </p:sp>
      <p:sp>
        <p:nvSpPr>
          <p:cNvPr id="28" name="Rounded Rectangle 27"/>
          <p:cNvSpPr/>
          <p:nvPr/>
        </p:nvSpPr>
        <p:spPr>
          <a:xfrm>
            <a:off x="7342449" y="1901952"/>
            <a:ext cx="2036003"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7488753" y="2029968"/>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30" name="TextBox 29"/>
          <p:cNvSpPr txBox="1"/>
          <p:nvPr/>
        </p:nvSpPr>
        <p:spPr>
          <a:xfrm>
            <a:off x="7991673" y="2029968"/>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Check</a:t>
            </a:r>
          </a:p>
        </p:txBody>
      </p:sp>
      <p:sp>
        <p:nvSpPr>
          <p:cNvPr id="31" name="TextBox 30"/>
          <p:cNvSpPr txBox="1"/>
          <p:nvPr/>
        </p:nvSpPr>
        <p:spPr>
          <a:xfrm>
            <a:off x="7991673" y="2448763"/>
            <a:ext cx="1240475" cy="128564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Ask Claude for your five most recent items. If it lists them, you are done.</a:t>
            </a:r>
          </a:p>
        </p:txBody>
      </p:sp>
      <p:sp>
        <p:nvSpPr>
          <p:cNvPr id="32" name="Rounded Rectangle 31"/>
          <p:cNvSpPr/>
          <p:nvPr/>
        </p:nvSpPr>
        <p:spPr>
          <a:xfrm>
            <a:off x="9607052" y="1901952"/>
            <a:ext cx="2036003" cy="19202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9753356" y="2029968"/>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5</a:t>
            </a:r>
          </a:p>
        </p:txBody>
      </p:sp>
      <p:sp>
        <p:nvSpPr>
          <p:cNvPr id="34" name="TextBox 33"/>
          <p:cNvSpPr txBox="1"/>
          <p:nvPr/>
        </p:nvSpPr>
        <p:spPr>
          <a:xfrm>
            <a:off x="10256276" y="2029968"/>
            <a:ext cx="124047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Ask</a:t>
            </a:r>
          </a:p>
        </p:txBody>
      </p:sp>
      <p:sp>
        <p:nvSpPr>
          <p:cNvPr id="35" name="TextBox 34"/>
          <p:cNvSpPr txBox="1"/>
          <p:nvPr/>
        </p:nvSpPr>
        <p:spPr>
          <a:xfrm>
            <a:off x="10256276" y="2448763"/>
            <a:ext cx="1240475" cy="1285647"/>
          </a:xfrm>
          <a:prstGeom prst="rect">
            <a:avLst/>
          </a:prstGeom>
          <a:noFill/>
        </p:spPr>
        <p:txBody>
          <a:bodyPr wrap="square" anchor="t" lIns="0" rIns="0" tIns="0" bIns="0"/>
          <a:lstStyle/>
          <a:p>
            <a:pPr algn="l">
              <a:lnSpc>
                <a:spcPct val="112000"/>
              </a:lnSpc>
              <a:spcAft>
                <a:spcPts val="300"/>
              </a:spcAft>
            </a:pPr>
            <a:r>
              <a:rPr sz="1200" b="0" i="0">
                <a:solidFill>
                  <a:srgbClr val="607D8B"/>
                </a:solidFill>
                <a:latin typeface="Calibri"/>
              </a:rPr>
              <a:t>The real question: find, summarise, cite — from your own library.</a:t>
            </a:r>
          </a:p>
        </p:txBody>
      </p:sp>
      <p:sp>
        <p:nvSpPr>
          <p:cNvPr id="36" name="TextBox 35"/>
          <p:cNvSpPr txBox="1"/>
          <p:nvPr/>
        </p:nvSpPr>
        <p:spPr>
          <a:xfrm>
            <a:off x="548640" y="4096512"/>
            <a:ext cx="11094415" cy="1371600"/>
          </a:xfrm>
          <a:prstGeom prst="rect">
            <a:avLst/>
          </a:prstGeom>
          <a:noFill/>
        </p:spPr>
        <p:txBody>
          <a:bodyPr wrap="square" lIns="73152" rIns="73152" tIns="73152" bIns="73152"/>
          <a:lstStyle/>
          <a:p>
            <a:pPr marL="256032" indent="-256032">
              <a:lnSpc>
                <a:spcPct val="112000"/>
              </a:lnSpc>
              <a:spcAft>
                <a:spcPts val="800"/>
              </a:spcAft>
              <a:buClr>
                <a:srgbClr val="EC008C"/>
              </a:buClr>
              <a:buFont typeface="Arial"/>
              <a:buChar char="•"/>
            </a:pPr>
            <a:r>
              <a:rPr sz="1500" b="0" i="0">
                <a:solidFill>
                  <a:srgbClr val="1B2A4A"/>
                </a:solidFill>
                <a:latin typeface="Calibri"/>
              </a:rPr>
              <a:t>No account, no upload, no key needed for reading. Works in Claude Desktop on Mac or Windows — not in the browser tab.</a:t>
            </a:r>
          </a:p>
          <a:p>
            <a:pPr marL="256032" indent="-256032">
              <a:lnSpc>
                <a:spcPct val="112000"/>
              </a:lnSpc>
              <a:spcAft>
                <a:spcPts val="800"/>
              </a:spcAft>
              <a:buClr>
                <a:srgbClr val="EC008C"/>
              </a:buClr>
              <a:buFont typeface="Arial"/>
              <a:buChar char="•"/>
            </a:pPr>
            <a:r>
              <a:rPr sz="1500" b="0" i="0">
                <a:solidFill>
                  <a:srgbClr val="1B2A4A"/>
                </a:solidFill>
                <a:latin typeface="Calibri"/>
              </a:rPr>
              <a:t>The terminal is the only unfamiliar part. It is three pasted lines. Everything else is clicking.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7c2b69dc-7d6e-4968-b6c1-0375ba6caa62}"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66</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ZOTERO KEEPS ITS LOCAL DOOR SHUT BY DEFAULT. OPEN IT ONCE.</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Step 1 · Let Zotero answer the door</a:t>
            </a:r>
          </a:p>
        </p:txBody>
      </p:sp>
      <p:sp>
        <p:nvSpPr>
          <p:cNvPr id="16" name="Rounded Rectangle 15"/>
          <p:cNvSpPr/>
          <p:nvPr/>
        </p:nvSpPr>
        <p:spPr>
          <a:xfrm>
            <a:off x="548640" y="1965960"/>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1</a:t>
            </a:r>
          </a:p>
        </p:txBody>
      </p:sp>
      <p:sp>
        <p:nvSpPr>
          <p:cNvPr id="17" name="TextBox 16"/>
          <p:cNvSpPr txBox="1"/>
          <p:nvPr/>
        </p:nvSpPr>
        <p:spPr>
          <a:xfrm>
            <a:off x="1097280" y="1920240"/>
            <a:ext cx="7772400"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Install or update to Zotero 7</a:t>
            </a:r>
          </a:p>
        </p:txBody>
      </p:sp>
      <p:sp>
        <p:nvSpPr>
          <p:cNvPr id="18" name="TextBox 17"/>
          <p:cNvSpPr txBox="1"/>
          <p:nvPr/>
        </p:nvSpPr>
        <p:spPr>
          <a:xfrm>
            <a:off x="1097280" y="2240280"/>
            <a:ext cx="7772400"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zotero.org/download. Zotero 6 does not have the local door. Check the version under Help → About Zotero.</a:t>
            </a:r>
          </a:p>
        </p:txBody>
      </p:sp>
      <p:sp>
        <p:nvSpPr>
          <p:cNvPr id="19" name="Rounded Rectangle 18"/>
          <p:cNvSpPr/>
          <p:nvPr/>
        </p:nvSpPr>
        <p:spPr>
          <a:xfrm>
            <a:off x="548640" y="2743200"/>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2</a:t>
            </a:r>
          </a:p>
        </p:txBody>
      </p:sp>
      <p:sp>
        <p:nvSpPr>
          <p:cNvPr id="20" name="TextBox 19"/>
          <p:cNvSpPr txBox="1"/>
          <p:nvPr/>
        </p:nvSpPr>
        <p:spPr>
          <a:xfrm>
            <a:off x="1097280" y="2697480"/>
            <a:ext cx="7772400"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Open Settings</a:t>
            </a:r>
          </a:p>
        </p:txBody>
      </p:sp>
      <p:sp>
        <p:nvSpPr>
          <p:cNvPr id="21" name="TextBox 20"/>
          <p:cNvSpPr txBox="1"/>
          <p:nvPr/>
        </p:nvSpPr>
        <p:spPr>
          <a:xfrm>
            <a:off x="1097280" y="3017520"/>
            <a:ext cx="7772400"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Mac: Zotero → Settings. Windows: Edit → Settings.</a:t>
            </a:r>
          </a:p>
        </p:txBody>
      </p:sp>
      <p:sp>
        <p:nvSpPr>
          <p:cNvPr id="22" name="Rounded Rectangle 21"/>
          <p:cNvSpPr/>
          <p:nvPr/>
        </p:nvSpPr>
        <p:spPr>
          <a:xfrm>
            <a:off x="548640" y="3520440"/>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3</a:t>
            </a:r>
          </a:p>
        </p:txBody>
      </p:sp>
      <p:sp>
        <p:nvSpPr>
          <p:cNvPr id="23" name="TextBox 22"/>
          <p:cNvSpPr txBox="1"/>
          <p:nvPr/>
        </p:nvSpPr>
        <p:spPr>
          <a:xfrm>
            <a:off x="1097280" y="3474720"/>
            <a:ext cx="7772400"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Advanced → tick one box</a:t>
            </a:r>
          </a:p>
        </p:txBody>
      </p:sp>
      <p:sp>
        <p:nvSpPr>
          <p:cNvPr id="24" name="TextBox 23"/>
          <p:cNvSpPr txBox="1"/>
          <p:nvPr/>
        </p:nvSpPr>
        <p:spPr>
          <a:xfrm>
            <a:off x="1097280" y="3794760"/>
            <a:ext cx="7772400"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“Allow other applications on this computer to communicate with Zotero.” That is the whole setting. Close Settings.</a:t>
            </a:r>
          </a:p>
        </p:txBody>
      </p:sp>
      <p:sp>
        <p:nvSpPr>
          <p:cNvPr id="25" name="Rounded Rectangle 24"/>
          <p:cNvSpPr/>
          <p:nvPr/>
        </p:nvSpPr>
        <p:spPr>
          <a:xfrm>
            <a:off x="548640" y="4297680"/>
            <a:ext cx="384048" cy="384048"/>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4</a:t>
            </a:r>
          </a:p>
        </p:txBody>
      </p:sp>
      <p:sp>
        <p:nvSpPr>
          <p:cNvPr id="26" name="TextBox 25"/>
          <p:cNvSpPr txBox="1"/>
          <p:nvPr/>
        </p:nvSpPr>
        <p:spPr>
          <a:xfrm>
            <a:off x="1097280" y="4251960"/>
            <a:ext cx="7772400"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Leave Zotero running</a:t>
            </a:r>
          </a:p>
        </p:txBody>
      </p:sp>
      <p:sp>
        <p:nvSpPr>
          <p:cNvPr id="27" name="TextBox 26"/>
          <p:cNvSpPr txBox="1"/>
          <p:nvPr/>
        </p:nvSpPr>
        <p:spPr>
          <a:xfrm>
            <a:off x="1097280" y="4572000"/>
            <a:ext cx="7772400"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The plug only works while Zotero is open. If Claude later says it cannot reach Zotero, this is the first thing to check.</a:t>
            </a:r>
          </a:p>
        </p:txBody>
      </p:sp>
      <p:sp>
        <p:nvSpPr>
          <p:cNvPr id="28" name="Rounded Rectangle 27"/>
          <p:cNvSpPr/>
          <p:nvPr/>
        </p:nvSpPr>
        <p:spPr>
          <a:xfrm>
            <a:off x="548640" y="5120640"/>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8640" y="5120640"/>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5120640"/>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“Other applications on this computer” means exactly that. Nothing on the internet can use this door. It is the chat app on your laptop talking to the Zotero app on your laptop.</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ec3a0492-5f88-473a-86ba-272163c4218c}"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PASTE LINE ONE. CLOSE AND REOPEN THE TERMINAL. PASTE LINE TWO.</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Step 2 · Two lines in a terminal</a:t>
            </a:r>
          </a:p>
        </p:txBody>
      </p:sp>
      <p:sp>
        <p:nvSpPr>
          <p:cNvPr id="16" name="TextBox 15"/>
          <p:cNvSpPr txBox="1"/>
          <p:nvPr/>
        </p:nvSpPr>
        <p:spPr>
          <a:xfrm>
            <a:off x="548640" y="1920240"/>
            <a:ext cx="5410047" cy="274320"/>
          </a:xfrm>
          <a:prstGeom prst="rect">
            <a:avLst/>
          </a:prstGeom>
          <a:noFill/>
        </p:spPr>
        <p:txBody>
          <a:bodyPr wrap="square" anchor="t" lIns="0" rIns="0" tIns="0" bIns="0"/>
          <a:lstStyle/>
          <a:p>
            <a:pPr algn="l">
              <a:lnSpc>
                <a:spcPct val="115000"/>
              </a:lnSpc>
              <a:spcAft>
                <a:spcPts val="400"/>
              </a:spcAft>
            </a:pPr>
            <a:r>
              <a:rPr sz="1000" b="1" i="0">
                <a:solidFill>
                  <a:srgbClr val="558B2F"/>
                </a:solidFill>
                <a:latin typeface="Calibri"/>
              </a:rPr>
              <a:t>MAC — TERMINAL (SPOTLIGHT, TYPE TERMINAL)</a:t>
            </a:r>
          </a:p>
        </p:txBody>
      </p:sp>
      <p:sp>
        <p:nvSpPr>
          <p:cNvPr id="17" name="TextBox 16"/>
          <p:cNvSpPr txBox="1"/>
          <p:nvPr/>
        </p:nvSpPr>
        <p:spPr>
          <a:xfrm>
            <a:off x="548640" y="2212848"/>
            <a:ext cx="5410047" cy="27432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Line 1 — install uv, the tool runner</a:t>
            </a:r>
          </a:p>
        </p:txBody>
      </p:sp>
      <p:sp>
        <p:nvSpPr>
          <p:cNvPr id="18" name="Rounded Rectangle 17"/>
          <p:cNvSpPr/>
          <p:nvPr/>
        </p:nvSpPr>
        <p:spPr>
          <a:xfrm>
            <a:off x="548640" y="2487168"/>
            <a:ext cx="5410047" cy="64008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curl -LsSf https://astral.sh/uv/install.sh | sh</a:t>
            </a:r>
          </a:p>
        </p:txBody>
      </p:sp>
      <p:sp>
        <p:nvSpPr>
          <p:cNvPr id="19" name="TextBox 18"/>
          <p:cNvSpPr txBox="1"/>
          <p:nvPr/>
        </p:nvSpPr>
        <p:spPr>
          <a:xfrm>
            <a:off x="548640" y="3200400"/>
            <a:ext cx="5410047" cy="27432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Close the terminal, reopen it. Line 2 — install the plug</a:t>
            </a:r>
          </a:p>
        </p:txBody>
      </p:sp>
      <p:sp>
        <p:nvSpPr>
          <p:cNvPr id="20" name="Rounded Rectangle 19"/>
          <p:cNvSpPr/>
          <p:nvPr/>
        </p:nvSpPr>
        <p:spPr>
          <a:xfrm>
            <a:off x="548640" y="3474720"/>
            <a:ext cx="5410047" cy="4572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uv tool install zotero-mcp-server</a:t>
            </a:r>
          </a:p>
        </p:txBody>
      </p:sp>
      <p:sp>
        <p:nvSpPr>
          <p:cNvPr id="21" name="TextBox 20"/>
          <p:cNvSpPr txBox="1"/>
          <p:nvPr/>
        </p:nvSpPr>
        <p:spPr>
          <a:xfrm>
            <a:off x="6233007" y="1920240"/>
            <a:ext cx="5410047" cy="274320"/>
          </a:xfrm>
          <a:prstGeom prst="rect">
            <a:avLst/>
          </a:prstGeom>
          <a:noFill/>
        </p:spPr>
        <p:txBody>
          <a:bodyPr wrap="square" anchor="t" lIns="0" rIns="0" tIns="0" bIns="0"/>
          <a:lstStyle/>
          <a:p>
            <a:pPr algn="l">
              <a:lnSpc>
                <a:spcPct val="115000"/>
              </a:lnSpc>
              <a:spcAft>
                <a:spcPts val="400"/>
              </a:spcAft>
            </a:pPr>
            <a:r>
              <a:rPr sz="1000" b="1" i="0">
                <a:solidFill>
                  <a:srgbClr val="558B2F"/>
                </a:solidFill>
                <a:latin typeface="Calibri"/>
              </a:rPr>
              <a:t>WINDOWS — POWERSHELL (START, TYPE POWERSHELL)</a:t>
            </a:r>
          </a:p>
        </p:txBody>
      </p:sp>
      <p:sp>
        <p:nvSpPr>
          <p:cNvPr id="22" name="TextBox 21"/>
          <p:cNvSpPr txBox="1"/>
          <p:nvPr/>
        </p:nvSpPr>
        <p:spPr>
          <a:xfrm>
            <a:off x="6233007" y="2212848"/>
            <a:ext cx="5410047" cy="27432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Line 1 — install uv, the tool runner</a:t>
            </a:r>
          </a:p>
        </p:txBody>
      </p:sp>
      <p:sp>
        <p:nvSpPr>
          <p:cNvPr id="23" name="Rounded Rectangle 22"/>
          <p:cNvSpPr/>
          <p:nvPr/>
        </p:nvSpPr>
        <p:spPr>
          <a:xfrm>
            <a:off x="6233007" y="2487168"/>
            <a:ext cx="5410047" cy="64008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powershell -ExecutionPolicy ByPass -c "irm https://astral.sh/uv/install.ps1 | iex"</a:t>
            </a:r>
          </a:p>
        </p:txBody>
      </p:sp>
      <p:sp>
        <p:nvSpPr>
          <p:cNvPr id="24" name="TextBox 23"/>
          <p:cNvSpPr txBox="1"/>
          <p:nvPr/>
        </p:nvSpPr>
        <p:spPr>
          <a:xfrm>
            <a:off x="6233007" y="3200400"/>
            <a:ext cx="5410047" cy="27432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Close the terminal, reopen it. Line 2 — install the plug</a:t>
            </a:r>
          </a:p>
        </p:txBody>
      </p:sp>
      <p:sp>
        <p:nvSpPr>
          <p:cNvPr id="25" name="Rounded Rectangle 24"/>
          <p:cNvSpPr/>
          <p:nvPr/>
        </p:nvSpPr>
        <p:spPr>
          <a:xfrm>
            <a:off x="6233007" y="3474720"/>
            <a:ext cx="5410047" cy="45720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uv tool install zotero-mcp-server</a:t>
            </a:r>
          </a:p>
        </p:txBody>
      </p:sp>
      <p:sp>
        <p:nvSpPr>
          <p:cNvPr id="26" name="TextBox 25"/>
          <p:cNvSpPr txBox="1"/>
          <p:nvPr/>
        </p:nvSpPr>
        <p:spPr>
          <a:xfrm>
            <a:off x="548640" y="4114800"/>
            <a:ext cx="11094415" cy="27432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Then confirm it landed. This should print a version number, nothing else.</a:t>
            </a:r>
          </a:p>
        </p:txBody>
      </p:sp>
      <p:sp>
        <p:nvSpPr>
          <p:cNvPr id="27" name="Rounded Rectangle 26"/>
          <p:cNvSpPr/>
          <p:nvPr/>
        </p:nvSpPr>
        <p:spPr>
          <a:xfrm>
            <a:off x="548640" y="4389120"/>
            <a:ext cx="3657600" cy="41148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zotero-mcp version</a:t>
            </a:r>
          </a:p>
        </p:txBody>
      </p:sp>
      <p:sp>
        <p:nvSpPr>
          <p:cNvPr id="28" name="Rounded Rectangle 27"/>
          <p:cNvSpPr/>
          <p:nvPr/>
        </p:nvSpPr>
        <p:spPr>
          <a:xfrm>
            <a:off x="548640" y="4937760"/>
            <a:ext cx="5410047" cy="10058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4944" y="5065776"/>
            <a:ext cx="5117439"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What uv is</a:t>
            </a:r>
          </a:p>
        </p:txBody>
      </p:sp>
      <p:sp>
        <p:nvSpPr>
          <p:cNvPr id="30" name="TextBox 29"/>
          <p:cNvSpPr txBox="1"/>
          <p:nvPr/>
        </p:nvSpPr>
        <p:spPr>
          <a:xfrm>
            <a:off x="694944" y="5396788"/>
            <a:ext cx="5117439" cy="459030"/>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A small program that installs and runs Python tools without you touching Python. The App Store for command-line plugs. Install once and forget it.</a:t>
            </a:r>
          </a:p>
        </p:txBody>
      </p:sp>
      <p:sp>
        <p:nvSpPr>
          <p:cNvPr id="31" name="Rounded Rectangle 30"/>
          <p:cNvSpPr/>
          <p:nvPr/>
        </p:nvSpPr>
        <p:spPr>
          <a:xfrm>
            <a:off x="6233007" y="4937760"/>
            <a:ext cx="5410047" cy="100584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379311" y="5065776"/>
            <a:ext cx="5117439" cy="329184"/>
          </a:xfrm>
          <a:prstGeom prst="rect">
            <a:avLst/>
          </a:prstGeom>
          <a:noFill/>
        </p:spPr>
        <p:txBody>
          <a:bodyPr wrap="square" anchor="t" lIns="0" rIns="0" tIns="0" bIns="0"/>
          <a:lstStyle/>
          <a:p>
            <a:pPr algn="l">
              <a:lnSpc>
                <a:spcPct val="100000"/>
              </a:lnSpc>
              <a:spcAft>
                <a:spcPts val="0"/>
              </a:spcAft>
            </a:pPr>
            <a:r>
              <a:rPr sz="1300" b="1" i="0">
                <a:solidFill>
                  <a:srgbClr val="8D6E00"/>
                </a:solidFill>
                <a:latin typeface="Calibri"/>
              </a:rPr>
              <a:t>“command not found”</a:t>
            </a:r>
          </a:p>
        </p:txBody>
      </p:sp>
      <p:sp>
        <p:nvSpPr>
          <p:cNvPr id="33" name="TextBox 32"/>
          <p:cNvSpPr txBox="1"/>
          <p:nvPr/>
        </p:nvSpPr>
        <p:spPr>
          <a:xfrm>
            <a:off x="6379311" y="5396788"/>
            <a:ext cx="5117439" cy="459030"/>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You did not reopen the terminal after line 1. Close it fully, open a new one, try again. On Mac, uv tool update-shell then reopen also fixes 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a258b16d-8705-492b-a68b-1076275a77f7}"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CLAUDE DESKTOP KEEPS A SMALL FILE LISTING ITS PLUGS. YOU DO NOT HAVE TO EDIT IT BY HAND.</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Step 3 · One command writes the config</a:t>
            </a:r>
          </a:p>
        </p:txBody>
      </p:sp>
      <p:sp>
        <p:nvSpPr>
          <p:cNvPr id="16" name="Rounded Rectangle 15"/>
          <p:cNvSpPr/>
          <p:nvPr/>
        </p:nvSpPr>
        <p:spPr>
          <a:xfrm>
            <a:off x="548640" y="1892808"/>
            <a:ext cx="4114800" cy="41148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200" b="0" i="0">
                <a:solidFill>
                  <a:srgbClr val="1B2A4A"/>
                </a:solidFill>
                <a:latin typeface="Consolas"/>
              </a:rPr>
              <a:t>zotero-mcp setup</a:t>
            </a:r>
          </a:p>
        </p:txBody>
      </p:sp>
      <p:sp>
        <p:nvSpPr>
          <p:cNvPr id="17" name="Rounded Rectangle 16"/>
          <p:cNvSpPr/>
          <p:nvPr/>
        </p:nvSpPr>
        <p:spPr>
          <a:xfrm>
            <a:off x="548640" y="2459736"/>
            <a:ext cx="347472" cy="347472"/>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200" b="1" i="0">
                <a:solidFill>
                  <a:srgbClr val="FFFFFF"/>
                </a:solidFill>
                <a:latin typeface="Calibri"/>
              </a:rPr>
              <a:t>1</a:t>
            </a:r>
          </a:p>
        </p:txBody>
      </p:sp>
      <p:sp>
        <p:nvSpPr>
          <p:cNvPr id="18" name="TextBox 17"/>
          <p:cNvSpPr txBox="1"/>
          <p:nvPr/>
        </p:nvSpPr>
        <p:spPr>
          <a:xfrm>
            <a:off x="1051560" y="2441448"/>
            <a:ext cx="6217920" cy="292608"/>
          </a:xfrm>
          <a:prstGeom prst="rect">
            <a:avLst/>
          </a:prstGeom>
          <a:noFill/>
        </p:spPr>
        <p:txBody>
          <a:bodyPr wrap="square" anchor="t" lIns="0" rIns="0" tIns="0" bIns="0"/>
          <a:lstStyle/>
          <a:p>
            <a:pPr algn="l">
              <a:lnSpc>
                <a:spcPct val="115000"/>
              </a:lnSpc>
              <a:spcAft>
                <a:spcPts val="400"/>
              </a:spcAft>
            </a:pPr>
            <a:r>
              <a:rPr sz="1400" b="1" i="0">
                <a:solidFill>
                  <a:srgbClr val="1B2A4A"/>
                </a:solidFill>
                <a:latin typeface="Calibri"/>
              </a:rPr>
              <a:t>“Use local Zotero API?” → press Enter</a:t>
            </a:r>
          </a:p>
        </p:txBody>
      </p:sp>
      <p:sp>
        <p:nvSpPr>
          <p:cNvPr id="19" name="TextBox 18"/>
          <p:cNvSpPr txBox="1"/>
          <p:nvPr/>
        </p:nvSpPr>
        <p:spPr>
          <a:xfrm>
            <a:off x="1051560" y="2734056"/>
            <a:ext cx="6217920" cy="45720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Yes is the default. Local means the door you opened in Step 1. No key, no account.</a:t>
            </a:r>
          </a:p>
        </p:txBody>
      </p:sp>
      <p:sp>
        <p:nvSpPr>
          <p:cNvPr id="20" name="Rounded Rectangle 19"/>
          <p:cNvSpPr/>
          <p:nvPr/>
        </p:nvSpPr>
        <p:spPr>
          <a:xfrm>
            <a:off x="548640" y="3191256"/>
            <a:ext cx="347472" cy="347472"/>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200" b="1" i="0">
                <a:solidFill>
                  <a:srgbClr val="FFFFFF"/>
                </a:solidFill>
                <a:latin typeface="Calibri"/>
              </a:rPr>
              <a:t>2</a:t>
            </a:r>
          </a:p>
        </p:txBody>
      </p:sp>
      <p:sp>
        <p:nvSpPr>
          <p:cNvPr id="21" name="TextBox 20"/>
          <p:cNvSpPr txBox="1"/>
          <p:nvPr/>
        </p:nvSpPr>
        <p:spPr>
          <a:xfrm>
            <a:off x="1051560" y="3172968"/>
            <a:ext cx="6217920" cy="292608"/>
          </a:xfrm>
          <a:prstGeom prst="rect">
            <a:avLst/>
          </a:prstGeom>
          <a:noFill/>
        </p:spPr>
        <p:txBody>
          <a:bodyPr wrap="square" anchor="t" lIns="0" rIns="0" tIns="0" bIns="0"/>
          <a:lstStyle/>
          <a:p>
            <a:pPr algn="l">
              <a:lnSpc>
                <a:spcPct val="115000"/>
              </a:lnSpc>
              <a:spcAft>
                <a:spcPts val="400"/>
              </a:spcAft>
            </a:pPr>
            <a:r>
              <a:rPr sz="1400" b="1" i="0">
                <a:solidFill>
                  <a:srgbClr val="1B2A4A"/>
                </a:solidFill>
                <a:latin typeface="Calibri"/>
              </a:rPr>
              <a:t>“Configure semantic search?” → skip for today</a:t>
            </a:r>
          </a:p>
        </p:txBody>
      </p:sp>
      <p:sp>
        <p:nvSpPr>
          <p:cNvPr id="22" name="TextBox 21"/>
          <p:cNvSpPr txBox="1"/>
          <p:nvPr/>
        </p:nvSpPr>
        <p:spPr>
          <a:xfrm>
            <a:off x="1051560" y="3465576"/>
            <a:ext cx="6217920" cy="45720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It offers to build an AI index of your PDFs. Useful later, slow now. Keyword search works without it.</a:t>
            </a:r>
          </a:p>
        </p:txBody>
      </p:sp>
      <p:sp>
        <p:nvSpPr>
          <p:cNvPr id="23" name="Rounded Rectangle 22"/>
          <p:cNvSpPr/>
          <p:nvPr/>
        </p:nvSpPr>
        <p:spPr>
          <a:xfrm>
            <a:off x="548640" y="3922776"/>
            <a:ext cx="347472" cy="347472"/>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200" b="1" i="0">
                <a:solidFill>
                  <a:srgbClr val="FFFFFF"/>
                </a:solidFill>
                <a:latin typeface="Calibri"/>
              </a:rPr>
              <a:t>3</a:t>
            </a:r>
          </a:p>
        </p:txBody>
      </p:sp>
      <p:sp>
        <p:nvSpPr>
          <p:cNvPr id="24" name="TextBox 23"/>
          <p:cNvSpPr txBox="1"/>
          <p:nvPr/>
        </p:nvSpPr>
        <p:spPr>
          <a:xfrm>
            <a:off x="1051560" y="3904488"/>
            <a:ext cx="6217920" cy="292608"/>
          </a:xfrm>
          <a:prstGeom prst="rect">
            <a:avLst/>
          </a:prstGeom>
          <a:noFill/>
        </p:spPr>
        <p:txBody>
          <a:bodyPr wrap="square" anchor="t" lIns="0" rIns="0" tIns="0" bIns="0"/>
          <a:lstStyle/>
          <a:p>
            <a:pPr algn="l">
              <a:lnSpc>
                <a:spcPct val="115000"/>
              </a:lnSpc>
              <a:spcAft>
                <a:spcPts val="400"/>
              </a:spcAft>
            </a:pPr>
            <a:r>
              <a:rPr sz="1400" b="1" i="0">
                <a:solidFill>
                  <a:srgbClr val="1B2A4A"/>
                </a:solidFill>
                <a:latin typeface="Calibri"/>
              </a:rPr>
              <a:t>It writes the Claude Desktop file</a:t>
            </a:r>
          </a:p>
        </p:txBody>
      </p:sp>
      <p:sp>
        <p:nvSpPr>
          <p:cNvPr id="25" name="TextBox 24"/>
          <p:cNvSpPr txBox="1"/>
          <p:nvPr/>
        </p:nvSpPr>
        <p:spPr>
          <a:xfrm>
            <a:off x="1051560" y="4197096"/>
            <a:ext cx="6217920" cy="45720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You will see a path ending in claude_desktop_config.json.</a:t>
            </a:r>
          </a:p>
        </p:txBody>
      </p:sp>
      <p:sp>
        <p:nvSpPr>
          <p:cNvPr id="26" name="Rounded Rectangle 25"/>
          <p:cNvSpPr/>
          <p:nvPr/>
        </p:nvSpPr>
        <p:spPr>
          <a:xfrm>
            <a:off x="548640" y="4654296"/>
            <a:ext cx="347472" cy="347472"/>
          </a:xfrm>
          <a:prstGeom prst="roundRect">
            <a:avLst>
              <a:gd name="adj" fmla="val 25000"/>
            </a:avLst>
          </a:prstGeom>
          <a:solidFill>
            <a:srgbClr val="558B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200" b="1" i="0">
                <a:solidFill>
                  <a:srgbClr val="FFFFFF"/>
                </a:solidFill>
                <a:latin typeface="Calibri"/>
              </a:rPr>
              <a:t>4</a:t>
            </a:r>
          </a:p>
        </p:txBody>
      </p:sp>
      <p:sp>
        <p:nvSpPr>
          <p:cNvPr id="27" name="TextBox 26"/>
          <p:cNvSpPr txBox="1"/>
          <p:nvPr/>
        </p:nvSpPr>
        <p:spPr>
          <a:xfrm>
            <a:off x="1051560" y="4636008"/>
            <a:ext cx="6217920" cy="292608"/>
          </a:xfrm>
          <a:prstGeom prst="rect">
            <a:avLst/>
          </a:prstGeom>
          <a:noFill/>
        </p:spPr>
        <p:txBody>
          <a:bodyPr wrap="square" anchor="t" lIns="0" rIns="0" tIns="0" bIns="0"/>
          <a:lstStyle/>
          <a:p>
            <a:pPr algn="l">
              <a:lnSpc>
                <a:spcPct val="115000"/>
              </a:lnSpc>
              <a:spcAft>
                <a:spcPts val="400"/>
              </a:spcAft>
            </a:pPr>
            <a:r>
              <a:rPr sz="1400" b="1" i="0">
                <a:solidFill>
                  <a:srgbClr val="1B2A4A"/>
                </a:solidFill>
                <a:latin typeface="Calibri"/>
              </a:rPr>
              <a:t>Quit Claude Desktop fully, then reopen</a:t>
            </a:r>
          </a:p>
        </p:txBody>
      </p:sp>
      <p:sp>
        <p:nvSpPr>
          <p:cNvPr id="28" name="TextBox 27"/>
          <p:cNvSpPr txBox="1"/>
          <p:nvPr/>
        </p:nvSpPr>
        <p:spPr>
          <a:xfrm>
            <a:off x="1051560" y="4928616"/>
            <a:ext cx="6217920" cy="45720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Mac: ⌘Q, not the red dot. Windows: right-click the tray icon → Quit. Claude reads the plug list only on launch.</a:t>
            </a:r>
          </a:p>
        </p:txBody>
      </p:sp>
      <p:sp>
        <p:nvSpPr>
          <p:cNvPr id="29" name="TextBox 28"/>
          <p:cNvSpPr txBox="1"/>
          <p:nvPr/>
        </p:nvSpPr>
        <p:spPr>
          <a:xfrm>
            <a:off x="7680960" y="1892808"/>
            <a:ext cx="3962095" cy="274320"/>
          </a:xfrm>
          <a:prstGeom prst="rect">
            <a:avLst/>
          </a:prstGeom>
          <a:noFill/>
        </p:spPr>
        <p:txBody>
          <a:bodyPr wrap="square" anchor="t" lIns="0" rIns="0" tIns="0" bIns="0"/>
          <a:lstStyle/>
          <a:p>
            <a:pPr algn="l">
              <a:lnSpc>
                <a:spcPct val="115000"/>
              </a:lnSpc>
              <a:spcAft>
                <a:spcPts val="400"/>
              </a:spcAft>
            </a:pPr>
            <a:r>
              <a:rPr sz="1000" b="1" i="0">
                <a:solidFill>
                  <a:srgbClr val="558B2F"/>
                </a:solidFill>
                <a:latin typeface="Calibri"/>
              </a:rPr>
              <a:t>THE ENTRY IT ADDED</a:t>
            </a:r>
          </a:p>
        </p:txBody>
      </p:sp>
      <p:sp>
        <p:nvSpPr>
          <p:cNvPr id="30" name="Rounded Rectangle 29"/>
          <p:cNvSpPr/>
          <p:nvPr/>
        </p:nvSpPr>
        <p:spPr>
          <a:xfrm>
            <a:off x="7680960" y="2167128"/>
            <a:ext cx="3962095" cy="1920240"/>
          </a:xfrm>
          <a:prstGeom prst="roundRect">
            <a:avLst>
              <a:gd name="adj" fmla="val 4000"/>
            </a:avLst>
          </a:prstGeom>
          <a:solidFill>
            <a:srgbClr val="F4F6FA"/>
          </a:solidFill>
          <a:ln w="9525">
            <a:solidFill>
              <a:srgbClr val="D6E4F5"/>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l">
              <a:lnSpc>
                <a:spcPct val="108000"/>
              </a:lnSpc>
              <a:spcAft>
                <a:spcPts val="0"/>
              </a:spcAft>
            </a:pPr>
            <a:r>
              <a:rPr sz="1100" b="0" i="0">
                <a:solidFill>
                  <a:srgbClr val="1B2A4A"/>
                </a:solidFill>
                <a:latin typeface="Consolas"/>
              </a:rPr>
              <a:t>{</a:t>
            </a:r>
          </a:p>
          <a:p>
            <a:pPr algn="l">
              <a:lnSpc>
                <a:spcPct val="108000"/>
              </a:lnSpc>
              <a:spcAft>
                <a:spcPts val="0"/>
              </a:spcAft>
            </a:pPr>
            <a:r>
              <a:rPr sz="1100" b="0" i="0">
                <a:solidFill>
                  <a:srgbClr val="1B2A4A"/>
                </a:solidFill>
                <a:latin typeface="Consolas"/>
              </a:rPr>
              <a:t>  "mcpServers": {</a:t>
            </a:r>
          </a:p>
          <a:p>
            <a:pPr algn="l">
              <a:lnSpc>
                <a:spcPct val="108000"/>
              </a:lnSpc>
              <a:spcAft>
                <a:spcPts val="0"/>
              </a:spcAft>
            </a:pPr>
            <a:r>
              <a:rPr sz="1100" b="0" i="0">
                <a:solidFill>
                  <a:srgbClr val="1B2A4A"/>
                </a:solidFill>
                <a:latin typeface="Consolas"/>
              </a:rPr>
              <a:t>    "zotero": {</a:t>
            </a:r>
          </a:p>
          <a:p>
            <a:pPr algn="l">
              <a:lnSpc>
                <a:spcPct val="108000"/>
              </a:lnSpc>
              <a:spcAft>
                <a:spcPts val="0"/>
              </a:spcAft>
            </a:pPr>
            <a:r>
              <a:rPr sz="1100" b="0" i="0">
                <a:solidFill>
                  <a:srgbClr val="1B2A4A"/>
                </a:solidFill>
                <a:latin typeface="Consolas"/>
              </a:rPr>
              <a:t>      "command": "zotero-mcp",</a:t>
            </a:r>
          </a:p>
          <a:p>
            <a:pPr algn="l">
              <a:lnSpc>
                <a:spcPct val="108000"/>
              </a:lnSpc>
              <a:spcAft>
                <a:spcPts val="0"/>
              </a:spcAft>
            </a:pPr>
            <a:r>
              <a:rPr sz="1100" b="0" i="0">
                <a:solidFill>
                  <a:srgbClr val="1B2A4A"/>
                </a:solidFill>
                <a:latin typeface="Consolas"/>
              </a:rPr>
              <a:t>      "env": { "ZOTERO_LOCAL": "true" }</a:t>
            </a:r>
          </a:p>
          <a:p>
            <a:pPr algn="l">
              <a:lnSpc>
                <a:spcPct val="108000"/>
              </a:lnSpc>
              <a:spcAft>
                <a:spcPts val="0"/>
              </a:spcAft>
            </a:pPr>
            <a:r>
              <a:rPr sz="1100" b="0" i="0">
                <a:solidFill>
                  <a:srgbClr val="1B2A4A"/>
                </a:solidFill>
                <a:latin typeface="Consolas"/>
              </a:rPr>
              <a:t>    }</a:t>
            </a:r>
          </a:p>
          <a:p>
            <a:pPr algn="l">
              <a:lnSpc>
                <a:spcPct val="108000"/>
              </a:lnSpc>
              <a:spcAft>
                <a:spcPts val="0"/>
              </a:spcAft>
            </a:pPr>
            <a:r>
              <a:rPr sz="1100" b="0" i="0">
                <a:solidFill>
                  <a:srgbClr val="1B2A4A"/>
                </a:solidFill>
                <a:latin typeface="Consolas"/>
              </a:rPr>
              <a:t>  }</a:t>
            </a:r>
          </a:p>
          <a:p>
            <a:pPr algn="l">
              <a:lnSpc>
                <a:spcPct val="108000"/>
              </a:lnSpc>
              <a:spcAft>
                <a:spcPts val="0"/>
              </a:spcAft>
            </a:pPr>
            <a:r>
              <a:rPr sz="1100" b="0" i="0">
                <a:solidFill>
                  <a:srgbClr val="1B2A4A"/>
                </a:solidFill>
                <a:latin typeface="Consolas"/>
              </a:rPr>
              <a:t>}</a:t>
            </a:r>
          </a:p>
        </p:txBody>
      </p:sp>
      <p:sp>
        <p:nvSpPr>
          <p:cNvPr id="31" name="TextBox 30"/>
          <p:cNvSpPr txBox="1"/>
          <p:nvPr/>
        </p:nvSpPr>
        <p:spPr>
          <a:xfrm>
            <a:off x="7680960" y="4224528"/>
            <a:ext cx="3962095" cy="1280160"/>
          </a:xfrm>
          <a:prstGeom prst="rect">
            <a:avLst/>
          </a:prstGeom>
          <a:noFill/>
        </p:spPr>
        <p:txBody>
          <a:bodyPr wrap="square" anchor="t" lIns="0" rIns="0" tIns="0" bIns="0"/>
          <a:lstStyle/>
          <a:p>
            <a:pPr algn="l">
              <a:lnSpc>
                <a:spcPct val="115000"/>
              </a:lnSpc>
              <a:spcAft>
                <a:spcPts val="400"/>
              </a:spcAft>
            </a:pPr>
            <a:r>
              <a:rPr sz="1100" b="0" i="0">
                <a:solidFill>
                  <a:srgbClr val="607D8B"/>
                </a:solidFill>
                <a:latin typeface="Calibri"/>
              </a:rPr>
              <a:t>Reading only, by design. Adding an API key from zotero.org lets the plug write to your library too (add items, notes, tags). Do that on a day you have time to check what it wrote.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26941b51-0d89-4bf2-b18a-cdcc421c008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69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NEW CHAT → TOOLS ICON UNDER THE MESSAGE BOX → ZOTERO SHOULD BE IN THE LIST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Step 4 · Prove it</a:t>
            </a:r>
          </a:p>
        </p:txBody>
      </p:sp>
      <p:sp>
        <p:nvSpPr>
          <p:cNvPr id="16" name="Rounded Rectangle 15"/>
          <p:cNvSpPr/>
          <p:nvPr/>
        </p:nvSpPr>
        <p:spPr>
          <a:xfrm>
            <a:off x="548640" y="1965960"/>
            <a:ext cx="6583680" cy="77724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2039112"/>
            <a:ext cx="6327648"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258568"/>
            <a:ext cx="6327648" cy="411480"/>
          </a:xfrm>
          <a:prstGeom prst="rect">
            <a:avLst/>
          </a:prstGeom>
          <a:noFill/>
        </p:spPr>
        <p:txBody>
          <a:bodyPr wrap="square" anchor="t" lIns="0" rIns="0" tIns="0" bIns="0"/>
          <a:lstStyle/>
          <a:p>
            <a:pPr algn="l">
              <a:lnSpc>
                <a:spcPct val="112000"/>
              </a:lnSpc>
              <a:spcAft>
                <a:spcPts val="300"/>
              </a:spcAft>
            </a:pPr>
            <a:r>
              <a:rPr sz="1400" b="0" i="0">
                <a:solidFill>
                  <a:srgbClr val="1B2A4A"/>
                </a:solidFill>
                <a:latin typeface="Calibri"/>
              </a:rPr>
              <a:t>List the five most recent items in my Zotero library. Title, first author, year.</a:t>
            </a:r>
          </a:p>
        </p:txBody>
      </p:sp>
      <p:sp>
        <p:nvSpPr>
          <p:cNvPr id="19" name="Rounded Rectangle 18"/>
          <p:cNvSpPr/>
          <p:nvPr/>
        </p:nvSpPr>
        <p:spPr>
          <a:xfrm>
            <a:off x="548640" y="2834640"/>
            <a:ext cx="6583680" cy="640080"/>
          </a:xfrm>
          <a:prstGeom prst="roundRect">
            <a:avLst>
              <a:gd name="adj" fmla="val 8000"/>
            </a:avLst>
          </a:prstGeom>
          <a:solidFill>
            <a:srgbClr val="FFF8E1"/>
          </a:solidFill>
          <a:ln w="9525">
            <a:solidFill>
              <a:srgbClr val="F1DFA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 y="2907792"/>
            <a:ext cx="6327648" cy="228600"/>
          </a:xfrm>
          <a:prstGeom prst="rect">
            <a:avLst/>
          </a:prstGeom>
          <a:noFill/>
        </p:spPr>
        <p:txBody>
          <a:bodyPr wrap="square" anchor="t" lIns="0" rIns="0" tIns="0" bIns="0"/>
          <a:lstStyle/>
          <a:p>
            <a:pPr algn="l">
              <a:lnSpc>
                <a:spcPct val="100000"/>
              </a:lnSpc>
              <a:spcAft>
                <a:spcPts val="0"/>
              </a:spcAft>
            </a:pPr>
            <a:r>
              <a:rPr sz="900" b="1" i="0">
                <a:solidFill>
                  <a:srgbClr val="8D6E00"/>
                </a:solidFill>
                <a:latin typeface="Calibri"/>
              </a:rPr>
              <a:t>TOOL — ZOTERO</a:t>
            </a:r>
          </a:p>
        </p:txBody>
      </p:sp>
      <p:sp>
        <p:nvSpPr>
          <p:cNvPr id="21" name="TextBox 20"/>
          <p:cNvSpPr txBox="1"/>
          <p:nvPr/>
        </p:nvSpPr>
        <p:spPr>
          <a:xfrm>
            <a:off x="676656" y="3127248"/>
            <a:ext cx="6327648" cy="274320"/>
          </a:xfrm>
          <a:prstGeom prst="rect">
            <a:avLst/>
          </a:prstGeom>
          <a:noFill/>
        </p:spPr>
        <p:txBody>
          <a:bodyPr wrap="square" anchor="t" lIns="0" rIns="0" tIns="0" bIns="0"/>
          <a:lstStyle/>
          <a:p>
            <a:pPr algn="l">
              <a:lnSpc>
                <a:spcPct val="112000"/>
              </a:lnSpc>
              <a:spcAft>
                <a:spcPts val="300"/>
              </a:spcAft>
            </a:pPr>
            <a:r>
              <a:rPr sz="1100" b="0" i="0">
                <a:solidFill>
                  <a:srgbClr val="1B2A4A"/>
                </a:solidFill>
                <a:latin typeface="Consolas"/>
              </a:rPr>
              <a:t>zotero_get_recent · limit 5   →  [Allow]</a:t>
            </a:r>
          </a:p>
        </p:txBody>
      </p:sp>
      <p:sp>
        <p:nvSpPr>
          <p:cNvPr id="22" name="Rounded Rectangle 21"/>
          <p:cNvSpPr/>
          <p:nvPr/>
        </p:nvSpPr>
        <p:spPr>
          <a:xfrm>
            <a:off x="548640" y="3566160"/>
            <a:ext cx="6583680" cy="11430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6656" y="3639312"/>
            <a:ext cx="6327648" cy="228600"/>
          </a:xfrm>
          <a:prstGeom prst="rect">
            <a:avLst/>
          </a:prstGeom>
          <a:noFill/>
        </p:spPr>
        <p:txBody>
          <a:bodyPr wrap="square" anchor="t" lIns="0" rIns="0" tIns="0" bIns="0"/>
          <a:lstStyle/>
          <a:p>
            <a:pPr algn="l">
              <a:lnSpc>
                <a:spcPct val="100000"/>
              </a:lnSpc>
              <a:spcAft>
                <a:spcPts val="0"/>
              </a:spcAft>
            </a:pPr>
            <a:r>
              <a:rPr sz="900" b="1" i="0">
                <a:solidFill>
                  <a:srgbClr val="607D8B"/>
                </a:solidFill>
                <a:latin typeface="Calibri"/>
              </a:rPr>
              <a:t>CLAUDE — CONNECTED</a:t>
            </a:r>
          </a:p>
        </p:txBody>
      </p:sp>
      <p:sp>
        <p:nvSpPr>
          <p:cNvPr id="24" name="TextBox 23"/>
          <p:cNvSpPr txBox="1"/>
          <p:nvPr/>
        </p:nvSpPr>
        <p:spPr>
          <a:xfrm>
            <a:off x="676656" y="3858768"/>
            <a:ext cx="6327648" cy="77724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Five items, newest first: the 2023 JCO fever and neutropenia guideline (Lehrnbecher), the 2024 Lancet Oncology paper on…</a:t>
            </a:r>
          </a:p>
        </p:txBody>
      </p:sp>
      <p:sp>
        <p:nvSpPr>
          <p:cNvPr id="25" name="TextBox 24"/>
          <p:cNvSpPr txBox="1"/>
          <p:nvPr/>
        </p:nvSpPr>
        <p:spPr>
          <a:xfrm>
            <a:off x="548640" y="4800600"/>
            <a:ext cx="6583680" cy="54864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If those are your papers, you are done. Same habit as Block 4: the model asks, you press Allow, then it answers from your rows.</a:t>
            </a:r>
          </a:p>
        </p:txBody>
      </p:sp>
      <p:sp>
        <p:nvSpPr>
          <p:cNvPr id="26" name="TextBox 25"/>
          <p:cNvSpPr txBox="1"/>
          <p:nvPr/>
        </p:nvSpPr>
        <p:spPr>
          <a:xfrm>
            <a:off x="7406640" y="1965960"/>
            <a:ext cx="4236415" cy="274320"/>
          </a:xfrm>
          <a:prstGeom prst="rect">
            <a:avLst/>
          </a:prstGeom>
          <a:noFill/>
        </p:spPr>
        <p:txBody>
          <a:bodyPr wrap="square" anchor="t" lIns="0" rIns="0" tIns="0" bIns="0"/>
          <a:lstStyle/>
          <a:p>
            <a:pPr algn="l">
              <a:lnSpc>
                <a:spcPct val="115000"/>
              </a:lnSpc>
              <a:spcAft>
                <a:spcPts val="400"/>
              </a:spcAft>
            </a:pPr>
            <a:r>
              <a:rPr sz="1000" b="1" i="0">
                <a:solidFill>
                  <a:srgbClr val="558B2F"/>
                </a:solidFill>
                <a:latin typeface="Calibri"/>
              </a:rPr>
              <a:t>IF IT DOES NOT WORK</a:t>
            </a:r>
          </a:p>
        </p:txBody>
      </p:sp>
      <p:sp>
        <p:nvSpPr>
          <p:cNvPr id="27" name="Rounded Rectangle 26"/>
          <p:cNvSpPr/>
          <p:nvPr/>
        </p:nvSpPr>
        <p:spPr>
          <a:xfrm>
            <a:off x="7406640" y="2286000"/>
            <a:ext cx="4236415" cy="105156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16368" y="2377439"/>
            <a:ext cx="4016959" cy="329184"/>
          </a:xfrm>
          <a:prstGeom prst="rect">
            <a:avLst/>
          </a:prstGeom>
          <a:noFill/>
        </p:spPr>
        <p:txBody>
          <a:bodyPr wrap="square" anchor="t" lIns="0" rIns="0" tIns="0" bIns="0"/>
          <a:lstStyle/>
          <a:p>
            <a:pPr algn="l">
              <a:lnSpc>
                <a:spcPct val="100000"/>
              </a:lnSpc>
              <a:spcAft>
                <a:spcPts val="0"/>
              </a:spcAft>
            </a:pPr>
            <a:r>
              <a:rPr sz="1200" b="1" i="0">
                <a:solidFill>
                  <a:srgbClr val="8D6E00"/>
                </a:solidFill>
                <a:latin typeface="Calibri"/>
              </a:rPr>
              <a:t>No zotero in the tools list</a:t>
            </a:r>
          </a:p>
        </p:txBody>
      </p:sp>
      <p:sp>
        <p:nvSpPr>
          <p:cNvPr id="29" name="TextBox 28"/>
          <p:cNvSpPr txBox="1"/>
          <p:nvPr/>
        </p:nvSpPr>
        <p:spPr>
          <a:xfrm>
            <a:off x="7516368" y="2686506"/>
            <a:ext cx="4016959" cy="585218"/>
          </a:xfrm>
          <a:prstGeom prst="rect">
            <a:avLst/>
          </a:prstGeom>
          <a:noFill/>
        </p:spPr>
        <p:txBody>
          <a:bodyPr wrap="square" anchor="t" lIns="0" rIns="0" tIns="0" bIns="0"/>
          <a:lstStyle/>
          <a:p>
            <a:pPr algn="l">
              <a:lnSpc>
                <a:spcPct val="112000"/>
              </a:lnSpc>
              <a:spcAft>
                <a:spcPts val="300"/>
              </a:spcAft>
            </a:pPr>
            <a:r>
              <a:rPr sz="1000" b="0" i="0">
                <a:solidFill>
                  <a:srgbClr val="607D8B"/>
                </a:solidFill>
                <a:latin typeface="Calibri"/>
              </a:rPr>
              <a:t>Claude was not fully quit. ⌘Q or tray-icon Quit, reopen. Still missing: run zotero-mcp setup-info and check the path it prints exists.</a:t>
            </a:r>
          </a:p>
        </p:txBody>
      </p:sp>
      <p:sp>
        <p:nvSpPr>
          <p:cNvPr id="30" name="Rounded Rectangle 29"/>
          <p:cNvSpPr/>
          <p:nvPr/>
        </p:nvSpPr>
        <p:spPr>
          <a:xfrm>
            <a:off x="7406640" y="3429000"/>
            <a:ext cx="4236415" cy="105156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516368" y="3520439"/>
            <a:ext cx="4016959" cy="329184"/>
          </a:xfrm>
          <a:prstGeom prst="rect">
            <a:avLst/>
          </a:prstGeom>
          <a:noFill/>
        </p:spPr>
        <p:txBody>
          <a:bodyPr wrap="square" anchor="t" lIns="0" rIns="0" tIns="0" bIns="0"/>
          <a:lstStyle/>
          <a:p>
            <a:pPr algn="l">
              <a:lnSpc>
                <a:spcPct val="100000"/>
              </a:lnSpc>
              <a:spcAft>
                <a:spcPts val="0"/>
              </a:spcAft>
            </a:pPr>
            <a:r>
              <a:rPr sz="1200" b="1" i="0">
                <a:solidFill>
                  <a:srgbClr val="8D6E00"/>
                </a:solidFill>
                <a:latin typeface="Calibri"/>
              </a:rPr>
              <a:t>“Cannot connect to Zotero”</a:t>
            </a:r>
          </a:p>
        </p:txBody>
      </p:sp>
      <p:sp>
        <p:nvSpPr>
          <p:cNvPr id="32" name="TextBox 31"/>
          <p:cNvSpPr txBox="1"/>
          <p:nvPr/>
        </p:nvSpPr>
        <p:spPr>
          <a:xfrm>
            <a:off x="7516368" y="3829506"/>
            <a:ext cx="4016959" cy="585218"/>
          </a:xfrm>
          <a:prstGeom prst="rect">
            <a:avLst/>
          </a:prstGeom>
          <a:noFill/>
        </p:spPr>
        <p:txBody>
          <a:bodyPr wrap="square" anchor="t" lIns="0" rIns="0" tIns="0" bIns="0"/>
          <a:lstStyle/>
          <a:p>
            <a:pPr algn="l">
              <a:lnSpc>
                <a:spcPct val="112000"/>
              </a:lnSpc>
              <a:spcAft>
                <a:spcPts val="300"/>
              </a:spcAft>
            </a:pPr>
            <a:r>
              <a:rPr sz="1000" b="0" i="0">
                <a:solidFill>
                  <a:srgbClr val="607D8B"/>
                </a:solidFill>
                <a:latin typeface="Calibri"/>
              </a:rPr>
              <a:t>Zotero is not open, or the Step 1 tick-box is off. Open Zotero, check Settings → Advanced, ask again.</a:t>
            </a:r>
          </a:p>
        </p:txBody>
      </p:sp>
      <p:sp>
        <p:nvSpPr>
          <p:cNvPr id="33" name="Rounded Rectangle 32"/>
          <p:cNvSpPr/>
          <p:nvPr/>
        </p:nvSpPr>
        <p:spPr>
          <a:xfrm>
            <a:off x="7406640" y="4572000"/>
            <a:ext cx="4236415" cy="1051560"/>
          </a:xfrm>
          <a:prstGeom prst="roundRect">
            <a:avLst>
              <a:gd name="adj" fmla="val 6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516368" y="4663439"/>
            <a:ext cx="4016959" cy="329184"/>
          </a:xfrm>
          <a:prstGeom prst="rect">
            <a:avLst/>
          </a:prstGeom>
          <a:noFill/>
        </p:spPr>
        <p:txBody>
          <a:bodyPr wrap="square" anchor="t" lIns="0" rIns="0" tIns="0" bIns="0"/>
          <a:lstStyle/>
          <a:p>
            <a:pPr algn="l">
              <a:lnSpc>
                <a:spcPct val="100000"/>
              </a:lnSpc>
              <a:spcAft>
                <a:spcPts val="0"/>
              </a:spcAft>
            </a:pPr>
            <a:r>
              <a:rPr sz="1200" b="1" i="0">
                <a:solidFill>
                  <a:srgbClr val="8D6E00"/>
                </a:solidFill>
                <a:latin typeface="Calibri"/>
              </a:rPr>
              <a:t>Claude lists papers you do not own</a:t>
            </a:r>
          </a:p>
        </p:txBody>
      </p:sp>
      <p:sp>
        <p:nvSpPr>
          <p:cNvPr id="35" name="TextBox 34"/>
          <p:cNvSpPr txBox="1"/>
          <p:nvPr/>
        </p:nvSpPr>
        <p:spPr>
          <a:xfrm>
            <a:off x="7516368" y="4972506"/>
            <a:ext cx="4016959" cy="585218"/>
          </a:xfrm>
          <a:prstGeom prst="rect">
            <a:avLst/>
          </a:prstGeom>
          <a:noFill/>
        </p:spPr>
        <p:txBody>
          <a:bodyPr wrap="square" anchor="t" lIns="0" rIns="0" tIns="0" bIns="0"/>
          <a:lstStyle/>
          <a:p>
            <a:pPr algn="l">
              <a:lnSpc>
                <a:spcPct val="112000"/>
              </a:lnSpc>
              <a:spcAft>
                <a:spcPts val="300"/>
              </a:spcAft>
            </a:pPr>
            <a:r>
              <a:rPr sz="1000" b="0" i="0">
                <a:solidFill>
                  <a:srgbClr val="607D8B"/>
                </a:solidFill>
                <a:latin typeface="Calibri"/>
              </a:rPr>
              <a:t>It is guessing, not reading. The tool call never happened. Look for the Allow prompt. If there was none, the plug is not loaded.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1414caaf-b047-486b-86e9-00af231be21e}"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A GENERAL CHAT READS THE INTERNET. THIS ONE READS THE FOLDER YOU CURATED OVER TEN YEARS.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Step 5 · Now the question you came for</a:t>
            </a:r>
          </a:p>
        </p:txBody>
      </p:sp>
      <p:sp>
        <p:nvSpPr>
          <p:cNvPr id="16" name="Rounded Rectangle 15"/>
          <p:cNvSpPr/>
          <p:nvPr/>
        </p:nvSpPr>
        <p:spPr>
          <a:xfrm>
            <a:off x="548640" y="1892808"/>
            <a:ext cx="11094415" cy="1463040"/>
          </a:xfrm>
          <a:prstGeom prst="roundRect">
            <a:avLst>
              <a:gd name="adj" fmla="val 8000"/>
            </a:avLst>
          </a:prstGeom>
          <a:solidFill>
            <a:srgbClr val="E8F1FB"/>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6656" y="1965960"/>
            <a:ext cx="10838383" cy="228600"/>
          </a:xfrm>
          <a:prstGeom prst="rect">
            <a:avLst/>
          </a:prstGeom>
          <a:noFill/>
        </p:spPr>
        <p:txBody>
          <a:bodyPr wrap="square" anchor="t" lIns="0" rIns="0" tIns="0" bIns="0"/>
          <a:lstStyle/>
          <a:p>
            <a:pPr algn="l">
              <a:lnSpc>
                <a:spcPct val="100000"/>
              </a:lnSpc>
              <a:spcAft>
                <a:spcPts val="0"/>
              </a:spcAft>
            </a:pPr>
            <a:r>
              <a:rPr sz="900" b="1" i="0">
                <a:solidFill>
                  <a:srgbClr val="034EA2"/>
                </a:solidFill>
                <a:latin typeface="Calibri"/>
              </a:rPr>
              <a:t>YOU</a:t>
            </a:r>
          </a:p>
        </p:txBody>
      </p:sp>
      <p:sp>
        <p:nvSpPr>
          <p:cNvPr id="18" name="TextBox 17"/>
          <p:cNvSpPr txBox="1"/>
          <p:nvPr/>
        </p:nvSpPr>
        <p:spPr>
          <a:xfrm>
            <a:off x="676656" y="2185416"/>
            <a:ext cx="10838383" cy="1097280"/>
          </a:xfrm>
          <a:prstGeom prst="rect">
            <a:avLst/>
          </a:prstGeom>
          <a:noFill/>
        </p:spPr>
        <p:txBody>
          <a:bodyPr wrap="square" anchor="t" lIns="0" rIns="0" tIns="0" bIns="0"/>
          <a:lstStyle/>
          <a:p>
            <a:pPr algn="l">
              <a:lnSpc>
                <a:spcPct val="112000"/>
              </a:lnSpc>
              <a:spcAft>
                <a:spcPts val="300"/>
              </a:spcAft>
            </a:pPr>
            <a:r>
              <a:rPr sz="1300" b="0" i="0">
                <a:solidFill>
                  <a:srgbClr val="1B2A4A"/>
                </a:solidFill>
                <a:latin typeface="Calibri"/>
              </a:rPr>
              <a:t>Search my Zotero library for guidelines on fever and neutropenia in children.
For each hit, give me the title, first author, year, and the one recommendation on time-to-antibiotics.
Quote the recommendation from the PDF; do not paraphrase. If a paper has no PDF attached, say so instead of guessing.</a:t>
            </a:r>
          </a:p>
        </p:txBody>
      </p:sp>
      <p:sp>
        <p:nvSpPr>
          <p:cNvPr id="19" name="TextBox 18"/>
          <p:cNvSpPr txBox="1"/>
          <p:nvPr/>
        </p:nvSpPr>
        <p:spPr>
          <a:xfrm>
            <a:off x="548640" y="3493008"/>
            <a:ext cx="11094415" cy="822960"/>
          </a:xfrm>
          <a:prstGeom prst="rect">
            <a:avLst/>
          </a:prstGeom>
          <a:noFill/>
        </p:spPr>
        <p:txBody>
          <a:bodyPr wrap="square" anchor="t" lIns="0" rIns="0" tIns="0" bIns="0"/>
          <a:lstStyle/>
          <a:p>
            <a:pPr algn="l">
              <a:lnSpc>
                <a:spcPct val="115000"/>
              </a:lnSpc>
              <a:spcAft>
                <a:spcPts val="400"/>
              </a:spcAft>
            </a:pPr>
            <a:r>
              <a:rPr sz="1300" b="0" i="0">
                <a:solidFill>
                  <a:srgbClr val="607D8B"/>
                </a:solidFill>
                <a:latin typeface="Calibri"/>
              </a:rPr>
              <a:t>The last two sentences are the Block 1 habit. The plug can read the attached PDF; make it quote, not summarise. Where a citation is thin, add Consensus (consensus.app) in the same chat for what the wider literature says — then put the paper you like into Zotero, and it is in the next search.</a:t>
            </a:r>
          </a:p>
        </p:txBody>
      </p:sp>
      <p:sp>
        <p:nvSpPr>
          <p:cNvPr id="20" name="Rounded Rectangle 19"/>
          <p:cNvSpPr/>
          <p:nvPr/>
        </p:nvSpPr>
        <p:spPr>
          <a:xfrm>
            <a:off x="548640" y="4407408"/>
            <a:ext cx="5410047" cy="1234440"/>
          </a:xfrm>
          <a:prstGeom prst="roundRect">
            <a:avLst>
              <a:gd name="adj" fmla="val 6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4944" y="4535424"/>
            <a:ext cx="5117439" cy="329184"/>
          </a:xfrm>
          <a:prstGeom prst="rect">
            <a:avLst/>
          </a:prstGeom>
          <a:noFill/>
        </p:spPr>
        <p:txBody>
          <a:bodyPr wrap="square" anchor="t" lIns="0" rIns="0" tIns="0" bIns="0"/>
          <a:lstStyle/>
          <a:p>
            <a:pPr algn="l">
              <a:lnSpc>
                <a:spcPct val="100000"/>
              </a:lnSpc>
              <a:spcAft>
                <a:spcPts val="0"/>
              </a:spcAft>
            </a:pPr>
            <a:r>
              <a:rPr sz="1500" b="1" i="0">
                <a:solidFill>
                  <a:srgbClr val="2E7D32"/>
                </a:solidFill>
                <a:latin typeface="Calibri"/>
              </a:rPr>
              <a:t>Fine on Monday</a:t>
            </a:r>
          </a:p>
        </p:txBody>
      </p:sp>
      <p:sp>
        <p:nvSpPr>
          <p:cNvPr id="22" name="TextBox 21"/>
          <p:cNvSpPr txBox="1"/>
          <p:nvPr/>
        </p:nvSpPr>
        <p:spPr>
          <a:xfrm>
            <a:off x="694944" y="4910328"/>
            <a:ext cx="5117439" cy="643738"/>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Your own library on your own laptop. Guidelines, reviews, your published work. Nothing patient-level is in Zotero, so nothing patient-level leaves.</a:t>
            </a:r>
          </a:p>
        </p:txBody>
      </p:sp>
      <p:sp>
        <p:nvSpPr>
          <p:cNvPr id="23" name="Rounded Rectangle 22"/>
          <p:cNvSpPr/>
          <p:nvPr/>
        </p:nvSpPr>
        <p:spPr>
          <a:xfrm>
            <a:off x="6233007" y="4407408"/>
            <a:ext cx="5410047" cy="1234440"/>
          </a:xfrm>
          <a:prstGeom prst="roundRect">
            <a:avLst>
              <a:gd name="adj" fmla="val 6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79311" y="4535424"/>
            <a:ext cx="5117439" cy="329184"/>
          </a:xfrm>
          <a:prstGeom prst="rect">
            <a:avLst/>
          </a:prstGeom>
          <a:noFill/>
        </p:spPr>
        <p:txBody>
          <a:bodyPr wrap="square" anchor="t" lIns="0" rIns="0" tIns="0" bIns="0"/>
          <a:lstStyle/>
          <a:p>
            <a:pPr algn="l">
              <a:lnSpc>
                <a:spcPct val="100000"/>
              </a:lnSpc>
              <a:spcAft>
                <a:spcPts val="0"/>
              </a:spcAft>
            </a:pPr>
            <a:r>
              <a:rPr sz="1500" b="1" i="0">
                <a:solidFill>
                  <a:srgbClr val="C62828"/>
                </a:solidFill>
                <a:latin typeface="Calibri"/>
              </a:rPr>
              <a:t>Not this week</a:t>
            </a:r>
          </a:p>
        </p:txBody>
      </p:sp>
      <p:sp>
        <p:nvSpPr>
          <p:cNvPr id="25" name="TextBox 24"/>
          <p:cNvSpPr txBox="1"/>
          <p:nvPr/>
        </p:nvSpPr>
        <p:spPr>
          <a:xfrm>
            <a:off x="6379311" y="4910328"/>
            <a:ext cx="5117439" cy="643738"/>
          </a:xfrm>
          <a:prstGeom prst="rect">
            <a:avLst/>
          </a:prstGeom>
          <a:noFill/>
        </p:spPr>
        <p:txBody>
          <a:bodyPr wrap="square" anchor="t" lIns="0" rIns="0" tIns="0" bIns="0"/>
          <a:lstStyle/>
          <a:p>
            <a:pPr algn="l">
              <a:lnSpc>
                <a:spcPct val="112000"/>
              </a:lnSpc>
              <a:spcAft>
                <a:spcPts val="300"/>
              </a:spcAft>
            </a:pPr>
            <a:r>
              <a:rPr sz="1200" b="0" i="0">
                <a:solidFill>
                  <a:srgbClr val="1B2A4A"/>
                </a:solidFill>
                <a:latin typeface="Calibri"/>
              </a:rPr>
              <a:t>Turning on write access and letting it retag or merge your library unattended. Read first. Add write when you have an afternoon to check it.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c8c5da8d-f686-4bcf-9b73-9a8c75f66a30}"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71</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DO AND DO NOT WHEN YOU USE AI FOR RESEARCH</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Before Monday · the rules around the plug</a:t>
            </a:r>
          </a:p>
        </p:txBody>
      </p:sp>
      <p:graphicFrame>
        <p:nvGraphicFramePr>
          <p:cNvPr id="16" name="Table 15"/>
          <p:cNvGraphicFramePr>
            <a:graphicFrameLocks noGrp="1"/>
          </p:cNvGraphicFramePr>
          <p:nvPr/>
        </p:nvGraphicFramePr>
        <p:xfrm>
          <a:off x="548640" y="1965960"/>
          <a:ext cx="11094414" cy="3017520"/>
        </p:xfrm>
        <a:graphic>
          <a:graphicData uri="http://schemas.openxmlformats.org/drawingml/2006/table">
            <a:tbl>
              <a:tblPr firstRow="1" bandRow="1">
                <a:tableStyleId>{5C22544A-7EE6-4342-B048-85BDC9FD1C3A}</a:tableStyleId>
              </a:tblPr>
              <a:tblGrid>
                <a:gridCol w="5547207"/>
                <a:gridCol w="5547207"/>
              </a:tblGrid>
              <a:tr h="502920">
                <a:tc>
                  <a:txBody>
                    <a:bodyPr wrap="square"/>
                    <a:lstStyle/>
                    <a:p>
                      <a:r>
                        <a:rPr sz="1200" b="1" i="0">
                          <a:solidFill>
                            <a:srgbClr val="FFFFFF"/>
                          </a:solidFill>
                          <a:latin typeface="Calibri"/>
                        </a:rPr>
                        <a:t>Do</a:t>
                      </a:r>
                    </a:p>
                  </a:txBody>
                  <a:tcPr marL="73152" marR="73152" marT="36576" marB="36576" anchor="ctr">
                    <a:solidFill>
                      <a:srgbClr val="558B2F"/>
                    </a:solidFill>
                  </a:tcPr>
                </a:tc>
                <a:tc>
                  <a:txBody>
                    <a:bodyPr wrap="square"/>
                    <a:lstStyle/>
                    <a:p>
                      <a:r>
                        <a:rPr sz="1200" b="1" i="0">
                          <a:solidFill>
                            <a:srgbClr val="FFFFFF"/>
                          </a:solidFill>
                          <a:latin typeface="Calibri"/>
                        </a:rPr>
                        <a:t>Don’t</a:t>
                      </a:r>
                    </a:p>
                  </a:txBody>
                  <a:tcPr marL="73152" marR="73152" marT="36576" marB="36576" anchor="ctr">
                    <a:solidFill>
                      <a:srgbClr val="558B2F"/>
                    </a:solidFill>
                  </a:tcPr>
                </a:tc>
              </a:tr>
              <a:tr h="502920">
                <a:tc>
                  <a:txBody>
                    <a:bodyPr wrap="square"/>
                    <a:lstStyle/>
                    <a:p>
                      <a:r>
                        <a:rPr sz="1200" b="0" i="0">
                          <a:solidFill>
                            <a:srgbClr val="1B2A4A"/>
                          </a:solidFill>
                          <a:latin typeface="Calibri"/>
                        </a:rPr>
                        <a:t>Brainstorm with it. Questions, outlines, angles you had not named yet.</a:t>
                      </a:r>
                    </a:p>
                  </a:txBody>
                  <a:tcPr marL="73152" marR="73152" marT="36576" marB="36576" anchor="ctr">
                    <a:solidFill>
                      <a:srgbClr val="E7F6EC"/>
                    </a:solidFill>
                  </a:tcPr>
                </a:tc>
                <a:tc>
                  <a:txBody>
                    <a:bodyPr wrap="square"/>
                    <a:lstStyle/>
                    <a:p>
                      <a:r>
                        <a:rPr sz="1200" b="0" i="0">
                          <a:solidFill>
                            <a:srgbClr val="1B2A4A"/>
                          </a:solidFill>
                          <a:latin typeface="Calibri"/>
                        </a:rPr>
                        <a:t>Fabricate data. Not a number, not a patient, not a p-value.</a:t>
                      </a:r>
                    </a:p>
                  </a:txBody>
                  <a:tcPr marL="73152" marR="73152" marT="36576" marB="36576" anchor="ctr">
                    <a:solidFill>
                      <a:srgbClr val="FDECEA"/>
                    </a:solidFill>
                  </a:tcPr>
                </a:tc>
              </a:tr>
              <a:tr h="502920">
                <a:tc>
                  <a:txBody>
                    <a:bodyPr wrap="square"/>
                    <a:lstStyle/>
                    <a:p>
                      <a:r>
                        <a:rPr sz="1200" b="0" i="0">
                          <a:solidFill>
                            <a:srgbClr val="1B2A4A"/>
                          </a:solidFill>
                          <a:latin typeface="Calibri"/>
                        </a:rPr>
                        <a:t>Review the manuscript with it before you submit.</a:t>
                      </a:r>
                    </a:p>
                  </a:txBody>
                  <a:tcPr marL="73152" marR="73152" marT="36576" marB="36576" anchor="ctr">
                    <a:solidFill>
                      <a:srgbClr val="E7F6EC"/>
                    </a:solidFill>
                  </a:tcPr>
                </a:tc>
                <a:tc>
                  <a:txBody>
                    <a:bodyPr wrap="square"/>
                    <a:lstStyle/>
                    <a:p>
                      <a:r>
                        <a:rPr sz="1200" b="0" i="0">
                          <a:solidFill>
                            <a:srgbClr val="1B2A4A"/>
                          </a:solidFill>
                          <a:latin typeface="Calibri"/>
                        </a:rPr>
                        <a:t>Let the model rewrite or “tidy” your results.</a:t>
                      </a:r>
                    </a:p>
                  </a:txBody>
                  <a:tcPr marL="73152" marR="73152" marT="36576" marB="36576" anchor="ctr">
                    <a:solidFill>
                      <a:srgbClr val="FDECEA"/>
                    </a:solidFill>
                  </a:tcPr>
                </a:tc>
              </a:tr>
              <a:tr h="502920">
                <a:tc>
                  <a:txBody>
                    <a:bodyPr wrap="square"/>
                    <a:lstStyle/>
                    <a:p>
                      <a:r>
                        <a:rPr sz="1200" b="0" i="0">
                          <a:solidFill>
                            <a:srgbClr val="1B2A4A"/>
                          </a:solidFill>
                          <a:latin typeface="Calibri"/>
                        </a:rPr>
                        <a:t>Write analysis code with it — only if you understand the statistic it is running.</a:t>
                      </a:r>
                    </a:p>
                  </a:txBody>
                  <a:tcPr marL="73152" marR="73152" marT="36576" marB="36576" anchor="ctr">
                    <a:solidFill>
                      <a:srgbClr val="E7F6EC"/>
                    </a:solidFill>
                  </a:tcPr>
                </a:tc>
                <a:tc>
                  <a:txBody>
                    <a:bodyPr wrap="square"/>
                    <a:lstStyle/>
                    <a:p>
                      <a:r>
                        <a:rPr sz="1200" b="0" i="0">
                          <a:solidFill>
                            <a:srgbClr val="1B2A4A"/>
                          </a:solidFill>
                          <a:latin typeface="Calibri"/>
                        </a:rPr>
                        <a:t>Generate statistics you cannot explain, or cannot change later when a reviewer asks.</a:t>
                      </a:r>
                    </a:p>
                  </a:txBody>
                  <a:tcPr marL="73152" marR="73152" marT="36576" marB="36576" anchor="ctr">
                    <a:solidFill>
                      <a:srgbClr val="FDECEA"/>
                    </a:solidFill>
                  </a:tcPr>
                </a:tc>
              </a:tr>
              <a:tr h="502920">
                <a:tc>
                  <a:txBody>
                    <a:bodyPr wrap="square"/>
                    <a:lstStyle/>
                    <a:p>
                      <a:r>
                        <a:rPr sz="1200" b="0" i="0">
                          <a:solidFill>
                            <a:srgbClr val="1B2A4A"/>
                          </a:solidFill>
                          <a:latin typeface="Calibri"/>
                        </a:rPr>
                        <a:t>Let it teach you a new tool until you can run it yourself. Kaplan–Meier. A model. A plot.</a:t>
                      </a:r>
                    </a:p>
                  </a:txBody>
                  <a:tcPr marL="73152" marR="73152" marT="36576" marB="36576" anchor="ctr">
                    <a:solidFill>
                      <a:srgbClr val="E7F6EC"/>
                    </a:solidFill>
                  </a:tcPr>
                </a:tc>
                <a:tc>
                  <a:txBody>
                    <a:bodyPr wrap="square"/>
                    <a:lstStyle/>
                    <a:p>
                      <a:r>
                        <a:rPr sz="1200" b="0" i="0">
                          <a:solidFill>
                            <a:srgbClr val="1B2A4A"/>
                          </a:solidFill>
                          <a:latin typeface="Calibri"/>
                        </a:rPr>
                        <a:t>Trust a reference it fetched until you have read it and know why it was cited.</a:t>
                      </a:r>
                    </a:p>
                  </a:txBody>
                  <a:tcPr marL="73152" marR="73152" marT="36576" marB="36576" anchor="ctr">
                    <a:solidFill>
                      <a:srgbClr val="FDECEA"/>
                    </a:solidFill>
                  </a:tcPr>
                </a:tc>
              </a:tr>
              <a:tr h="502920">
                <a:tc>
                  <a:txBody>
                    <a:bodyPr wrap="square"/>
                    <a:lstStyle/>
                    <a:p>
                      <a:r>
                        <a:rPr sz="1200" b="0" i="0">
                          <a:solidFill>
                            <a:srgbClr val="1B2A4A"/>
                          </a:solidFill>
                          <a:latin typeface="Calibri"/>
                        </a:rPr>
                        <a:t>Draft a strict blueprint of the paper. Then augment or review the references you already chose.</a:t>
                      </a:r>
                    </a:p>
                  </a:txBody>
                  <a:tcPr marL="73152" marR="73152" marT="36576" marB="36576" anchor="ctr">
                    <a:solidFill>
                      <a:srgbClr val="E7F6EC"/>
                    </a:solidFill>
                  </a:tcPr>
                </a:tc>
                <a:tc>
                  <a:txBody>
                    <a:bodyPr wrap="square"/>
                    <a:lstStyle/>
                    <a:p>
                      <a:r>
                        <a:rPr sz="1200" b="0" i="0">
                          <a:solidFill>
                            <a:srgbClr val="1B2A4A"/>
                          </a:solidFill>
                          <a:latin typeface="Calibri"/>
                        </a:rPr>
                        <a:t>Hide that you used AI. Journals will ask. Your IRB already does.</a:t>
                      </a:r>
                    </a:p>
                  </a:txBody>
                  <a:tcPr marL="73152" marR="73152" marT="36576" marB="36576" anchor="ctr">
                    <a:solidFill>
                      <a:srgbClr val="FDECEA"/>
                    </a:solidFill>
                  </a:tcPr>
                </a:tc>
              </a:tr>
            </a:tbl>
          </a:graphicData>
        </a:graphic>
      </p:graphicFrame>
      <p:sp>
        <p:nvSpPr>
          <p:cNvPr id="17" name="Rounded Rectangle 16"/>
          <p:cNvSpPr/>
          <p:nvPr/>
        </p:nvSpPr>
        <p:spPr>
          <a:xfrm>
            <a:off x="548640" y="5120640"/>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120640"/>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120640"/>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That is the line. One side is transparent, reproducible, honest, legitimate research. Cross it and the work is uninformed, unethical, dangerous — and it is plagiarism.</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8 · 00:48</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7-research.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e980942e-84b6-4dd1-890a-8ea0203b271d}"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72</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558B2F"/>
                </a:solidFill>
                <a:latin typeface="Calibri"/>
              </a:rPr>
              <a:t>WHY A MODEL THAT PASSED ITS STUDIES CAN STILL FAIL ON YOUR PATIENTS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The governance brief</a:t>
            </a:r>
          </a:p>
        </p:txBody>
      </p:sp>
      <p:sp>
        <p:nvSpPr>
          <p:cNvPr id="16" name="TextBox 15"/>
          <p:cNvSpPr txBox="1"/>
          <p:nvPr/>
        </p:nvSpPr>
        <p:spPr>
          <a:xfrm>
            <a:off x="548640" y="2011680"/>
            <a:ext cx="6858000" cy="2743200"/>
          </a:xfrm>
          <a:prstGeom prst="rect">
            <a:avLst/>
          </a:prstGeom>
          <a:noFill/>
        </p:spPr>
        <p:txBody>
          <a:bodyPr wrap="square" lIns="73152" rIns="73152" tIns="73152" bIns="73152"/>
          <a:lstStyle/>
          <a:p>
            <a:pPr marL="256032" indent="-256032">
              <a:lnSpc>
                <a:spcPct val="112000"/>
              </a:lnSpc>
              <a:spcAft>
                <a:spcPts val="900"/>
              </a:spcAft>
              <a:buClr>
                <a:srgbClr val="EC008C"/>
              </a:buClr>
              <a:buFont typeface="Arial"/>
              <a:buChar char="•"/>
            </a:pPr>
            <a:r>
              <a:rPr sz="1500" b="0" i="0">
                <a:solidFill>
                  <a:srgbClr val="1B2A4A"/>
                </a:solidFill>
                <a:latin typeface="Calibri"/>
              </a:rPr>
              <a:t>Your hospital, your ethics board, and your journal each have a view on this.</a:t>
            </a:r>
          </a:p>
          <a:p>
            <a:pPr marL="256032" indent="-256032">
              <a:lnSpc>
                <a:spcPct val="112000"/>
              </a:lnSpc>
              <a:spcAft>
                <a:spcPts val="900"/>
              </a:spcAft>
              <a:buClr>
                <a:srgbClr val="EC008C"/>
              </a:buClr>
              <a:buFont typeface="Arial"/>
              <a:buChar char="•"/>
            </a:pPr>
            <a:r>
              <a:rPr sz="1500" b="0" i="0">
                <a:solidFill>
                  <a:srgbClr val="1B2A4A"/>
                </a:solidFill>
                <a:latin typeface="Calibri"/>
              </a:rPr>
              <a:t>The brief covers: why validation does not transfer, what the reporting rules ask of you, and what a health system should actually do. Six tabs. Start with </a:t>
            </a:r>
            <a:r>
              <a:rPr sz="1500" b="1" i="0">
                <a:solidFill>
                  <a:srgbClr val="1B2A4A"/>
                </a:solidFill>
                <a:latin typeface="Calibri"/>
              </a:rPr>
              <a:t>Action plan</a:t>
            </a:r>
            <a:r>
              <a:rPr sz="1500" b="0" i="0">
                <a:solidFill>
                  <a:srgbClr val="1B2A4A"/>
                </a:solidFill>
                <a:latin typeface="Calibri"/>
              </a:rPr>
              <a:t> if you have two minutes.</a:t>
            </a:r>
          </a:p>
          <a:p>
            <a:pPr marL="256032" indent="-256032">
              <a:lnSpc>
                <a:spcPct val="112000"/>
              </a:lnSpc>
              <a:spcAft>
                <a:spcPts val="900"/>
              </a:spcAft>
              <a:buClr>
                <a:srgbClr val="EC008C"/>
              </a:buClr>
              <a:buFont typeface="Arial"/>
              <a:buChar char="•"/>
            </a:pPr>
            <a:r>
              <a:rPr sz="1500" b="0" i="0">
                <a:solidFill>
                  <a:srgbClr val="1B2A4A"/>
                </a:solidFill>
                <a:latin typeface="Calibri"/>
              </a:rPr>
              <a:t>Built the same way as the Block 2 guideline explainer: a paper-to-artifact prompt, then a person checking every number. The footnote on the recall figure is the honest part — keep it.</a:t>
            </a:r>
          </a:p>
          <a:p>
            <a:pPr marL="256032" indent="-256032">
              <a:lnSpc>
                <a:spcPct val="112000"/>
              </a:lnSpc>
              <a:spcAft>
                <a:spcPts val="900"/>
              </a:spcAft>
              <a:buClr>
                <a:srgbClr val="EC008C"/>
              </a:buClr>
              <a:buFont typeface="Arial"/>
              <a:buChar char="•"/>
            </a:pPr>
            <a:r>
              <a:rPr sz="1500" b="0" i="0">
                <a:solidFill>
                  <a:srgbClr val="1B2A4A"/>
                </a:solidFill>
                <a:latin typeface="Calibri"/>
              </a:rPr>
              <a:t>Open it from the site: Block 8 → Open the brief.</a:t>
            </a:r>
          </a:p>
        </p:txBody>
      </p:sp>
      <p:sp>
        <p:nvSpPr>
          <p:cNvPr id="17" name="Rounded Rectangle 16"/>
          <p:cNvSpPr/>
          <p:nvPr/>
        </p:nvSpPr>
        <p:spPr>
          <a:xfrm>
            <a:off x="548640" y="5257800"/>
            <a:ext cx="11094415" cy="6400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8640" y="5257800"/>
            <a:ext cx="73152" cy="64008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257800"/>
            <a:ext cx="10774375" cy="64008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The model writes the code; you remain the author. Plug it into the library you already trust before you plug it into anything else.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9</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9  ·  00:54</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What we learned
at KHCC</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People first. Then agents, with their own rules. Cybersecurity before everything else.</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block-08-learned.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710af3e3-221e-442a-b859-0fad741656ae}" type="datetime9">
              <a:rPr lang="en-US" sz="1400" b="1" dirty="0" smtClean="0">
                <a:solidFill>
                  <a:srgbClr val="FFFFFF"/>
                </a:solidFill>
                <a:latin typeface="Calibri"/>
              </a:rPr>
              <a:t>1:04 AM</a:t>
            </a:fld>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9 · 00:54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8-learne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0aa9c8af-b6e2-4123-8eae-c263b00ef4f3}"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21409A"/>
                </a:solidFill>
                <a:latin typeface="Calibri"/>
              </a:rPr>
              <a:t>SIX HABITS, THEN A FLOOR</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We did not start with a model.</a:t>
            </a:r>
          </a:p>
        </p:txBody>
      </p:sp>
      <p:sp>
        <p:nvSpPr>
          <p:cNvPr id="16" name="Rounded Rectangle 15"/>
          <p:cNvSpPr/>
          <p:nvPr/>
        </p:nvSpPr>
        <p:spPr>
          <a:xfrm>
            <a:off x="548640" y="20116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94944" y="21396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01</a:t>
            </a:r>
          </a:p>
        </p:txBody>
      </p:sp>
      <p:sp>
        <p:nvSpPr>
          <p:cNvPr id="18" name="TextBox 17"/>
          <p:cNvSpPr txBox="1"/>
          <p:nvPr/>
        </p:nvSpPr>
        <p:spPr>
          <a:xfrm>
            <a:off x="1197864"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Listen</a:t>
            </a:r>
          </a:p>
        </p:txBody>
      </p:sp>
      <p:sp>
        <p:nvSpPr>
          <p:cNvPr id="19" name="TextBox 18"/>
          <p:cNvSpPr txBox="1"/>
          <p:nvPr/>
        </p:nvSpPr>
        <p:spPr>
          <a:xfrm>
            <a:off x="1197864" y="25804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Clinicians, pharmacists, and nurses help build the tool.</a:t>
            </a:r>
          </a:p>
        </p:txBody>
      </p:sp>
      <p:sp>
        <p:nvSpPr>
          <p:cNvPr id="20" name="Rounded Rectangle 19"/>
          <p:cNvSpPr/>
          <p:nvPr/>
        </p:nvSpPr>
        <p:spPr>
          <a:xfrm>
            <a:off x="4322978" y="20116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469282" y="21396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02</a:t>
            </a:r>
          </a:p>
        </p:txBody>
      </p:sp>
      <p:sp>
        <p:nvSpPr>
          <p:cNvPr id="22" name="TextBox 21"/>
          <p:cNvSpPr txBox="1"/>
          <p:nvPr/>
        </p:nvSpPr>
        <p:spPr>
          <a:xfrm>
            <a:off x="4972202"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Buy-in</a:t>
            </a:r>
          </a:p>
        </p:txBody>
      </p:sp>
      <p:sp>
        <p:nvSpPr>
          <p:cNvPr id="23" name="TextBox 22"/>
          <p:cNvSpPr txBox="1"/>
          <p:nvPr/>
        </p:nvSpPr>
        <p:spPr>
          <a:xfrm>
            <a:off x="4972202" y="25804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People adopt what they helped shape.</a:t>
            </a:r>
          </a:p>
        </p:txBody>
      </p:sp>
      <p:sp>
        <p:nvSpPr>
          <p:cNvPr id="24" name="Rounded Rectangle 23"/>
          <p:cNvSpPr/>
          <p:nvPr/>
        </p:nvSpPr>
        <p:spPr>
          <a:xfrm>
            <a:off x="8097316" y="20116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43620" y="21396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03</a:t>
            </a:r>
          </a:p>
        </p:txBody>
      </p:sp>
      <p:sp>
        <p:nvSpPr>
          <p:cNvPr id="26" name="TextBox 25"/>
          <p:cNvSpPr txBox="1"/>
          <p:nvPr/>
        </p:nvSpPr>
        <p:spPr>
          <a:xfrm>
            <a:off x="8746540" y="21396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Write a PRD</a:t>
            </a:r>
          </a:p>
        </p:txBody>
      </p:sp>
      <p:sp>
        <p:nvSpPr>
          <p:cNvPr id="27" name="TextBox 26"/>
          <p:cNvSpPr txBox="1"/>
          <p:nvPr/>
        </p:nvSpPr>
        <p:spPr>
          <a:xfrm>
            <a:off x="8746540" y="25804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Who it is for. What it must never do.</a:t>
            </a:r>
          </a:p>
        </p:txBody>
      </p:sp>
      <p:sp>
        <p:nvSpPr>
          <p:cNvPr id="28" name="Rounded Rectangle 27"/>
          <p:cNvSpPr/>
          <p:nvPr/>
        </p:nvSpPr>
        <p:spPr>
          <a:xfrm>
            <a:off x="548640" y="36118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94944" y="37398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04</a:t>
            </a:r>
          </a:p>
        </p:txBody>
      </p:sp>
      <p:sp>
        <p:nvSpPr>
          <p:cNvPr id="30" name="TextBox 29"/>
          <p:cNvSpPr txBox="1"/>
          <p:nvPr/>
        </p:nvSpPr>
        <p:spPr>
          <a:xfrm>
            <a:off x="1197864" y="37398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Ask for the code</a:t>
            </a:r>
          </a:p>
        </p:txBody>
      </p:sp>
      <p:sp>
        <p:nvSpPr>
          <p:cNvPr id="31" name="TextBox 30"/>
          <p:cNvSpPr txBox="1"/>
          <p:nvPr/>
        </p:nvSpPr>
        <p:spPr>
          <a:xfrm>
            <a:off x="1197864" y="41806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You do not have to write it to own the question.</a:t>
            </a:r>
          </a:p>
        </p:txBody>
      </p:sp>
      <p:sp>
        <p:nvSpPr>
          <p:cNvPr id="32" name="Rounded Rectangle 31"/>
          <p:cNvSpPr/>
          <p:nvPr/>
        </p:nvSpPr>
        <p:spPr>
          <a:xfrm>
            <a:off x="4322978" y="36118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4469282" y="37398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05</a:t>
            </a:r>
          </a:p>
        </p:txBody>
      </p:sp>
      <p:sp>
        <p:nvSpPr>
          <p:cNvPr id="34" name="TextBox 33"/>
          <p:cNvSpPr txBox="1"/>
          <p:nvPr/>
        </p:nvSpPr>
        <p:spPr>
          <a:xfrm>
            <a:off x="4972202" y="37398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One data store</a:t>
            </a:r>
          </a:p>
        </p:txBody>
      </p:sp>
      <p:sp>
        <p:nvSpPr>
          <p:cNvPr id="35" name="TextBox 34"/>
          <p:cNvSpPr txBox="1"/>
          <p:nvPr/>
        </p:nvSpPr>
        <p:spPr>
          <a:xfrm>
            <a:off x="4972202" y="41806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One number the team can trust.</a:t>
            </a:r>
          </a:p>
        </p:txBody>
      </p:sp>
      <p:sp>
        <p:nvSpPr>
          <p:cNvPr id="36" name="Rounded Rectangle 35"/>
          <p:cNvSpPr/>
          <p:nvPr/>
        </p:nvSpPr>
        <p:spPr>
          <a:xfrm>
            <a:off x="8097316" y="36118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243620" y="3739896"/>
            <a:ext cx="384048" cy="384048"/>
          </a:xfrm>
          <a:prstGeom prst="roundRect">
            <a:avLst>
              <a:gd name="adj" fmla="val 25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300" b="1" i="0">
                <a:solidFill>
                  <a:srgbClr val="FFFFFF"/>
                </a:solidFill>
                <a:latin typeface="Calibri"/>
              </a:rPr>
              <a:t>06</a:t>
            </a:r>
          </a:p>
        </p:txBody>
      </p:sp>
      <p:sp>
        <p:nvSpPr>
          <p:cNvPr id="38" name="TextBox 37"/>
          <p:cNvSpPr txBox="1"/>
          <p:nvPr/>
        </p:nvSpPr>
        <p:spPr>
          <a:xfrm>
            <a:off x="8746540" y="3739896"/>
            <a:ext cx="2750210"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Govern first</a:t>
            </a:r>
          </a:p>
        </p:txBody>
      </p:sp>
      <p:sp>
        <p:nvSpPr>
          <p:cNvPr id="39" name="TextBox 38"/>
          <p:cNvSpPr txBox="1"/>
          <p:nvPr/>
        </p:nvSpPr>
        <p:spPr>
          <a:xfrm>
            <a:off x="8746540" y="4180636"/>
            <a:ext cx="2750210" cy="806502"/>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Policy and permission, then the work.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188720"/>
            <a:ext cx="9144000" cy="365760"/>
          </a:xfrm>
          <a:prstGeom prst="rect">
            <a:avLst/>
          </a:prstGeom>
          <a:noFill/>
        </p:spPr>
        <p:txBody>
          <a:bodyPr wrap="square" anchor="t" lIns="0" rIns="0" tIns="0" bIns="0"/>
          <a:lstStyle/>
          <a:p>
            <a:pPr algn="l">
              <a:lnSpc>
                <a:spcPct val="115000"/>
              </a:lnSpc>
              <a:spcAft>
                <a:spcPts val="400"/>
              </a:spcAft>
            </a:pPr>
            <a:r>
              <a:rPr sz="1400" b="1" i="0">
                <a:solidFill>
                  <a:srgbClr val="FFC20E"/>
                </a:solidFill>
                <a:latin typeface="Calibri"/>
              </a:rPr>
              <a:t>THE FLOOR</a:t>
            </a:r>
          </a:p>
        </p:txBody>
      </p:sp>
      <p:sp>
        <p:nvSpPr>
          <p:cNvPr id="5" name="TextBox 4"/>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Cybersecurity comes first. </a:t>
            </a:r>
            <a:r>
              <a:rPr sz="4600" b="1" i="0">
                <a:solidFill>
                  <a:srgbClr val="FFC20E"/>
                </a:solidFill>
                <a:latin typeface="Calibri"/>
              </a:rPr>
              <a:t>Everything else</a:t>
            </a:r>
            <a:r>
              <a:rPr sz="4600" b="1" i="0">
                <a:solidFill>
                  <a:srgbClr val="FFFFFF"/>
                </a:solidFill>
                <a:latin typeface="Calibri"/>
              </a:rPr>
              <a:t> comes after.</a:t>
            </a:r>
          </a:p>
        </p:txBody>
      </p:sp>
      <p:sp>
        <p:nvSpPr>
          <p:cNvPr id="6" name="TextBox 5"/>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A clever tool that leaks a name is not a clever tool.</a:t>
            </a:r>
          </a:p>
        </p:txBody>
      </p:sp>
      <p:sp>
        <p:nvSpPr>
          <p:cNvPr id="7" name="Rounded Rectangle 6"/>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block-08-learned.png"/>
          <p:cNvPicPr>
            <a:picLocks noChangeAspect="1"/>
          </p:cNvPicPr>
          <p:nvPr/>
        </p:nvPicPr>
        <p:blipFill>
          <a:blip r:embed="rId2"/>
          <a:stretch>
            <a:fillRect/>
          </a:stretch>
        </p:blipFill>
        <p:spPr>
          <a:xfrm>
            <a:off x="11277295" y="713232"/>
            <a:ext cx="713232" cy="713232"/>
          </a:xfrm>
          <a:prstGeom prst="rect">
            <a:avLst/>
          </a:prstGeom>
        </p:spPr>
      </p:pic>
      <p:sp>
        <p:nvSpPr>
          <p:cNvPr id="9" name="TextBox 8"/>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0" name="TextBox 9"/>
          <p:cNvSpPr txBox="1"/>
          <p:nvPr/>
        </p:nvSpPr>
        <p:spPr>
          <a:xfrm>
            <a:off x="11204143" y="1572768"/>
            <a:ext cx="859536" cy="219456"/>
          </a:xfrm>
          <a:prstGeom prst="rect">
            <a:avLst/>
          </a:prstGeom>
          <a:noFill/>
        </p:spPr>
        <p:txBody>
          <a:bodyPr wrap="none" anchor="ctr" lIns="0" rIns="0" tIns="0" bIns="0"/>
          <a:lstStyle/>
          <a:p>
            <a:pPr algn="ctr"/>
            <a:fld id="{86881b21-8722-42f5-8200-a4cd4682fd27}" type="datetime9">
              <a:rPr lang="en-US" sz="1200" b="1" dirty="0" smtClean="0">
                <a:solidFill>
                  <a:srgbClr val="21409A"/>
                </a:solidFill>
                <a:latin typeface="Calibri"/>
              </a:rPr>
              <a:t>1:04 AM</a:t>
            </a:fld>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188720"/>
            <a:ext cx="9144000" cy="365760"/>
          </a:xfrm>
          <a:prstGeom prst="rect">
            <a:avLst/>
          </a:prstGeom>
          <a:noFill/>
        </p:spPr>
        <p:txBody>
          <a:bodyPr wrap="square" anchor="t" lIns="0" rIns="0" tIns="0" bIns="0"/>
          <a:lstStyle/>
          <a:p>
            <a:pPr algn="l">
              <a:lnSpc>
                <a:spcPct val="115000"/>
              </a:lnSpc>
              <a:spcAft>
                <a:spcPts val="400"/>
              </a:spcAft>
            </a:pPr>
            <a:r>
              <a:rPr sz="1400" b="1" i="0">
                <a:solidFill>
                  <a:srgbClr val="FFC20E"/>
                </a:solidFill>
                <a:latin typeface="Calibri"/>
              </a:rPr>
              <a:t>THE NEW STAFF</a:t>
            </a:r>
          </a:p>
        </p:txBody>
      </p:sp>
      <p:sp>
        <p:nvSpPr>
          <p:cNvPr id="5" name="TextBox 4"/>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Agents need
their own rules</a:t>
            </a:r>
          </a:p>
        </p:txBody>
      </p:sp>
      <p:sp>
        <p:nvSpPr>
          <p:cNvPr id="6" name="TextBox 5"/>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A chatbot answers. An agent does work.</a:t>
            </a:r>
          </a:p>
        </p:txBody>
      </p:sp>
      <p:sp>
        <p:nvSpPr>
          <p:cNvPr id="7" name="Rounded Rectangle 6"/>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block-08-learned.png"/>
          <p:cNvPicPr>
            <a:picLocks noChangeAspect="1"/>
          </p:cNvPicPr>
          <p:nvPr/>
        </p:nvPicPr>
        <p:blipFill>
          <a:blip r:embed="rId2"/>
          <a:stretch>
            <a:fillRect/>
          </a:stretch>
        </p:blipFill>
        <p:spPr>
          <a:xfrm>
            <a:off x="11277295" y="713232"/>
            <a:ext cx="713232" cy="713232"/>
          </a:xfrm>
          <a:prstGeom prst="rect">
            <a:avLst/>
          </a:prstGeom>
        </p:spPr>
      </p:pic>
      <p:sp>
        <p:nvSpPr>
          <p:cNvPr id="9" name="TextBox 8"/>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0" name="TextBox 9"/>
          <p:cNvSpPr txBox="1"/>
          <p:nvPr/>
        </p:nvSpPr>
        <p:spPr>
          <a:xfrm>
            <a:off x="11204143" y="1572768"/>
            <a:ext cx="859536" cy="219456"/>
          </a:xfrm>
          <a:prstGeom prst="rect">
            <a:avLst/>
          </a:prstGeom>
          <a:noFill/>
        </p:spPr>
        <p:txBody>
          <a:bodyPr wrap="none" anchor="ctr" lIns="0" rIns="0" tIns="0" bIns="0"/>
          <a:lstStyle/>
          <a:p>
            <a:pPr algn="ctr"/>
            <a:fld id="{5a869d8a-cbdf-4b22-8073-9671403214c8}" type="datetime9">
              <a:rPr lang="en-US" sz="1200" b="1" dirty="0" smtClean="0">
                <a:solidFill>
                  <a:srgbClr val="21409A"/>
                </a:solidFill>
                <a:latin typeface="Calibri"/>
              </a:rPr>
              <a:t>1:04 AM</a:t>
            </a:fld>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9 · 00:54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8-learne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5f3bdf7e-a81c-4636-9050-0db19727f94a}"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77</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21409A"/>
                </a:solidFill>
                <a:latin typeface="Calibri"/>
              </a:rPr>
              <a:t>NOT THE SAME THING</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A chatbot answers. An agent does work.</a:t>
            </a:r>
          </a:p>
        </p:txBody>
      </p:sp>
      <p:sp>
        <p:nvSpPr>
          <p:cNvPr id="16" name="Rounded Rectangle 15"/>
          <p:cNvSpPr/>
          <p:nvPr/>
        </p:nvSpPr>
        <p:spPr>
          <a:xfrm>
            <a:off x="548640" y="2011680"/>
            <a:ext cx="5364327" cy="25146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2148840"/>
            <a:ext cx="4815687" cy="457200"/>
          </a:xfrm>
          <a:prstGeom prst="rect">
            <a:avLst/>
          </a:prstGeom>
          <a:noFill/>
        </p:spPr>
        <p:txBody>
          <a:bodyPr wrap="square" anchor="t" lIns="0" rIns="0" tIns="0" bIns="0"/>
          <a:lstStyle/>
          <a:p>
            <a:pPr algn="l">
              <a:lnSpc>
                <a:spcPct val="115000"/>
              </a:lnSpc>
              <a:spcAft>
                <a:spcPts val="400"/>
              </a:spcAft>
            </a:pPr>
            <a:r>
              <a:rPr sz="2200" b="1" i="0">
                <a:solidFill>
                  <a:srgbClr val="21409A"/>
                </a:solidFill>
                <a:latin typeface="Calibri"/>
              </a:rPr>
              <a:t>A generic language model</a:t>
            </a:r>
          </a:p>
        </p:txBody>
      </p:sp>
      <p:sp>
        <p:nvSpPr>
          <p:cNvPr id="18" name="TextBox 17"/>
          <p:cNvSpPr txBox="1"/>
          <p:nvPr/>
        </p:nvSpPr>
        <p:spPr>
          <a:xfrm>
            <a:off x="822960" y="2651760"/>
            <a:ext cx="4815687" cy="1828800"/>
          </a:xfrm>
          <a:prstGeom prst="rect">
            <a:avLst/>
          </a:prstGeom>
          <a:noFill/>
        </p:spPr>
        <p:txBody>
          <a:bodyPr wrap="square" lIns="73152" rIns="73152" tIns="73152" bIns="73152"/>
          <a:lstStyle/>
          <a:p>
            <a:pPr marL="256032" indent="-256032">
              <a:lnSpc>
                <a:spcPct val="112000"/>
              </a:lnSpc>
              <a:spcAft>
                <a:spcPts val="600"/>
              </a:spcAft>
              <a:buClr>
                <a:srgbClr val="EC008C"/>
              </a:buClr>
              <a:buFont typeface="Arial"/>
              <a:buChar char="•"/>
            </a:pPr>
            <a:r>
              <a:rPr sz="1600" b="0" i="0">
                <a:solidFill>
                  <a:srgbClr val="1B2A4A"/>
                </a:solidFill>
                <a:latin typeface="Calibri"/>
              </a:rPr>
              <a:t>Sits in a browser tab</a:t>
            </a:r>
          </a:p>
          <a:p>
            <a:pPr marL="256032" indent="-256032">
              <a:lnSpc>
                <a:spcPct val="112000"/>
              </a:lnSpc>
              <a:spcAft>
                <a:spcPts val="600"/>
              </a:spcAft>
              <a:buClr>
                <a:srgbClr val="EC008C"/>
              </a:buClr>
              <a:buFont typeface="Arial"/>
              <a:buChar char="•"/>
            </a:pPr>
            <a:r>
              <a:rPr sz="1600" b="0" i="0">
                <a:solidFill>
                  <a:srgbClr val="1B2A4A"/>
                </a:solidFill>
                <a:latin typeface="Calibri"/>
              </a:rPr>
              <a:t>Forgets you tomorrow</a:t>
            </a:r>
          </a:p>
          <a:p>
            <a:pPr marL="256032" indent="-256032">
              <a:lnSpc>
                <a:spcPct val="112000"/>
              </a:lnSpc>
              <a:spcAft>
                <a:spcPts val="600"/>
              </a:spcAft>
              <a:buClr>
                <a:srgbClr val="EC008C"/>
              </a:buClr>
              <a:buFont typeface="Arial"/>
              <a:buChar char="•"/>
            </a:pPr>
            <a:r>
              <a:rPr sz="1600" b="0" i="0">
                <a:solidFill>
                  <a:srgbClr val="1B2A4A"/>
                </a:solidFill>
                <a:latin typeface="Calibri"/>
              </a:rPr>
              <a:t>Cannot act on a chart</a:t>
            </a:r>
          </a:p>
          <a:p>
            <a:pPr marL="256032" indent="-256032">
              <a:lnSpc>
                <a:spcPct val="112000"/>
              </a:lnSpc>
              <a:spcAft>
                <a:spcPts val="600"/>
              </a:spcAft>
              <a:buClr>
                <a:srgbClr val="EC008C"/>
              </a:buClr>
              <a:buFont typeface="Arial"/>
              <a:buChar char="•"/>
            </a:pPr>
            <a:r>
              <a:rPr sz="1600" b="0" i="0">
                <a:solidFill>
                  <a:srgbClr val="1B2A4A"/>
                </a:solidFill>
                <a:latin typeface="Calibri"/>
              </a:rPr>
              <a:t>Not allowed near a child</a:t>
            </a:r>
          </a:p>
        </p:txBody>
      </p:sp>
      <p:sp>
        <p:nvSpPr>
          <p:cNvPr id="19" name="Rounded Rectangle 18"/>
          <p:cNvSpPr/>
          <p:nvPr/>
        </p:nvSpPr>
        <p:spPr>
          <a:xfrm>
            <a:off x="6278727" y="2011680"/>
            <a:ext cx="5364327" cy="2514600"/>
          </a:xfrm>
          <a:prstGeom prst="roundRect">
            <a:avLst>
              <a:gd name="adj" fmla="val 8000"/>
            </a:avLst>
          </a:prstGeom>
          <a:solidFill>
            <a:srgbClr val="FFFFFF"/>
          </a:solidFill>
          <a:ln w="25400">
            <a:solidFill>
              <a:srgbClr val="2140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53047" y="2148840"/>
            <a:ext cx="4815687" cy="457200"/>
          </a:xfrm>
          <a:prstGeom prst="rect">
            <a:avLst/>
          </a:prstGeom>
          <a:noFill/>
        </p:spPr>
        <p:txBody>
          <a:bodyPr wrap="square" anchor="t" lIns="0" rIns="0" tIns="0" bIns="0"/>
          <a:lstStyle/>
          <a:p>
            <a:pPr algn="l">
              <a:lnSpc>
                <a:spcPct val="115000"/>
              </a:lnSpc>
              <a:spcAft>
                <a:spcPts val="400"/>
              </a:spcAft>
            </a:pPr>
            <a:r>
              <a:rPr sz="2200" b="1" i="0">
                <a:solidFill>
                  <a:srgbClr val="21409A"/>
                </a:solidFill>
                <a:latin typeface="Calibri"/>
              </a:rPr>
              <a:t>A hospital agent</a:t>
            </a:r>
          </a:p>
        </p:txBody>
      </p:sp>
      <p:sp>
        <p:nvSpPr>
          <p:cNvPr id="21" name="TextBox 20"/>
          <p:cNvSpPr txBox="1"/>
          <p:nvPr/>
        </p:nvSpPr>
        <p:spPr>
          <a:xfrm>
            <a:off x="6553047" y="2651760"/>
            <a:ext cx="4815687" cy="1828800"/>
          </a:xfrm>
          <a:prstGeom prst="rect">
            <a:avLst/>
          </a:prstGeom>
          <a:noFill/>
        </p:spPr>
        <p:txBody>
          <a:bodyPr wrap="square" lIns="73152" rIns="73152" tIns="73152" bIns="73152"/>
          <a:lstStyle/>
          <a:p>
            <a:pPr marL="256032" indent="-256032">
              <a:lnSpc>
                <a:spcPct val="112000"/>
              </a:lnSpc>
              <a:spcAft>
                <a:spcPts val="600"/>
              </a:spcAft>
              <a:buClr>
                <a:srgbClr val="EC008C"/>
              </a:buClr>
              <a:buFont typeface="Arial"/>
              <a:buChar char="•"/>
            </a:pPr>
            <a:r>
              <a:rPr sz="1600" b="0" i="0">
                <a:solidFill>
                  <a:srgbClr val="1B2A4A"/>
                </a:solidFill>
                <a:latin typeface="Calibri"/>
              </a:rPr>
              <a:t>Has a named job</a:t>
            </a:r>
          </a:p>
          <a:p>
            <a:pPr marL="256032" indent="-256032">
              <a:lnSpc>
                <a:spcPct val="112000"/>
              </a:lnSpc>
              <a:spcAft>
                <a:spcPts val="600"/>
              </a:spcAft>
              <a:buClr>
                <a:srgbClr val="EC008C"/>
              </a:buClr>
              <a:buFont typeface="Arial"/>
              <a:buChar char="•"/>
            </a:pPr>
            <a:r>
              <a:rPr sz="1600" b="0" i="0">
                <a:solidFill>
                  <a:srgbClr val="1B2A4A"/>
                </a:solidFill>
                <a:latin typeface="Calibri"/>
              </a:rPr>
              <a:t>Reads, remembers, learns</a:t>
            </a:r>
          </a:p>
          <a:p>
            <a:pPr marL="256032" indent="-256032">
              <a:lnSpc>
                <a:spcPct val="112000"/>
              </a:lnSpc>
              <a:spcAft>
                <a:spcPts val="600"/>
              </a:spcAft>
              <a:buClr>
                <a:srgbClr val="EC008C"/>
              </a:buClr>
              <a:buFont typeface="Arial"/>
              <a:buChar char="•"/>
            </a:pPr>
            <a:r>
              <a:rPr sz="1600" b="0" i="0">
                <a:solidFill>
                  <a:srgbClr val="1B2A4A"/>
                </a:solidFill>
                <a:latin typeface="Calibri"/>
              </a:rPr>
              <a:t>Can face a family — or build the hospital’s AI</a:t>
            </a:r>
          </a:p>
          <a:p>
            <a:pPr marL="256032" indent="-256032">
              <a:lnSpc>
                <a:spcPct val="112000"/>
              </a:lnSpc>
              <a:spcAft>
                <a:spcPts val="600"/>
              </a:spcAft>
              <a:buClr>
                <a:srgbClr val="EC008C"/>
              </a:buClr>
              <a:buFont typeface="Arial"/>
              <a:buChar char="•"/>
            </a:pPr>
            <a:r>
              <a:rPr sz="1600" b="0" i="0">
                <a:solidFill>
                  <a:srgbClr val="1B2A4A"/>
                </a:solidFill>
                <a:latin typeface="Calibri"/>
              </a:rPr>
              <a:t>Works only with a human in the loop</a:t>
            </a:r>
          </a:p>
        </p:txBody>
      </p:sp>
      <p:sp>
        <p:nvSpPr>
          <p:cNvPr id="22" name="Rounded Rectangle 21"/>
          <p:cNvSpPr/>
          <p:nvPr/>
        </p:nvSpPr>
        <p:spPr>
          <a:xfrm>
            <a:off x="548640" y="4709160"/>
            <a:ext cx="5364327" cy="1051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8368" y="4800599"/>
            <a:ext cx="5144871" cy="228600"/>
          </a:xfrm>
          <a:prstGeom prst="rect">
            <a:avLst/>
          </a:prstGeom>
          <a:noFill/>
        </p:spPr>
        <p:txBody>
          <a:bodyPr wrap="square" anchor="t" lIns="0" rIns="0" tIns="0" bIns="0"/>
          <a:lstStyle/>
          <a:p>
            <a:pPr algn="l">
              <a:lnSpc>
                <a:spcPct val="100000"/>
              </a:lnSpc>
              <a:spcAft>
                <a:spcPts val="0"/>
              </a:spcAft>
            </a:pPr>
            <a:r>
              <a:rPr sz="900" b="1" i="0">
                <a:solidFill>
                  <a:srgbClr val="EC008C"/>
                </a:solidFill>
                <a:latin typeface="Calibri"/>
              </a:rPr>
              <a:t>PATIENT-FACING</a:t>
            </a:r>
          </a:p>
        </p:txBody>
      </p:sp>
      <p:sp>
        <p:nvSpPr>
          <p:cNvPr id="24" name="TextBox 23"/>
          <p:cNvSpPr txBox="1"/>
          <p:nvPr/>
        </p:nvSpPr>
        <p:spPr>
          <a:xfrm>
            <a:off x="658368" y="5020055"/>
            <a:ext cx="5144871"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With the family</a:t>
            </a:r>
          </a:p>
        </p:txBody>
      </p:sp>
      <p:sp>
        <p:nvSpPr>
          <p:cNvPr id="25" name="TextBox 24"/>
          <p:cNvSpPr txBox="1"/>
          <p:nvPr/>
        </p:nvSpPr>
        <p:spPr>
          <a:xfrm>
            <a:off x="658368" y="5351067"/>
            <a:ext cx="5144871" cy="343817"/>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Explain a protocol in the language the ward actually uses.</a:t>
            </a:r>
          </a:p>
        </p:txBody>
      </p:sp>
      <p:sp>
        <p:nvSpPr>
          <p:cNvPr id="26" name="Rounded Rectangle 25"/>
          <p:cNvSpPr/>
          <p:nvPr/>
        </p:nvSpPr>
        <p:spPr>
          <a:xfrm>
            <a:off x="6278727" y="4709160"/>
            <a:ext cx="5364327" cy="1051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88455" y="4800599"/>
            <a:ext cx="5144871" cy="228600"/>
          </a:xfrm>
          <a:prstGeom prst="rect">
            <a:avLst/>
          </a:prstGeom>
          <a:noFill/>
        </p:spPr>
        <p:txBody>
          <a:bodyPr wrap="square" anchor="t" lIns="0" rIns="0" tIns="0" bIns="0"/>
          <a:lstStyle/>
          <a:p>
            <a:pPr algn="l">
              <a:lnSpc>
                <a:spcPct val="100000"/>
              </a:lnSpc>
              <a:spcAft>
                <a:spcPts val="0"/>
              </a:spcAft>
            </a:pPr>
            <a:r>
              <a:rPr sz="900" b="1" i="0">
                <a:solidFill>
                  <a:srgbClr val="EC008C"/>
                </a:solidFill>
                <a:latin typeface="Calibri"/>
              </a:rPr>
              <a:t>INFRASTRUCTURE</a:t>
            </a:r>
          </a:p>
        </p:txBody>
      </p:sp>
      <p:sp>
        <p:nvSpPr>
          <p:cNvPr id="28" name="TextBox 27"/>
          <p:cNvSpPr txBox="1"/>
          <p:nvPr/>
        </p:nvSpPr>
        <p:spPr>
          <a:xfrm>
            <a:off x="6388455" y="5020055"/>
            <a:ext cx="5144871" cy="329184"/>
          </a:xfrm>
          <a:prstGeom prst="rect">
            <a:avLst/>
          </a:prstGeom>
          <a:noFill/>
        </p:spPr>
        <p:txBody>
          <a:bodyPr wrap="square" anchor="t" lIns="0" rIns="0" tIns="0" bIns="0"/>
          <a:lstStyle/>
          <a:p>
            <a:pPr algn="l">
              <a:lnSpc>
                <a:spcPct val="100000"/>
              </a:lnSpc>
              <a:spcAft>
                <a:spcPts val="0"/>
              </a:spcAft>
            </a:pPr>
            <a:r>
              <a:rPr sz="1300" b="1" i="0">
                <a:solidFill>
                  <a:srgbClr val="1B2A4A"/>
                </a:solidFill>
                <a:latin typeface="Calibri"/>
              </a:rPr>
              <a:t>With the hospital</a:t>
            </a:r>
          </a:p>
        </p:txBody>
      </p:sp>
      <p:sp>
        <p:nvSpPr>
          <p:cNvPr id="29" name="TextBox 28"/>
          <p:cNvSpPr txBox="1"/>
          <p:nvPr/>
        </p:nvSpPr>
        <p:spPr>
          <a:xfrm>
            <a:off x="6388455" y="5351067"/>
            <a:ext cx="5144871" cy="343817"/>
          </a:xfrm>
          <a:prstGeom prst="rect">
            <a:avLst/>
          </a:prstGeom>
          <a:noFill/>
        </p:spPr>
        <p:txBody>
          <a:bodyPr wrap="square" anchor="t" lIns="0" rIns="0" tIns="0" bIns="0"/>
          <a:lstStyle/>
          <a:p>
            <a:pPr algn="l">
              <a:lnSpc>
                <a:spcPct val="112000"/>
              </a:lnSpc>
              <a:spcAft>
                <a:spcPts val="300"/>
              </a:spcAft>
            </a:pPr>
            <a:r>
              <a:rPr sz="1100" b="0" i="0">
                <a:solidFill>
                  <a:srgbClr val="607D8B"/>
                </a:solidFill>
                <a:latin typeface="Calibri"/>
              </a:rPr>
              <a:t>Read notes, keep tables, help build the AI the centre runs 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9 · 00:54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8-learne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5bbed6b5-60e8-4e69-b895-c7e617fab7e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78</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21409A"/>
                </a:solidFill>
                <a:latin typeface="Calibri"/>
              </a:rPr>
              <a:t>WHAT THEY MUST BE ABLE TO DO</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Learn. Read. Be corrected.</a:t>
            </a:r>
          </a:p>
        </p:txBody>
      </p:sp>
      <p:sp>
        <p:nvSpPr>
          <p:cNvPr id="16" name="Rounded Rectangle 15"/>
          <p:cNvSpPr/>
          <p:nvPr/>
        </p:nvSpPr>
        <p:spPr>
          <a:xfrm>
            <a:off x="548640" y="2011680"/>
            <a:ext cx="7320076" cy="1463040"/>
          </a:xfrm>
          <a:prstGeom prst="roundRect">
            <a:avLst>
              <a:gd name="adj" fmla="val 6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139696"/>
            <a:ext cx="7027468" cy="329184"/>
          </a:xfrm>
          <a:prstGeom prst="rect">
            <a:avLst/>
          </a:prstGeom>
          <a:noFill/>
        </p:spPr>
        <p:txBody>
          <a:bodyPr wrap="square" anchor="t" lIns="0" rIns="0" tIns="0" bIns="0"/>
          <a:lstStyle/>
          <a:p>
            <a:pPr algn="l">
              <a:lnSpc>
                <a:spcPct val="100000"/>
              </a:lnSpc>
              <a:spcAft>
                <a:spcPts val="0"/>
              </a:spcAft>
            </a:pPr>
            <a:r>
              <a:rPr sz="2200" b="1" i="0">
                <a:solidFill>
                  <a:srgbClr val="FFFFFF"/>
                </a:solidFill>
                <a:latin typeface="Calibri"/>
              </a:rPr>
              <a:t>Keep humans in the loop</a:t>
            </a:r>
          </a:p>
        </p:txBody>
      </p:sp>
      <p:sp>
        <p:nvSpPr>
          <p:cNvPr id="18" name="TextBox 17"/>
          <p:cNvSpPr txBox="1"/>
          <p:nvPr/>
        </p:nvSpPr>
        <p:spPr>
          <a:xfrm>
            <a:off x="694944" y="2668219"/>
            <a:ext cx="7027468" cy="718719"/>
          </a:xfrm>
          <a:prstGeom prst="rect">
            <a:avLst/>
          </a:prstGeom>
          <a:noFill/>
        </p:spPr>
        <p:txBody>
          <a:bodyPr wrap="square" anchor="t" lIns="0" rIns="0" tIns="0" bIns="0"/>
          <a:lstStyle/>
          <a:p>
            <a:pPr algn="l">
              <a:lnSpc>
                <a:spcPct val="112000"/>
              </a:lnSpc>
              <a:spcAft>
                <a:spcPts val="300"/>
              </a:spcAft>
            </a:pPr>
            <a:r>
              <a:rPr sz="1500" b="0" i="0">
                <a:solidFill>
                  <a:srgbClr val="C5D3EE"/>
                </a:solidFill>
                <a:latin typeface="Calibri"/>
              </a:rPr>
              <a:t>A person signs off before anything touches a child.</a:t>
            </a:r>
          </a:p>
        </p:txBody>
      </p:sp>
      <p:sp>
        <p:nvSpPr>
          <p:cNvPr id="19" name="Rounded Rectangle 18"/>
          <p:cNvSpPr/>
          <p:nvPr/>
        </p:nvSpPr>
        <p:spPr>
          <a:xfrm>
            <a:off x="8097316" y="201168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43620" y="2139696"/>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Learn</a:t>
            </a:r>
          </a:p>
        </p:txBody>
      </p:sp>
      <p:sp>
        <p:nvSpPr>
          <p:cNvPr id="21" name="TextBox 20"/>
          <p:cNvSpPr txBox="1"/>
          <p:nvPr/>
        </p:nvSpPr>
        <p:spPr>
          <a:xfrm>
            <a:off x="8243620" y="2624328"/>
            <a:ext cx="3253130" cy="762610"/>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From the work, not only from a prompt.</a:t>
            </a:r>
          </a:p>
        </p:txBody>
      </p:sp>
      <p:sp>
        <p:nvSpPr>
          <p:cNvPr id="22" name="Rounded Rectangle 21"/>
          <p:cNvSpPr/>
          <p:nvPr/>
        </p:nvSpPr>
        <p:spPr>
          <a:xfrm>
            <a:off x="548640" y="370332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4944" y="3831336"/>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Read</a:t>
            </a:r>
          </a:p>
        </p:txBody>
      </p:sp>
      <p:sp>
        <p:nvSpPr>
          <p:cNvPr id="24" name="TextBox 23"/>
          <p:cNvSpPr txBox="1"/>
          <p:nvPr/>
        </p:nvSpPr>
        <p:spPr>
          <a:xfrm>
            <a:off x="694944" y="4315968"/>
            <a:ext cx="3253130" cy="762610"/>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The chart, the guideline, the last message.</a:t>
            </a:r>
          </a:p>
        </p:txBody>
      </p:sp>
      <p:sp>
        <p:nvSpPr>
          <p:cNvPr id="25" name="Rounded Rectangle 24"/>
          <p:cNvSpPr/>
          <p:nvPr/>
        </p:nvSpPr>
        <p:spPr>
          <a:xfrm>
            <a:off x="4322978" y="370332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69282" y="3831336"/>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Take feedback</a:t>
            </a:r>
          </a:p>
        </p:txBody>
      </p:sp>
      <p:sp>
        <p:nvSpPr>
          <p:cNvPr id="27" name="TextBox 26"/>
          <p:cNvSpPr txBox="1"/>
          <p:nvPr/>
        </p:nvSpPr>
        <p:spPr>
          <a:xfrm>
            <a:off x="4469282" y="4315968"/>
            <a:ext cx="3253130" cy="762610"/>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A nurse can say “wrong,” and it sticks.</a:t>
            </a:r>
          </a:p>
        </p:txBody>
      </p:sp>
      <p:sp>
        <p:nvSpPr>
          <p:cNvPr id="28" name="Rounded Rectangle 27"/>
          <p:cNvSpPr/>
          <p:nvPr/>
        </p:nvSpPr>
        <p:spPr>
          <a:xfrm>
            <a:off x="8097316" y="3703320"/>
            <a:ext cx="3545738" cy="146304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43620" y="3831336"/>
            <a:ext cx="3253130" cy="329184"/>
          </a:xfrm>
          <a:prstGeom prst="rect">
            <a:avLst/>
          </a:prstGeom>
          <a:noFill/>
        </p:spPr>
        <p:txBody>
          <a:bodyPr wrap="square" anchor="t" lIns="0" rIns="0" tIns="0" bIns="0"/>
          <a:lstStyle/>
          <a:p>
            <a:pPr algn="l">
              <a:lnSpc>
                <a:spcPct val="100000"/>
              </a:lnSpc>
              <a:spcAft>
                <a:spcPts val="0"/>
              </a:spcAft>
            </a:pPr>
            <a:r>
              <a:rPr sz="2000" b="1" i="0">
                <a:solidFill>
                  <a:srgbClr val="1B2A4A"/>
                </a:solidFill>
                <a:latin typeface="Calibri"/>
              </a:rPr>
              <a:t>Talk to each other</a:t>
            </a:r>
          </a:p>
        </p:txBody>
      </p:sp>
      <p:sp>
        <p:nvSpPr>
          <p:cNvPr id="30" name="TextBox 29"/>
          <p:cNvSpPr txBox="1"/>
          <p:nvPr/>
        </p:nvSpPr>
        <p:spPr>
          <a:xfrm>
            <a:off x="8243620" y="4315968"/>
            <a:ext cx="3253130" cy="762610"/>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Hand-offs in writing, the way teams already do.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9 · 00:54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8-learne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e58e03bd-db54-4587-b208-58c8bdec3a77}"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79</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21409A"/>
                </a:solidFill>
                <a:latin typeface="Calibri"/>
              </a:rPr>
              <a:t>WHEN IT FAILS</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An agent error is an </a:t>
            </a:r>
            <a:r>
              <a:rPr sz="3000" b="1" i="0">
                <a:solidFill>
                  <a:srgbClr val="EC008C"/>
                </a:solidFill>
                <a:latin typeface="Calibri"/>
              </a:rPr>
              <a:t>incident</a:t>
            </a:r>
            <a:r>
              <a:rPr sz="3000" b="1" i="0">
                <a:solidFill>
                  <a:srgbClr val="21409A"/>
                </a:solidFill>
                <a:latin typeface="Calibri"/>
              </a:rPr>
              <a:t>.</a:t>
            </a:r>
          </a:p>
        </p:txBody>
      </p:sp>
      <p:sp>
        <p:nvSpPr>
          <p:cNvPr id="16" name="TextBox 15"/>
          <p:cNvSpPr txBox="1"/>
          <p:nvPr/>
        </p:nvSpPr>
        <p:spPr>
          <a:xfrm>
            <a:off x="548640" y="1920240"/>
            <a:ext cx="4754880" cy="1371600"/>
          </a:xfrm>
          <a:prstGeom prst="rect">
            <a:avLst/>
          </a:prstGeom>
          <a:noFill/>
        </p:spPr>
        <p:txBody>
          <a:bodyPr wrap="square" anchor="t" lIns="0" rIns="0" tIns="0" bIns="0"/>
          <a:lstStyle/>
          <a:p>
            <a:pPr algn="l">
              <a:lnSpc>
                <a:spcPct val="115000"/>
              </a:lnSpc>
              <a:spcAft>
                <a:spcPts val="400"/>
              </a:spcAft>
            </a:pPr>
            <a:r>
              <a:rPr sz="1800" b="0" i="0">
                <a:solidFill>
                  <a:srgbClr val="1B2A4A"/>
                </a:solidFill>
                <a:latin typeface="Calibri"/>
              </a:rPr>
              <a:t>Not a glitch. Not “the model was having a day.” The same investigation as a missed dose.</a:t>
            </a:r>
          </a:p>
        </p:txBody>
      </p:sp>
      <p:sp>
        <p:nvSpPr>
          <p:cNvPr id="17" name="Rounded Rectangle 16"/>
          <p:cNvSpPr/>
          <p:nvPr/>
        </p:nvSpPr>
        <p:spPr>
          <a:xfrm>
            <a:off x="5669280" y="1993392"/>
            <a:ext cx="109728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NAME IT</a:t>
            </a:r>
          </a:p>
        </p:txBody>
      </p:sp>
      <p:sp>
        <p:nvSpPr>
          <p:cNvPr id="18" name="TextBox 17"/>
          <p:cNvSpPr txBox="1"/>
          <p:nvPr/>
        </p:nvSpPr>
        <p:spPr>
          <a:xfrm>
            <a:off x="6949440" y="1920240"/>
            <a:ext cx="4693615"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Who owns this agent?</a:t>
            </a:r>
          </a:p>
        </p:txBody>
      </p:sp>
      <p:sp>
        <p:nvSpPr>
          <p:cNvPr id="19" name="TextBox 18"/>
          <p:cNvSpPr txBox="1"/>
          <p:nvPr/>
        </p:nvSpPr>
        <p:spPr>
          <a:xfrm>
            <a:off x="6949440" y="2249424"/>
            <a:ext cx="4693615"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A person, not a vendor slide.</a:t>
            </a:r>
          </a:p>
        </p:txBody>
      </p:sp>
      <p:cxnSp>
        <p:nvCxnSpPr>
          <p:cNvPr id="20" name="Connector 19"/>
          <p:cNvCxnSpPr/>
          <p:nvPr/>
        </p:nvCxnSpPr>
        <p:spPr>
          <a:xfrm>
            <a:off x="6217920" y="2304288"/>
            <a:ext cx="0" cy="576072"/>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669280" y="2907792"/>
            <a:ext cx="109728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WATCH IT</a:t>
            </a:r>
          </a:p>
        </p:txBody>
      </p:sp>
      <p:sp>
        <p:nvSpPr>
          <p:cNvPr id="22" name="TextBox 21"/>
          <p:cNvSpPr txBox="1"/>
          <p:nvPr/>
        </p:nvSpPr>
        <p:spPr>
          <a:xfrm>
            <a:off x="6949440" y="2834640"/>
            <a:ext cx="4693615"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Life cycle, in the open</a:t>
            </a:r>
          </a:p>
        </p:txBody>
      </p:sp>
      <p:sp>
        <p:nvSpPr>
          <p:cNvPr id="23" name="TextBox 22"/>
          <p:cNvSpPr txBox="1"/>
          <p:nvPr/>
        </p:nvSpPr>
        <p:spPr>
          <a:xfrm>
            <a:off x="6949440" y="3163824"/>
            <a:ext cx="4693615"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Born, supervised, updated, retired.</a:t>
            </a:r>
          </a:p>
        </p:txBody>
      </p:sp>
      <p:cxnSp>
        <p:nvCxnSpPr>
          <p:cNvPr id="24" name="Connector 23"/>
          <p:cNvCxnSpPr/>
          <p:nvPr/>
        </p:nvCxnSpPr>
        <p:spPr>
          <a:xfrm>
            <a:off x="6217920" y="3218688"/>
            <a:ext cx="0" cy="576072"/>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669280" y="3822192"/>
            <a:ext cx="109728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SEE IT</a:t>
            </a:r>
          </a:p>
        </p:txBody>
      </p:sp>
      <p:sp>
        <p:nvSpPr>
          <p:cNvPr id="26" name="TextBox 25"/>
          <p:cNvSpPr txBox="1"/>
          <p:nvPr/>
        </p:nvSpPr>
        <p:spPr>
          <a:xfrm>
            <a:off x="6949440" y="3749040"/>
            <a:ext cx="4693615"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Output is visible</a:t>
            </a:r>
          </a:p>
        </p:txBody>
      </p:sp>
      <p:sp>
        <p:nvSpPr>
          <p:cNvPr id="27" name="TextBox 26"/>
          <p:cNvSpPr txBox="1"/>
          <p:nvPr/>
        </p:nvSpPr>
        <p:spPr>
          <a:xfrm>
            <a:off x="6949440" y="4078224"/>
            <a:ext cx="4693615"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If you cannot see the work, you cannot govern it.</a:t>
            </a:r>
          </a:p>
        </p:txBody>
      </p:sp>
      <p:cxnSp>
        <p:nvCxnSpPr>
          <p:cNvPr id="28" name="Connector 27"/>
          <p:cNvCxnSpPr/>
          <p:nvPr/>
        </p:nvCxnSpPr>
        <p:spPr>
          <a:xfrm>
            <a:off x="6217920" y="4133088"/>
            <a:ext cx="0" cy="576072"/>
          </a:xfrm>
          <a:prstGeom prst="line">
            <a:avLst/>
          </a:prstGeom>
          <a:ln w="25400">
            <a:solidFill>
              <a:srgbClr val="D6E4F5"/>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669280" y="4736592"/>
            <a:ext cx="1097280" cy="274320"/>
          </a:xfrm>
          <a:prstGeom prst="roundRect">
            <a:avLst>
              <a:gd name="adj" fmla="val 50000"/>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900" b="1" i="0">
                <a:solidFill>
                  <a:srgbClr val="FFFFFF"/>
                </a:solidFill>
                <a:latin typeface="Calibri"/>
              </a:rPr>
              <a:t>INVESTIGATE</a:t>
            </a:r>
          </a:p>
        </p:txBody>
      </p:sp>
      <p:sp>
        <p:nvSpPr>
          <p:cNvPr id="30" name="TextBox 29"/>
          <p:cNvSpPr txBox="1"/>
          <p:nvPr/>
        </p:nvSpPr>
        <p:spPr>
          <a:xfrm>
            <a:off x="6949440" y="4663440"/>
            <a:ext cx="4693615" cy="320040"/>
          </a:xfrm>
          <a:prstGeom prst="rect">
            <a:avLst/>
          </a:prstGeom>
          <a:noFill/>
        </p:spPr>
        <p:txBody>
          <a:bodyPr wrap="square" anchor="t" lIns="0" rIns="0" tIns="0" bIns="0"/>
          <a:lstStyle/>
          <a:p>
            <a:pPr algn="l">
              <a:lnSpc>
                <a:spcPct val="115000"/>
              </a:lnSpc>
              <a:spcAft>
                <a:spcPts val="400"/>
              </a:spcAft>
            </a:pPr>
            <a:r>
              <a:rPr sz="1600" b="1" i="0">
                <a:solidFill>
                  <a:srgbClr val="1B2A4A"/>
                </a:solidFill>
                <a:latin typeface="Calibri"/>
              </a:rPr>
              <a:t>Full incident review</a:t>
            </a:r>
          </a:p>
        </p:txBody>
      </p:sp>
      <p:sp>
        <p:nvSpPr>
          <p:cNvPr id="31" name="TextBox 30"/>
          <p:cNvSpPr txBox="1"/>
          <p:nvPr/>
        </p:nvSpPr>
        <p:spPr>
          <a:xfrm>
            <a:off x="6949440" y="4992624"/>
            <a:ext cx="4693615" cy="45720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Document. Learn. Change the rule.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9 · 00:54</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block-08-learned.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c8b74e5-50c9-4b92-b126-c28888f5d622}"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80</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21409A"/>
                </a:solidFill>
                <a:latin typeface="Calibri"/>
              </a:rPr>
              <a:t>WORDS THE HOSPITAL DOES NOT HAVE YET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This becomes a new language on the ward.</a:t>
            </a:r>
          </a:p>
        </p:txBody>
      </p:sp>
      <p:sp>
        <p:nvSpPr>
          <p:cNvPr id="16" name="TextBox 15"/>
          <p:cNvSpPr txBox="1"/>
          <p:nvPr/>
        </p:nvSpPr>
        <p:spPr>
          <a:xfrm>
            <a:off x="548640" y="1920240"/>
            <a:ext cx="4572000" cy="914400"/>
          </a:xfrm>
          <a:prstGeom prst="rect">
            <a:avLst/>
          </a:prstGeom>
          <a:noFill/>
        </p:spPr>
        <p:txBody>
          <a:bodyPr wrap="square" anchor="t" lIns="0" rIns="0" tIns="0" bIns="0"/>
          <a:lstStyle/>
          <a:p>
            <a:pPr algn="l">
              <a:lnSpc>
                <a:spcPct val="115000"/>
              </a:lnSpc>
              <a:spcAft>
                <a:spcPts val="400"/>
              </a:spcAft>
            </a:pPr>
            <a:r>
              <a:rPr sz="1600" b="0" i="0">
                <a:solidFill>
                  <a:srgbClr val="607D8B"/>
                </a:solidFill>
                <a:latin typeface="Calibri"/>
              </a:rPr>
              <a:t>Administration may not know these words. The work will, soon.</a:t>
            </a:r>
          </a:p>
        </p:txBody>
      </p:sp>
      <p:graphicFrame>
        <p:nvGraphicFramePr>
          <p:cNvPr id="17" name="Table 16"/>
          <p:cNvGraphicFramePr>
            <a:graphicFrameLocks noGrp="1"/>
          </p:cNvGraphicFramePr>
          <p:nvPr/>
        </p:nvGraphicFramePr>
        <p:xfrm>
          <a:off x="5486400" y="1920240"/>
          <a:ext cx="6156654" cy="2743200"/>
        </p:xfrm>
        <a:graphic>
          <a:graphicData uri="http://schemas.openxmlformats.org/drawingml/2006/table">
            <a:tbl>
              <a:tblPr bandRow="1">
                <a:tableStyleId>{5C22544A-7EE6-4342-B048-85BDC9FD1C3A}</a:tableStyleId>
              </a:tblPr>
              <a:tblGrid>
                <a:gridCol w="1810780"/>
                <a:gridCol w="4345874"/>
              </a:tblGrid>
              <a:tr h="685800">
                <a:tc>
                  <a:txBody>
                    <a:bodyPr wrap="square"/>
                    <a:lstStyle/>
                    <a:p>
                      <a:r>
                        <a:rPr sz="1400" b="1" i="0">
                          <a:solidFill>
                            <a:srgbClr val="1B2A4A"/>
                          </a:solidFill>
                          <a:latin typeface="Calibri"/>
                        </a:rPr>
                        <a:t>Old question</a:t>
                      </a:r>
                    </a:p>
                  </a:txBody>
                  <a:tcPr marL="73152" marR="73152" marT="36576" marB="36576" anchor="ctr">
                    <a:solidFill>
                      <a:srgbClr val="FFFFFF"/>
                    </a:solidFill>
                  </a:tcPr>
                </a:tc>
                <a:tc>
                  <a:txBody>
                    <a:bodyPr wrap="square"/>
                    <a:lstStyle/>
                    <a:p>
                      <a:r>
                        <a:rPr sz="1400" b="0" i="0">
                          <a:solidFill>
                            <a:srgbClr val="1B2A4A"/>
                          </a:solidFill>
                          <a:latin typeface="Calibri"/>
                        </a:rPr>
                        <a:t>Which consultant is the primary for this patient?</a:t>
                      </a:r>
                    </a:p>
                  </a:txBody>
                  <a:tcPr marL="73152" marR="73152" marT="36576" marB="36576" anchor="ctr">
                    <a:solidFill>
                      <a:srgbClr val="FFFFFF"/>
                    </a:solidFill>
                  </a:tcPr>
                </a:tc>
              </a:tr>
              <a:tr h="685800">
                <a:tc>
                  <a:txBody>
                    <a:bodyPr wrap="square"/>
                    <a:lstStyle/>
                    <a:p>
                      <a:r>
                        <a:rPr sz="1400" b="1" i="0">
                          <a:solidFill>
                            <a:srgbClr val="1B2A4A"/>
                          </a:solidFill>
                          <a:latin typeface="Calibri"/>
                        </a:rPr>
                        <a:t>New question</a:t>
                      </a:r>
                    </a:p>
                  </a:txBody>
                  <a:tcPr marL="73152" marR="73152" marT="36576" marB="36576" anchor="ctr">
                    <a:solidFill>
                      <a:srgbClr val="FFFFFF"/>
                    </a:solidFill>
                  </a:tcPr>
                </a:tc>
                <a:tc>
                  <a:txBody>
                    <a:bodyPr wrap="square"/>
                    <a:lstStyle/>
                    <a:p>
                      <a:r>
                        <a:rPr sz="1400" b="0" i="0">
                          <a:solidFill>
                            <a:srgbClr val="1B2A4A"/>
                          </a:solidFill>
                          <a:latin typeface="Calibri"/>
                        </a:rPr>
                        <a:t>Which agent owns this task — and who supervises it?</a:t>
                      </a:r>
                    </a:p>
                  </a:txBody>
                  <a:tcPr marL="73152" marR="73152" marT="36576" marB="36576" anchor="ctr">
                    <a:solidFill>
                      <a:srgbClr val="FFFFFF"/>
                    </a:solidFill>
                  </a:tcPr>
                </a:tc>
              </a:tr>
              <a:tr h="685800">
                <a:tc>
                  <a:txBody>
                    <a:bodyPr wrap="square"/>
                    <a:lstStyle/>
                    <a:p>
                      <a:r>
                        <a:rPr sz="1400" b="1" i="0">
                          <a:solidFill>
                            <a:srgbClr val="1B2A4A"/>
                          </a:solidFill>
                          <a:latin typeface="Calibri"/>
                        </a:rPr>
                        <a:t>Old meeting</a:t>
                      </a:r>
                    </a:p>
                  </a:txBody>
                  <a:tcPr marL="73152" marR="73152" marT="36576" marB="36576" anchor="ctr">
                    <a:solidFill>
                      <a:srgbClr val="E8F1FB"/>
                    </a:solidFill>
                  </a:tcPr>
                </a:tc>
                <a:tc>
                  <a:txBody>
                    <a:bodyPr wrap="square"/>
                    <a:lstStyle/>
                    <a:p>
                      <a:r>
                        <a:rPr sz="1400" b="0" i="0">
                          <a:solidFill>
                            <a:srgbClr val="1B2A4A"/>
                          </a:solidFill>
                          <a:latin typeface="Calibri"/>
                        </a:rPr>
                        <a:t>Morbidity and mortality.</a:t>
                      </a:r>
                    </a:p>
                  </a:txBody>
                  <a:tcPr marL="73152" marR="73152" marT="36576" marB="36576" anchor="ctr">
                    <a:solidFill>
                      <a:srgbClr val="E8F1FB"/>
                    </a:solidFill>
                  </a:tcPr>
                </a:tc>
              </a:tr>
              <a:tr h="685800">
                <a:tc>
                  <a:txBody>
                    <a:bodyPr wrap="square"/>
                    <a:lstStyle/>
                    <a:p>
                      <a:r>
                        <a:rPr sz="1400" b="1" i="0">
                          <a:solidFill>
                            <a:srgbClr val="1B2A4A"/>
                          </a:solidFill>
                          <a:latin typeface="Calibri"/>
                        </a:rPr>
                        <a:t>New meeting</a:t>
                      </a:r>
                    </a:p>
                  </a:txBody>
                  <a:tcPr marL="73152" marR="73152" marT="36576" marB="36576" anchor="ctr">
                    <a:solidFill>
                      <a:srgbClr val="FFFFFF"/>
                    </a:solidFill>
                  </a:tcPr>
                </a:tc>
                <a:tc>
                  <a:txBody>
                    <a:bodyPr wrap="square"/>
                    <a:lstStyle/>
                    <a:p>
                      <a:r>
                        <a:rPr sz="1400" b="0" i="0">
                          <a:solidFill>
                            <a:srgbClr val="1B2A4A"/>
                          </a:solidFill>
                          <a:latin typeface="Calibri"/>
                        </a:rPr>
                        <a:t>The same room, with the agent’s log on the table.</a:t>
                      </a:r>
                    </a:p>
                  </a:txBody>
                  <a:tcPr marL="73152" marR="73152" marT="36576" marB="36576" anchor="ctr">
                    <a:solidFill>
                      <a:srgbClr val="FFFFF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188720"/>
            <a:ext cx="9144000" cy="365760"/>
          </a:xfrm>
          <a:prstGeom prst="rect">
            <a:avLst/>
          </a:prstGeom>
          <a:noFill/>
        </p:spPr>
        <p:txBody>
          <a:bodyPr wrap="square" anchor="t" lIns="0" rIns="0" tIns="0" bIns="0"/>
          <a:lstStyle/>
          <a:p>
            <a:pPr algn="l">
              <a:lnSpc>
                <a:spcPct val="115000"/>
              </a:lnSpc>
              <a:spcAft>
                <a:spcPts val="400"/>
              </a:spcAft>
            </a:pPr>
            <a:r>
              <a:rPr sz="1400" b="1" i="0">
                <a:solidFill>
                  <a:srgbClr val="FFC20E"/>
                </a:solidFill>
                <a:latin typeface="Calibri"/>
              </a:rPr>
              <a:t>IF YOU REMEMBER ONE LINE</a:t>
            </a:r>
          </a:p>
        </p:txBody>
      </p:sp>
      <p:sp>
        <p:nvSpPr>
          <p:cNvPr id="5" name="TextBox 4"/>
          <p:cNvSpPr txBox="1"/>
          <p:nvPr/>
        </p:nvSpPr>
        <p:spPr>
          <a:xfrm>
            <a:off x="548640" y="1828800"/>
            <a:ext cx="10637215" cy="2926080"/>
          </a:xfrm>
          <a:prstGeom prst="rect">
            <a:avLst/>
          </a:prstGeom>
          <a:noFill/>
        </p:spPr>
        <p:txBody>
          <a:bodyPr wrap="square" anchor="ctr" lIns="0" rIns="0" tIns="0" bIns="0"/>
          <a:lstStyle/>
          <a:p>
            <a:pPr algn="l">
              <a:lnSpc>
                <a:spcPct val="105000"/>
              </a:lnSpc>
              <a:spcAft>
                <a:spcPts val="400"/>
              </a:spcAft>
            </a:pPr>
            <a:r>
              <a:rPr sz="4600" b="1" i="0">
                <a:solidFill>
                  <a:srgbClr val="FFFFFF"/>
                </a:solidFill>
                <a:latin typeface="Calibri"/>
              </a:rPr>
              <a:t>Treat agents as a new breed of </a:t>
            </a:r>
            <a:r>
              <a:rPr sz="4600" b="1" i="0">
                <a:solidFill>
                  <a:srgbClr val="FFC20E"/>
                </a:solidFill>
                <a:latin typeface="Calibri"/>
              </a:rPr>
              <a:t>staff</a:t>
            </a:r>
            <a:r>
              <a:rPr sz="4600" b="1" i="0">
                <a:solidFill>
                  <a:srgbClr val="FFFFFF"/>
                </a:solidFill>
                <a:latin typeface="Calibri"/>
              </a:rPr>
              <a:t>.</a:t>
            </a:r>
          </a:p>
        </p:txBody>
      </p:sp>
      <p:sp>
        <p:nvSpPr>
          <p:cNvPr id="6" name="TextBox 5"/>
          <p:cNvSpPr txBox="1"/>
          <p:nvPr/>
        </p:nvSpPr>
        <p:spPr>
          <a:xfrm>
            <a:off x="548640" y="4937760"/>
            <a:ext cx="10180015"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Watch the life cycle. Make the output visible. Keep a human in the loop.
Next — three minutes. Three pictures, then what to try on Monday.</a:t>
            </a:r>
          </a:p>
        </p:txBody>
      </p:sp>
      <p:sp>
        <p:nvSpPr>
          <p:cNvPr id="7" name="Rounded Rectangle 6"/>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block-08-learned.png"/>
          <p:cNvPicPr>
            <a:picLocks noChangeAspect="1"/>
          </p:cNvPicPr>
          <p:nvPr/>
        </p:nvPicPr>
        <p:blipFill>
          <a:blip r:embed="rId2"/>
          <a:stretch>
            <a:fillRect/>
          </a:stretch>
        </p:blipFill>
        <p:spPr>
          <a:xfrm>
            <a:off x="11277295" y="713232"/>
            <a:ext cx="713232" cy="713232"/>
          </a:xfrm>
          <a:prstGeom prst="rect">
            <a:avLst/>
          </a:prstGeom>
        </p:spPr>
      </p:pic>
      <p:sp>
        <p:nvSpPr>
          <p:cNvPr id="9" name="TextBox 8"/>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0" name="TextBox 9"/>
          <p:cNvSpPr txBox="1"/>
          <p:nvPr/>
        </p:nvSpPr>
        <p:spPr>
          <a:xfrm>
            <a:off x="11204143" y="1572768"/>
            <a:ext cx="859536" cy="219456"/>
          </a:xfrm>
          <a:prstGeom prst="rect">
            <a:avLst/>
          </a:prstGeom>
          <a:noFill/>
        </p:spPr>
        <p:txBody>
          <a:bodyPr wrap="none" anchor="ctr" lIns="0" rIns="0" tIns="0" bIns="0"/>
          <a:lstStyle/>
          <a:p>
            <a:pPr algn="ctr"/>
            <a:fld id="{fc8db123-833d-4662-8778-ef6d0e8a6073}" type="datetime9">
              <a:rPr lang="en-US" sz="1200" b="1" dirty="0" smtClean="0">
                <a:solidFill>
                  <a:srgbClr val="21409A"/>
                </a:solidFill>
                <a:latin typeface="Calibri"/>
              </a:rPr>
              <a:t>1:04 AM</a:t>
            </a:fld>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097280"/>
            <a:ext cx="822960" cy="822960"/>
          </a:xfrm>
          <a:prstGeom prst="roundRect">
            <a:avLst>
              <a:gd name="adj" fmla="val 20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822960" cy="822960"/>
          </a:xfrm>
          <a:prstGeom prst="rect">
            <a:avLst/>
          </a:prstGeom>
          <a:noFill/>
        </p:spPr>
        <p:txBody>
          <a:bodyPr wrap="square" anchor="ctr" lIns="0" rIns="0" tIns="0" bIns="0"/>
          <a:lstStyle/>
          <a:p>
            <a:pPr algn="ctr">
              <a:lnSpc>
                <a:spcPct val="115000"/>
              </a:lnSpc>
              <a:spcAft>
                <a:spcPts val="400"/>
              </a:spcAft>
            </a:pPr>
            <a:r>
              <a:rPr sz="3000" b="1" i="0">
                <a:solidFill>
                  <a:srgbClr val="FFFFFF"/>
                </a:solidFill>
                <a:latin typeface="Calibri"/>
              </a:rPr>
              <a:t>10</a:t>
            </a:r>
          </a:p>
        </p:txBody>
      </p:sp>
      <p:sp>
        <p:nvSpPr>
          <p:cNvPr id="6" name="TextBox 5"/>
          <p:cNvSpPr txBox="1"/>
          <p:nvPr/>
        </p:nvSpPr>
        <p:spPr>
          <a:xfrm>
            <a:off x="1554480" y="1143000"/>
            <a:ext cx="5486400" cy="365760"/>
          </a:xfrm>
          <a:prstGeom prst="rect">
            <a:avLst/>
          </a:prstGeom>
          <a:noFill/>
        </p:spPr>
        <p:txBody>
          <a:bodyPr wrap="square" anchor="ctr" lIns="0" rIns="0" tIns="0" bIns="0"/>
          <a:lstStyle/>
          <a:p>
            <a:pPr algn="l">
              <a:lnSpc>
                <a:spcPct val="115000"/>
              </a:lnSpc>
              <a:spcAft>
                <a:spcPts val="400"/>
              </a:spcAft>
            </a:pPr>
            <a:r>
              <a:rPr sz="1400" b="1" i="0">
                <a:solidFill>
                  <a:srgbClr val="FFC20E"/>
                </a:solidFill>
                <a:latin typeface="Calibri"/>
              </a:rPr>
              <a:t>BLOCK 10  ·  00:57</a:t>
            </a:r>
          </a:p>
        </p:txBody>
      </p:sp>
      <p:sp>
        <p:nvSpPr>
          <p:cNvPr id="7" name="TextBox 6"/>
          <p:cNvSpPr txBox="1"/>
          <p:nvPr/>
        </p:nvSpPr>
        <p:spPr>
          <a:xfrm>
            <a:off x="548640" y="2286000"/>
            <a:ext cx="8229600" cy="2011680"/>
          </a:xfrm>
          <a:prstGeom prst="rect">
            <a:avLst/>
          </a:prstGeom>
          <a:noFill/>
        </p:spPr>
        <p:txBody>
          <a:bodyPr wrap="square" anchor="t" lIns="0" rIns="0" tIns="0" bIns="0"/>
          <a:lstStyle/>
          <a:p>
            <a:pPr algn="l">
              <a:lnSpc>
                <a:spcPct val="100000"/>
              </a:lnSpc>
              <a:spcAft>
                <a:spcPts val="400"/>
              </a:spcAft>
            </a:pPr>
            <a:r>
              <a:rPr sz="5400" b="1" i="0">
                <a:solidFill>
                  <a:srgbClr val="FFFFFF"/>
                </a:solidFill>
                <a:latin typeface="Calibri"/>
              </a:rPr>
              <a:t>What to try
on Monday</a:t>
            </a:r>
          </a:p>
        </p:txBody>
      </p:sp>
      <p:sp>
        <p:nvSpPr>
          <p:cNvPr id="8" name="TextBox 7"/>
          <p:cNvSpPr txBox="1"/>
          <p:nvPr/>
        </p:nvSpPr>
        <p:spPr>
          <a:xfrm>
            <a:off x="548640" y="4480560"/>
            <a:ext cx="7772400" cy="1097280"/>
          </a:xfrm>
          <a:prstGeom prst="rect">
            <a:avLst/>
          </a:prstGeom>
          <a:noFill/>
        </p:spPr>
        <p:txBody>
          <a:bodyPr wrap="square" anchor="t" lIns="0" rIns="0" tIns="0" bIns="0"/>
          <a:lstStyle/>
          <a:p>
            <a:pPr algn="l">
              <a:lnSpc>
                <a:spcPct val="115000"/>
              </a:lnSpc>
              <a:spcAft>
                <a:spcPts val="400"/>
              </a:spcAft>
            </a:pPr>
            <a:r>
              <a:rPr sz="2000" b="0" i="0">
                <a:solidFill>
                  <a:srgbClr val="C5D3EE"/>
                </a:solidFill>
                <a:latin typeface="Calibri"/>
              </a:rPr>
              <a:t>Three pictures of where this hour was going. Then one task per role. This is your handout.</a:t>
            </a:r>
          </a:p>
        </p:txBody>
      </p:sp>
      <p:sp>
        <p:nvSpPr>
          <p:cNvPr id="9" name="Rounded Rectangle 8"/>
          <p:cNvSpPr/>
          <p:nvPr/>
        </p:nvSpPr>
        <p:spPr>
          <a:xfrm>
            <a:off x="10445191" y="4818888"/>
            <a:ext cx="1252728" cy="12527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qr-closing-tasks.png"/>
          <p:cNvPicPr>
            <a:picLocks noChangeAspect="1"/>
          </p:cNvPicPr>
          <p:nvPr/>
        </p:nvPicPr>
        <p:blipFill>
          <a:blip r:embed="rId2"/>
          <a:stretch>
            <a:fillRect/>
          </a:stretch>
        </p:blipFill>
        <p:spPr>
          <a:xfrm>
            <a:off x="10500055" y="4873752"/>
            <a:ext cx="1143000" cy="1143000"/>
          </a:xfrm>
          <a:prstGeom prst="rect">
            <a:avLst/>
          </a:prstGeom>
        </p:spPr>
      </p:pic>
      <p:sp>
        <p:nvSpPr>
          <p:cNvPr id="11" name="TextBox 10"/>
          <p:cNvSpPr txBox="1"/>
          <p:nvPr/>
        </p:nvSpPr>
        <p:spPr>
          <a:xfrm>
            <a:off x="10225735" y="6071616"/>
            <a:ext cx="1691640" cy="201168"/>
          </a:xfrm>
          <a:prstGeom prst="rect">
            <a:avLst/>
          </a:prstGeom>
          <a:noFill/>
        </p:spPr>
        <p:txBody>
          <a:bodyPr wrap="square" anchor="t" lIns="0" rIns="0" tIns="0" bIns="0"/>
          <a:lstStyle/>
          <a:p>
            <a:pPr algn="ctr">
              <a:lnSpc>
                <a:spcPct val="100000"/>
              </a:lnSpc>
              <a:spcAft>
                <a:spcPts val="0"/>
              </a:spcAft>
            </a:pPr>
            <a:r>
              <a:rPr sz="1000" b="1" i="0">
                <a:solidFill>
                  <a:srgbClr val="FFFFFF"/>
                </a:solidFill>
                <a:latin typeface="Calibri"/>
              </a:rPr>
              <a:t>This lesson — scan to open</a:t>
            </a:r>
          </a:p>
        </p:txBody>
      </p:sp>
      <p:sp>
        <p:nvSpPr>
          <p:cNvPr id="12" name="TextBox 11"/>
          <p:cNvSpPr txBox="1"/>
          <p:nvPr/>
        </p:nvSpPr>
        <p:spPr>
          <a:xfrm>
            <a:off x="10225735" y="6254496"/>
            <a:ext cx="1691640" cy="219456"/>
          </a:xfrm>
          <a:prstGeom prst="rect">
            <a:avLst/>
          </a:prstGeom>
          <a:noFill/>
        </p:spPr>
        <p:txBody>
          <a:bodyPr wrap="none" anchor="ctr" lIns="0" rIns="0" tIns="0" bIns="0"/>
          <a:lstStyle/>
          <a:p>
            <a:pPr algn="ctr"/>
            <a:fld id="{64b646e1-0f14-4740-b8fb-a39741b8627f}" type="datetime9">
              <a:rPr lang="en-US" sz="1400" b="1" dirty="0" smtClean="0">
                <a:solidFill>
                  <a:srgbClr val="FFFFFF"/>
                </a:solidFill>
                <a:latin typeface="Calibri"/>
              </a:rPr>
              <a:t>1:04 AM</a:t>
            </a:fld>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10 · 00:57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closing-task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57e0685b-fb18-4e00-b95a-58113c14a02d}"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83</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695C"/>
                </a:solidFill>
                <a:latin typeface="Calibri"/>
              </a:rPr>
              <a:t>WHERE THIS HOUR IS GOING · CONCEPT DESIGN, NOT A PRODUCT</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An intelligent crash cart</a:t>
            </a:r>
          </a:p>
        </p:txBody>
      </p:sp>
      <p:pic>
        <p:nvPicPr>
          <p:cNvPr id="16" name="Picture 15" descr="intelligent-crash-cart.jpg"/>
          <p:cNvPicPr>
            <a:picLocks noChangeAspect="1"/>
          </p:cNvPicPr>
          <p:nvPr/>
        </p:nvPicPr>
        <p:blipFill>
          <a:blip r:embed="rId4"/>
          <a:stretch>
            <a:fillRect/>
          </a:stretch>
        </p:blipFill>
        <p:spPr>
          <a:xfrm>
            <a:off x="820010" y="1847088"/>
            <a:ext cx="6040939" cy="4023360"/>
          </a:xfrm>
          <a:prstGeom prst="rect">
            <a:avLst/>
          </a:prstGeom>
          <a:ln w="9525">
            <a:solidFill>
              <a:srgbClr val="E0E0E0"/>
            </a:solidFill>
          </a:ln>
        </p:spPr>
      </p:pic>
      <p:sp>
        <p:nvSpPr>
          <p:cNvPr id="17" name="TextBox 16"/>
          <p:cNvSpPr txBox="1"/>
          <p:nvPr/>
        </p:nvSpPr>
        <p:spPr>
          <a:xfrm>
            <a:off x="7406640" y="1847088"/>
            <a:ext cx="4236415" cy="8229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Every tool in this hour has a place on a cart. This is a concept drawing, not a product you can order. The six jobs are already in your notes.</a:t>
            </a:r>
          </a:p>
        </p:txBody>
      </p:sp>
      <p:sp>
        <p:nvSpPr>
          <p:cNvPr id="18" name="Rounded Rectangle 17"/>
          <p:cNvSpPr/>
          <p:nvPr/>
        </p:nvSpPr>
        <p:spPr>
          <a:xfrm>
            <a:off x="7406640" y="274320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1</a:t>
            </a:r>
          </a:p>
        </p:txBody>
      </p:sp>
      <p:sp>
        <p:nvSpPr>
          <p:cNvPr id="19" name="TextBox 18"/>
          <p:cNvSpPr txBox="1"/>
          <p:nvPr/>
        </p:nvSpPr>
        <p:spPr>
          <a:xfrm>
            <a:off x="7790688" y="269748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Talk &amp; listen</a:t>
            </a:r>
          </a:p>
        </p:txBody>
      </p:sp>
      <p:sp>
        <p:nvSpPr>
          <p:cNvPr id="20" name="TextBox 19"/>
          <p:cNvSpPr txBox="1"/>
          <p:nvPr/>
        </p:nvSpPr>
        <p:spPr>
          <a:xfrm>
            <a:off x="7790688" y="293522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Hands-free voice. The team keeps their hands on the child.</a:t>
            </a:r>
          </a:p>
        </p:txBody>
      </p:sp>
      <p:sp>
        <p:nvSpPr>
          <p:cNvPr id="21" name="Rounded Rectangle 20"/>
          <p:cNvSpPr/>
          <p:nvPr/>
        </p:nvSpPr>
        <p:spPr>
          <a:xfrm>
            <a:off x="7406640" y="326898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2</a:t>
            </a:r>
          </a:p>
        </p:txBody>
      </p:sp>
      <p:sp>
        <p:nvSpPr>
          <p:cNvPr id="22" name="TextBox 21"/>
          <p:cNvSpPr txBox="1"/>
          <p:nvPr/>
        </p:nvSpPr>
        <p:spPr>
          <a:xfrm>
            <a:off x="7790688" y="322326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Calculate doses</a:t>
            </a:r>
          </a:p>
        </p:txBody>
      </p:sp>
      <p:sp>
        <p:nvSpPr>
          <p:cNvPr id="23" name="TextBox 22"/>
          <p:cNvSpPr txBox="1"/>
          <p:nvPr/>
        </p:nvSpPr>
        <p:spPr>
          <a:xfrm>
            <a:off x="7790688" y="346100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Weight in. Dose out. The math is not the job during a code.</a:t>
            </a:r>
          </a:p>
        </p:txBody>
      </p:sp>
      <p:sp>
        <p:nvSpPr>
          <p:cNvPr id="24" name="Rounded Rectangle 23"/>
          <p:cNvSpPr/>
          <p:nvPr/>
        </p:nvSpPr>
        <p:spPr>
          <a:xfrm>
            <a:off x="7406640" y="379476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3</a:t>
            </a:r>
          </a:p>
        </p:txBody>
      </p:sp>
      <p:sp>
        <p:nvSpPr>
          <p:cNvPr id="25" name="TextBox 24"/>
          <p:cNvSpPr txBox="1"/>
          <p:nvPr/>
        </p:nvSpPr>
        <p:spPr>
          <a:xfrm>
            <a:off x="7790688" y="374904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Guide actions</a:t>
            </a:r>
          </a:p>
        </p:txBody>
      </p:sp>
      <p:sp>
        <p:nvSpPr>
          <p:cNvPr id="26" name="TextBox 25"/>
          <p:cNvSpPr txBox="1"/>
          <p:nvPr/>
        </p:nvSpPr>
        <p:spPr>
          <a:xfrm>
            <a:off x="7790688" y="398678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Step-by-step, the way the protocol is written.</a:t>
            </a:r>
          </a:p>
        </p:txBody>
      </p:sp>
      <p:sp>
        <p:nvSpPr>
          <p:cNvPr id="27" name="Rounded Rectangle 26"/>
          <p:cNvSpPr/>
          <p:nvPr/>
        </p:nvSpPr>
        <p:spPr>
          <a:xfrm>
            <a:off x="7406640" y="432054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4</a:t>
            </a:r>
          </a:p>
        </p:txBody>
      </p:sp>
      <p:sp>
        <p:nvSpPr>
          <p:cNvPr id="28" name="TextBox 27"/>
          <p:cNvSpPr txBox="1"/>
          <p:nvPr/>
        </p:nvSpPr>
        <p:spPr>
          <a:xfrm>
            <a:off x="7790688" y="427482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Assist assessment</a:t>
            </a:r>
          </a:p>
        </p:txBody>
      </p:sp>
      <p:sp>
        <p:nvSpPr>
          <p:cNvPr id="29" name="TextBox 28"/>
          <p:cNvSpPr txBox="1"/>
          <p:nvPr/>
        </p:nvSpPr>
        <p:spPr>
          <a:xfrm>
            <a:off x="7790688" y="451256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A structured look at the child, not a free-form chat.</a:t>
            </a:r>
          </a:p>
        </p:txBody>
      </p:sp>
      <p:sp>
        <p:nvSpPr>
          <p:cNvPr id="30" name="Rounded Rectangle 29"/>
          <p:cNvSpPr/>
          <p:nvPr/>
        </p:nvSpPr>
        <p:spPr>
          <a:xfrm>
            <a:off x="7406640" y="484632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5</a:t>
            </a:r>
          </a:p>
        </p:txBody>
      </p:sp>
      <p:sp>
        <p:nvSpPr>
          <p:cNvPr id="31" name="TextBox 30"/>
          <p:cNvSpPr txBox="1"/>
          <p:nvPr/>
        </p:nvSpPr>
        <p:spPr>
          <a:xfrm>
            <a:off x="7790688" y="480060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Evaluate the team</a:t>
            </a:r>
          </a:p>
        </p:txBody>
      </p:sp>
      <p:sp>
        <p:nvSpPr>
          <p:cNvPr id="32" name="TextBox 31"/>
          <p:cNvSpPr txBox="1"/>
          <p:nvPr/>
        </p:nvSpPr>
        <p:spPr>
          <a:xfrm>
            <a:off x="7790688" y="503834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Camera-assisted timing and feedback after the event.</a:t>
            </a:r>
          </a:p>
        </p:txBody>
      </p:sp>
      <p:sp>
        <p:nvSpPr>
          <p:cNvPr id="33" name="Rounded Rectangle 32"/>
          <p:cNvSpPr/>
          <p:nvPr/>
        </p:nvSpPr>
        <p:spPr>
          <a:xfrm>
            <a:off x="7406640" y="537210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6</a:t>
            </a:r>
          </a:p>
        </p:txBody>
      </p:sp>
      <p:sp>
        <p:nvSpPr>
          <p:cNvPr id="34" name="TextBox 33"/>
          <p:cNvSpPr txBox="1"/>
          <p:nvPr/>
        </p:nvSpPr>
        <p:spPr>
          <a:xfrm>
            <a:off x="7790688" y="532638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Run mock training</a:t>
            </a:r>
          </a:p>
        </p:txBody>
      </p:sp>
      <p:sp>
        <p:nvSpPr>
          <p:cNvPr id="35" name="TextBox 34"/>
          <p:cNvSpPr txBox="1"/>
          <p:nvPr/>
        </p:nvSpPr>
        <p:spPr>
          <a:xfrm>
            <a:off x="7790688" y="556412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Scenarios, scoring, and debrief when the corridor is quiet.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10 · 00:57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closing-task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aafab1ad-3b16-41aa-971c-d8a7326d2ba6}"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84</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695C"/>
                </a:solidFill>
                <a:latin typeface="Calibri"/>
              </a:rPr>
              <a:t>AND AT THE CLINIC DESK · CONCEPT DESIGN</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Intelligent patient instructions</a:t>
            </a:r>
          </a:p>
        </p:txBody>
      </p:sp>
      <p:pic>
        <p:nvPicPr>
          <p:cNvPr id="16" name="Picture 15" descr="patient-instructions.jpg"/>
          <p:cNvPicPr>
            <a:picLocks noChangeAspect="1"/>
          </p:cNvPicPr>
          <p:nvPr/>
        </p:nvPicPr>
        <p:blipFill>
          <a:blip r:embed="rId4"/>
          <a:stretch>
            <a:fillRect/>
          </a:stretch>
        </p:blipFill>
        <p:spPr>
          <a:xfrm>
            <a:off x="820010" y="1847088"/>
            <a:ext cx="6040939" cy="4023360"/>
          </a:xfrm>
          <a:prstGeom prst="rect">
            <a:avLst/>
          </a:prstGeom>
          <a:ln w="9525">
            <a:solidFill>
              <a:srgbClr val="E0E0E0"/>
            </a:solidFill>
          </a:ln>
        </p:spPr>
      </p:pic>
      <p:sp>
        <p:nvSpPr>
          <p:cNvPr id="17" name="TextBox 16"/>
          <p:cNvSpPr txBox="1"/>
          <p:nvPr/>
        </p:nvSpPr>
        <p:spPr>
          <a:xfrm>
            <a:off x="7406640" y="1847088"/>
            <a:ext cx="4236415" cy="8229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A protocol is written for the team. A family needs a guide they can take home. You already practiced this when you turned a guideline into something a parent can read.</a:t>
            </a:r>
          </a:p>
        </p:txBody>
      </p:sp>
      <p:sp>
        <p:nvSpPr>
          <p:cNvPr id="18" name="Rounded Rectangle 17"/>
          <p:cNvSpPr/>
          <p:nvPr/>
        </p:nvSpPr>
        <p:spPr>
          <a:xfrm>
            <a:off x="7406640" y="274320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1</a:t>
            </a:r>
          </a:p>
        </p:txBody>
      </p:sp>
      <p:sp>
        <p:nvSpPr>
          <p:cNvPr id="19" name="TextBox 18"/>
          <p:cNvSpPr txBox="1"/>
          <p:nvPr/>
        </p:nvSpPr>
        <p:spPr>
          <a:xfrm>
            <a:off x="7790688" y="269748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Import protocol</a:t>
            </a:r>
          </a:p>
        </p:txBody>
      </p:sp>
      <p:sp>
        <p:nvSpPr>
          <p:cNvPr id="20" name="TextBox 19"/>
          <p:cNvSpPr txBox="1"/>
          <p:nvPr/>
        </p:nvSpPr>
        <p:spPr>
          <a:xfrm>
            <a:off x="7790688" y="2935224"/>
            <a:ext cx="3852367" cy="55092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Load the treatment plan. Do not type it from memory.</a:t>
            </a:r>
          </a:p>
        </p:txBody>
      </p:sp>
      <p:sp>
        <p:nvSpPr>
          <p:cNvPr id="21" name="Rounded Rectangle 20"/>
          <p:cNvSpPr/>
          <p:nvPr/>
        </p:nvSpPr>
        <p:spPr>
          <a:xfrm>
            <a:off x="7406640" y="353187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2</a:t>
            </a:r>
          </a:p>
        </p:txBody>
      </p:sp>
      <p:sp>
        <p:nvSpPr>
          <p:cNvPr id="22" name="TextBox 21"/>
          <p:cNvSpPr txBox="1"/>
          <p:nvPr/>
        </p:nvSpPr>
        <p:spPr>
          <a:xfrm>
            <a:off x="7790688" y="348615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Review &amp; approve</a:t>
            </a:r>
          </a:p>
        </p:txBody>
      </p:sp>
      <p:sp>
        <p:nvSpPr>
          <p:cNvPr id="23" name="TextBox 22"/>
          <p:cNvSpPr txBox="1"/>
          <p:nvPr/>
        </p:nvSpPr>
        <p:spPr>
          <a:xfrm>
            <a:off x="7790688" y="3723894"/>
            <a:ext cx="3852367" cy="55092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A person on the care team signs off before it leaves the clinic.</a:t>
            </a:r>
          </a:p>
        </p:txBody>
      </p:sp>
      <p:sp>
        <p:nvSpPr>
          <p:cNvPr id="24" name="Rounded Rectangle 23"/>
          <p:cNvSpPr/>
          <p:nvPr/>
        </p:nvSpPr>
        <p:spPr>
          <a:xfrm>
            <a:off x="7406640" y="432054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3</a:t>
            </a:r>
          </a:p>
        </p:txBody>
      </p:sp>
      <p:sp>
        <p:nvSpPr>
          <p:cNvPr id="25" name="TextBox 24"/>
          <p:cNvSpPr txBox="1"/>
          <p:nvPr/>
        </p:nvSpPr>
        <p:spPr>
          <a:xfrm>
            <a:off x="7790688" y="427482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Personalize</a:t>
            </a:r>
          </a:p>
        </p:txBody>
      </p:sp>
      <p:sp>
        <p:nvSpPr>
          <p:cNvPr id="26" name="TextBox 25"/>
          <p:cNvSpPr txBox="1"/>
          <p:nvPr/>
        </p:nvSpPr>
        <p:spPr>
          <a:xfrm>
            <a:off x="7790688" y="4512564"/>
            <a:ext cx="3852367" cy="55092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Clear language for this patient, not a photocopy of the protocol.</a:t>
            </a:r>
          </a:p>
        </p:txBody>
      </p:sp>
      <p:sp>
        <p:nvSpPr>
          <p:cNvPr id="27" name="Rounded Rectangle 26"/>
          <p:cNvSpPr/>
          <p:nvPr/>
        </p:nvSpPr>
        <p:spPr>
          <a:xfrm>
            <a:off x="7406640" y="510921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4</a:t>
            </a:r>
          </a:p>
        </p:txBody>
      </p:sp>
      <p:sp>
        <p:nvSpPr>
          <p:cNvPr id="28" name="TextBox 27"/>
          <p:cNvSpPr txBox="1"/>
          <p:nvPr/>
        </p:nvSpPr>
        <p:spPr>
          <a:xfrm>
            <a:off x="7790688" y="506349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Print &amp; share</a:t>
            </a:r>
          </a:p>
        </p:txBody>
      </p:sp>
      <p:sp>
        <p:nvSpPr>
          <p:cNvPr id="29" name="TextBox 28"/>
          <p:cNvSpPr txBox="1"/>
          <p:nvPr/>
        </p:nvSpPr>
        <p:spPr>
          <a:xfrm>
            <a:off x="7790688" y="5301234"/>
            <a:ext cx="3852367" cy="55092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A take-home guide. Paper still works.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10 · 00:57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closing-task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257670b7-db66-47a1-ba96-fcffc8e186d7}"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85</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695C"/>
                </a:solidFill>
                <a:latin typeface="Calibri"/>
              </a:rPr>
              <a:t>SIX MORE PLACES THE WORK ALREADY LIVES · CONCEPT DESIGNS, CLINICAL OVERSIGHT BUILT IN</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2600" b="1" i="0">
                <a:solidFill>
                  <a:srgbClr val="21409A"/>
                </a:solidFill>
                <a:latin typeface="Calibri"/>
              </a:rPr>
              <a:t>AI at the point of care</a:t>
            </a:r>
          </a:p>
        </p:txBody>
      </p:sp>
      <p:pic>
        <p:nvPicPr>
          <p:cNvPr id="16" name="Picture 15" descr="point-of-care.jpg"/>
          <p:cNvPicPr>
            <a:picLocks noChangeAspect="1"/>
          </p:cNvPicPr>
          <p:nvPr/>
        </p:nvPicPr>
        <p:blipFill>
          <a:blip r:embed="rId4"/>
          <a:stretch>
            <a:fillRect/>
          </a:stretch>
        </p:blipFill>
        <p:spPr>
          <a:xfrm>
            <a:off x="820010" y="1847088"/>
            <a:ext cx="6040939" cy="4023360"/>
          </a:xfrm>
          <a:prstGeom prst="rect">
            <a:avLst/>
          </a:prstGeom>
          <a:ln w="9525">
            <a:solidFill>
              <a:srgbClr val="E0E0E0"/>
            </a:solidFill>
          </a:ln>
        </p:spPr>
      </p:pic>
      <p:sp>
        <p:nvSpPr>
          <p:cNvPr id="17" name="TextBox 16"/>
          <p:cNvSpPr txBox="1"/>
          <p:nvPr/>
        </p:nvSpPr>
        <p:spPr>
          <a:xfrm>
            <a:off x="7406640" y="1847088"/>
            <a:ext cx="4236415" cy="822960"/>
          </a:xfrm>
          <a:prstGeom prst="rect">
            <a:avLst/>
          </a:prstGeom>
          <a:noFill/>
        </p:spPr>
        <p:txBody>
          <a:bodyPr wrap="square" anchor="t" lIns="0" rIns="0" tIns="0" bIns="0"/>
          <a:lstStyle/>
          <a:p>
            <a:pPr algn="l">
              <a:lnSpc>
                <a:spcPct val="115000"/>
              </a:lnSpc>
              <a:spcAft>
                <a:spcPts val="400"/>
              </a:spcAft>
            </a:pPr>
            <a:r>
              <a:rPr sz="1200" b="0" i="0">
                <a:solidFill>
                  <a:srgbClr val="607D8B"/>
                </a:solidFill>
                <a:latin typeface="Calibri"/>
              </a:rPr>
              <a:t>Not one cart. Not one desk. Discharge. The handover. The infusion. Practice. The waiting-room kiosk. The phone at home. A person still signs off.</a:t>
            </a:r>
          </a:p>
        </p:txBody>
      </p:sp>
      <p:sp>
        <p:nvSpPr>
          <p:cNvPr id="18" name="Rounded Rectangle 17"/>
          <p:cNvSpPr/>
          <p:nvPr/>
        </p:nvSpPr>
        <p:spPr>
          <a:xfrm>
            <a:off x="7406640" y="274320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1</a:t>
            </a:r>
          </a:p>
        </p:txBody>
      </p:sp>
      <p:sp>
        <p:nvSpPr>
          <p:cNvPr id="19" name="TextBox 18"/>
          <p:cNvSpPr txBox="1"/>
          <p:nvPr/>
        </p:nvSpPr>
        <p:spPr>
          <a:xfrm>
            <a:off x="7790688" y="269748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Smart discharge station</a:t>
            </a:r>
          </a:p>
        </p:txBody>
      </p:sp>
      <p:sp>
        <p:nvSpPr>
          <p:cNvPr id="20" name="TextBox 19"/>
          <p:cNvSpPr txBox="1"/>
          <p:nvPr/>
        </p:nvSpPr>
        <p:spPr>
          <a:xfrm>
            <a:off x="7790688" y="293522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Turns the care plan into a take-home guide.</a:t>
            </a:r>
          </a:p>
        </p:txBody>
      </p:sp>
      <p:sp>
        <p:nvSpPr>
          <p:cNvPr id="21" name="Rounded Rectangle 20"/>
          <p:cNvSpPr/>
          <p:nvPr/>
        </p:nvSpPr>
        <p:spPr>
          <a:xfrm>
            <a:off x="7406640" y="326898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2</a:t>
            </a:r>
          </a:p>
        </p:txBody>
      </p:sp>
      <p:sp>
        <p:nvSpPr>
          <p:cNvPr id="22" name="TextBox 21"/>
          <p:cNvSpPr txBox="1"/>
          <p:nvPr/>
        </p:nvSpPr>
        <p:spPr>
          <a:xfrm>
            <a:off x="7790688" y="322326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Bedside nursing assistant</a:t>
            </a:r>
          </a:p>
        </p:txBody>
      </p:sp>
      <p:sp>
        <p:nvSpPr>
          <p:cNvPr id="23" name="TextBox 22"/>
          <p:cNvSpPr txBox="1"/>
          <p:nvPr/>
        </p:nvSpPr>
        <p:spPr>
          <a:xfrm>
            <a:off x="7790688" y="346100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Captures observations and drafts the handover.</a:t>
            </a:r>
          </a:p>
        </p:txBody>
      </p:sp>
      <p:sp>
        <p:nvSpPr>
          <p:cNvPr id="24" name="Rounded Rectangle 23"/>
          <p:cNvSpPr/>
          <p:nvPr/>
        </p:nvSpPr>
        <p:spPr>
          <a:xfrm>
            <a:off x="7406640" y="379476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3</a:t>
            </a:r>
          </a:p>
        </p:txBody>
      </p:sp>
      <p:sp>
        <p:nvSpPr>
          <p:cNvPr id="25" name="TextBox 24"/>
          <p:cNvSpPr txBox="1"/>
          <p:nvPr/>
        </p:nvSpPr>
        <p:spPr>
          <a:xfrm>
            <a:off x="7790688" y="374904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Infusion safety assistant</a:t>
            </a:r>
          </a:p>
        </p:txBody>
      </p:sp>
      <p:sp>
        <p:nvSpPr>
          <p:cNvPr id="26" name="TextBox 25"/>
          <p:cNvSpPr txBox="1"/>
          <p:nvPr/>
        </p:nvSpPr>
        <p:spPr>
          <a:xfrm>
            <a:off x="7790688" y="398678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Flags mismatches for a nurse to verify.</a:t>
            </a:r>
          </a:p>
        </p:txBody>
      </p:sp>
      <p:sp>
        <p:nvSpPr>
          <p:cNvPr id="27" name="Rounded Rectangle 26"/>
          <p:cNvSpPr/>
          <p:nvPr/>
        </p:nvSpPr>
        <p:spPr>
          <a:xfrm>
            <a:off x="7406640" y="432054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4</a:t>
            </a:r>
          </a:p>
        </p:txBody>
      </p:sp>
      <p:sp>
        <p:nvSpPr>
          <p:cNvPr id="28" name="TextBox 27"/>
          <p:cNvSpPr txBox="1"/>
          <p:nvPr/>
        </p:nvSpPr>
        <p:spPr>
          <a:xfrm>
            <a:off x="7790688" y="427482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Procedure training coach</a:t>
            </a:r>
          </a:p>
        </p:txBody>
      </p:sp>
      <p:sp>
        <p:nvSpPr>
          <p:cNvPr id="29" name="TextBox 28"/>
          <p:cNvSpPr txBox="1"/>
          <p:nvPr/>
        </p:nvSpPr>
        <p:spPr>
          <a:xfrm>
            <a:off x="7790688" y="451256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Guides practice and supports the debrief.</a:t>
            </a:r>
          </a:p>
        </p:txBody>
      </p:sp>
      <p:sp>
        <p:nvSpPr>
          <p:cNvPr id="30" name="Rounded Rectangle 29"/>
          <p:cNvSpPr/>
          <p:nvPr/>
        </p:nvSpPr>
        <p:spPr>
          <a:xfrm>
            <a:off x="7406640" y="484632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5</a:t>
            </a:r>
          </a:p>
        </p:txBody>
      </p:sp>
      <p:sp>
        <p:nvSpPr>
          <p:cNvPr id="31" name="TextBox 30"/>
          <p:cNvSpPr txBox="1"/>
          <p:nvPr/>
        </p:nvSpPr>
        <p:spPr>
          <a:xfrm>
            <a:off x="7790688" y="480060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Patient education kiosk</a:t>
            </a:r>
          </a:p>
        </p:txBody>
      </p:sp>
      <p:sp>
        <p:nvSpPr>
          <p:cNvPr id="32" name="TextBox 31"/>
          <p:cNvSpPr txBox="1"/>
          <p:nvPr/>
        </p:nvSpPr>
        <p:spPr>
          <a:xfrm>
            <a:off x="7790688" y="503834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Explains care and checks understanding.</a:t>
            </a:r>
          </a:p>
        </p:txBody>
      </p:sp>
      <p:sp>
        <p:nvSpPr>
          <p:cNvPr id="33" name="Rounded Rectangle 32"/>
          <p:cNvSpPr/>
          <p:nvPr/>
        </p:nvSpPr>
        <p:spPr>
          <a:xfrm>
            <a:off x="7406640" y="5372100"/>
            <a:ext cx="274320" cy="274320"/>
          </a:xfrm>
          <a:prstGeom prst="roundRect">
            <a:avLst>
              <a:gd name="adj" fmla="val 25000"/>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Aft>
                <a:spcPts val="400"/>
              </a:spcAft>
            </a:pPr>
            <a:r>
              <a:rPr sz="1000" b="1" i="0">
                <a:solidFill>
                  <a:srgbClr val="FFFFFF"/>
                </a:solidFill>
                <a:latin typeface="Calibri"/>
              </a:rPr>
              <a:t>6</a:t>
            </a:r>
          </a:p>
        </p:txBody>
      </p:sp>
      <p:sp>
        <p:nvSpPr>
          <p:cNvPr id="34" name="TextBox 33"/>
          <p:cNvSpPr txBox="1"/>
          <p:nvPr/>
        </p:nvSpPr>
        <p:spPr>
          <a:xfrm>
            <a:off x="7790688" y="5326380"/>
            <a:ext cx="3852367" cy="256032"/>
          </a:xfrm>
          <a:prstGeom prst="rect">
            <a:avLst/>
          </a:prstGeom>
          <a:noFill/>
        </p:spPr>
        <p:txBody>
          <a:bodyPr wrap="square" anchor="t" lIns="0" rIns="0" tIns="0" bIns="0"/>
          <a:lstStyle/>
          <a:p>
            <a:pPr algn="l">
              <a:lnSpc>
                <a:spcPct val="100000"/>
              </a:lnSpc>
              <a:spcAft>
                <a:spcPts val="0"/>
              </a:spcAft>
            </a:pPr>
            <a:r>
              <a:rPr sz="1200" b="1" i="0">
                <a:solidFill>
                  <a:srgbClr val="1B2A4A"/>
                </a:solidFill>
                <a:latin typeface="Calibri"/>
              </a:rPr>
              <a:t>Home symptom companion</a:t>
            </a:r>
          </a:p>
        </p:txBody>
      </p:sp>
      <p:sp>
        <p:nvSpPr>
          <p:cNvPr id="35" name="TextBox 34"/>
          <p:cNvSpPr txBox="1"/>
          <p:nvPr/>
        </p:nvSpPr>
        <p:spPr>
          <a:xfrm>
            <a:off x="7790688" y="5564124"/>
            <a:ext cx="3852367" cy="288036"/>
          </a:xfrm>
          <a:prstGeom prst="rect">
            <a:avLst/>
          </a:prstGeom>
          <a:noFill/>
        </p:spPr>
        <p:txBody>
          <a:bodyPr wrap="square" anchor="t" lIns="0" rIns="0" tIns="0" bIns="0"/>
          <a:lstStyle/>
          <a:p>
            <a:pPr algn="l">
              <a:lnSpc>
                <a:spcPct val="105000"/>
              </a:lnSpc>
              <a:spcAft>
                <a:spcPts val="0"/>
              </a:spcAft>
            </a:pPr>
            <a:r>
              <a:rPr sz="1000" b="0" i="0">
                <a:solidFill>
                  <a:srgbClr val="607D8B"/>
                </a:solidFill>
                <a:latin typeface="Calibri"/>
              </a:rPr>
              <a:t>Collects symptoms and alerts the care team.</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BLOCK 10 · 00:57</a:t>
            </a:r>
          </a:p>
        </p:txBody>
      </p:sp>
      <p:sp>
        <p:nvSpPr>
          <p:cNvPr id="8" name="Rounded Rectangle 7"/>
          <p:cNvSpPr/>
          <p:nvPr/>
        </p:nvSpPr>
        <p:spPr>
          <a:xfrm>
            <a:off x="11222431" y="658368"/>
            <a:ext cx="822960" cy="117043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closing-tasks.png"/>
          <p:cNvPicPr>
            <a:picLocks noChangeAspect="1"/>
          </p:cNvPicPr>
          <p:nvPr/>
        </p:nvPicPr>
        <p:blipFill>
          <a:blip r:embed="rId3"/>
          <a:stretch>
            <a:fillRect/>
          </a:stretch>
        </p:blipFill>
        <p:spPr>
          <a:xfrm>
            <a:off x="11277295" y="713232"/>
            <a:ext cx="713232" cy="713232"/>
          </a:xfrm>
          <a:prstGeom prst="rect">
            <a:avLst/>
          </a:prstGeom>
        </p:spPr>
      </p:pic>
      <p:sp>
        <p:nvSpPr>
          <p:cNvPr id="10" name="TextBox 9"/>
          <p:cNvSpPr txBox="1"/>
          <p:nvPr/>
        </p:nvSpPr>
        <p:spPr>
          <a:xfrm>
            <a:off x="11204143" y="1435608"/>
            <a:ext cx="859536" cy="146304"/>
          </a:xfrm>
          <a:prstGeom prst="rect">
            <a:avLst/>
          </a:prstGeom>
          <a:noFill/>
        </p:spPr>
        <p:txBody>
          <a:bodyPr wrap="square" anchor="t" lIns="0" rIns="0" tIns="0" bIns="0"/>
          <a:lstStyle/>
          <a:p>
            <a:pPr algn="ctr">
              <a:lnSpc>
                <a:spcPct val="100000"/>
              </a:lnSpc>
              <a:spcAft>
                <a:spcPts val="0"/>
              </a:spcAft>
            </a:pPr>
            <a:r>
              <a:rPr sz="800" b="1" i="0">
                <a:solidFill>
                  <a:srgbClr val="21409A"/>
                </a:solidFill>
                <a:latin typeface="Calibri"/>
              </a:rPr>
              <a:t>This lesson</a:t>
            </a:r>
          </a:p>
        </p:txBody>
      </p:sp>
      <p:sp>
        <p:nvSpPr>
          <p:cNvPr id="11" name="TextBox 10"/>
          <p:cNvSpPr txBox="1"/>
          <p:nvPr/>
        </p:nvSpPr>
        <p:spPr>
          <a:xfrm>
            <a:off x="11204143" y="1572768"/>
            <a:ext cx="859536" cy="219456"/>
          </a:xfrm>
          <a:prstGeom prst="rect">
            <a:avLst/>
          </a:prstGeom>
          <a:noFill/>
        </p:spPr>
        <p:txBody>
          <a:bodyPr wrap="none" anchor="ctr" lIns="0" rIns="0" tIns="0" bIns="0"/>
          <a:lstStyle/>
          <a:p>
            <a:pPr algn="ctr"/>
            <a:fld id="{d395f42a-89f5-433e-8555-8b614ffe8e65}" type="datetime9">
              <a:rPr lang="en-US" sz="1200" b="1" dirty="0" smtClean="0">
                <a:solidFill>
                  <a:srgbClr val="21409A"/>
                </a:solidFill>
                <a:latin typeface="Calibri"/>
              </a:rPr>
              <a:t>1:04 AM</a:t>
            </a:fld>
          </a:p>
        </p:txBody>
      </p:sp>
      <p:sp>
        <p:nvSpPr>
          <p:cNvPr id="12" name="TextBox 11"/>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3" name="TextBox 12"/>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86</a:t>
            </a:r>
          </a:p>
        </p:txBody>
      </p:sp>
      <p:sp>
        <p:nvSpPr>
          <p:cNvPr id="14" name="TextBox 13"/>
          <p:cNvSpPr txBox="1"/>
          <p:nvPr/>
        </p:nvSpPr>
        <p:spPr>
          <a:xfrm>
            <a:off x="548640" y="941832"/>
            <a:ext cx="10042855" cy="256032"/>
          </a:xfrm>
          <a:prstGeom prst="rect">
            <a:avLst/>
          </a:prstGeom>
          <a:noFill/>
        </p:spPr>
        <p:txBody>
          <a:bodyPr wrap="square" anchor="t" lIns="0" rIns="0" tIns="0" bIns="0"/>
          <a:lstStyle/>
          <a:p>
            <a:pPr algn="l">
              <a:lnSpc>
                <a:spcPct val="100000"/>
              </a:lnSpc>
              <a:spcAft>
                <a:spcPts val="0"/>
              </a:spcAft>
            </a:pPr>
            <a:r>
              <a:rPr sz="1100" b="1" i="0">
                <a:solidFill>
                  <a:srgbClr val="00695C"/>
                </a:solidFill>
                <a:latin typeface="Calibri"/>
              </a:rPr>
              <a:t>THE PICTURES ARE THE DESTINATION. MONDAY IS THE FIRST STEP.</a:t>
            </a:r>
          </a:p>
        </p:txBody>
      </p:sp>
      <p:sp>
        <p:nvSpPr>
          <p:cNvPr id="15" name="TextBox 14"/>
          <p:cNvSpPr txBox="1"/>
          <p:nvPr/>
        </p:nvSpPr>
        <p:spPr>
          <a:xfrm>
            <a:off x="548640" y="1234440"/>
            <a:ext cx="1004285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Until then — pick the card that matches your job</a:t>
            </a:r>
          </a:p>
        </p:txBody>
      </p:sp>
      <p:sp>
        <p:nvSpPr>
          <p:cNvPr id="16" name="Rounded Rectangle 15"/>
          <p:cNvSpPr/>
          <p:nvPr/>
        </p:nvSpPr>
        <p:spPr>
          <a:xfrm>
            <a:off x="548640" y="2011680"/>
            <a:ext cx="260215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4944" y="2139696"/>
            <a:ext cx="2309545" cy="228600"/>
          </a:xfrm>
          <a:prstGeom prst="rect">
            <a:avLst/>
          </a:prstGeom>
          <a:noFill/>
        </p:spPr>
        <p:txBody>
          <a:bodyPr wrap="square" anchor="t" lIns="0" rIns="0" tIns="0" bIns="0"/>
          <a:lstStyle/>
          <a:p>
            <a:pPr algn="l">
              <a:lnSpc>
                <a:spcPct val="100000"/>
              </a:lnSpc>
              <a:spcAft>
                <a:spcPts val="0"/>
              </a:spcAft>
            </a:pPr>
            <a:r>
              <a:rPr sz="900" b="1" i="0">
                <a:solidFill>
                  <a:srgbClr val="00695C"/>
                </a:solidFill>
                <a:latin typeface="Calibri"/>
              </a:rPr>
              <a:t>MONDAY</a:t>
            </a:r>
          </a:p>
        </p:txBody>
      </p:sp>
      <p:sp>
        <p:nvSpPr>
          <p:cNvPr id="18" name="TextBox 17"/>
          <p:cNvSpPr txBox="1"/>
          <p:nvPr/>
        </p:nvSpPr>
        <p:spPr>
          <a:xfrm>
            <a:off x="694944" y="2359152"/>
            <a:ext cx="230954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Physicians</a:t>
            </a:r>
          </a:p>
        </p:txBody>
      </p:sp>
      <p:sp>
        <p:nvSpPr>
          <p:cNvPr id="19" name="TextBox 18"/>
          <p:cNvSpPr txBox="1"/>
          <p:nvPr/>
        </p:nvSpPr>
        <p:spPr>
          <a:xfrm>
            <a:off x="694944" y="2777947"/>
            <a:ext cx="2309545" cy="1340511"/>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Put one guideline you argue about into NotebookLM; query it instead of remembering it.</a:t>
            </a:r>
          </a:p>
        </p:txBody>
      </p:sp>
      <p:sp>
        <p:nvSpPr>
          <p:cNvPr id="20" name="Rounded Rectangle 19"/>
          <p:cNvSpPr/>
          <p:nvPr/>
        </p:nvSpPr>
        <p:spPr>
          <a:xfrm>
            <a:off x="3379393" y="2011680"/>
            <a:ext cx="260215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525697" y="2139696"/>
            <a:ext cx="2309545" cy="228600"/>
          </a:xfrm>
          <a:prstGeom prst="rect">
            <a:avLst/>
          </a:prstGeom>
          <a:noFill/>
        </p:spPr>
        <p:txBody>
          <a:bodyPr wrap="square" anchor="t" lIns="0" rIns="0" tIns="0" bIns="0"/>
          <a:lstStyle/>
          <a:p>
            <a:pPr algn="l">
              <a:lnSpc>
                <a:spcPct val="100000"/>
              </a:lnSpc>
              <a:spcAft>
                <a:spcPts val="0"/>
              </a:spcAft>
            </a:pPr>
            <a:r>
              <a:rPr sz="900" b="1" i="0">
                <a:solidFill>
                  <a:srgbClr val="00695C"/>
                </a:solidFill>
                <a:latin typeface="Calibri"/>
              </a:rPr>
              <a:t>MONDAY</a:t>
            </a:r>
          </a:p>
        </p:txBody>
      </p:sp>
      <p:sp>
        <p:nvSpPr>
          <p:cNvPr id="22" name="TextBox 21"/>
          <p:cNvSpPr txBox="1"/>
          <p:nvPr/>
        </p:nvSpPr>
        <p:spPr>
          <a:xfrm>
            <a:off x="3525697" y="2359152"/>
            <a:ext cx="230954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Nurses</a:t>
            </a:r>
          </a:p>
        </p:txBody>
      </p:sp>
      <p:sp>
        <p:nvSpPr>
          <p:cNvPr id="23" name="TextBox 22"/>
          <p:cNvSpPr txBox="1"/>
          <p:nvPr/>
        </p:nvSpPr>
        <p:spPr>
          <a:xfrm>
            <a:off x="3525697" y="2777947"/>
            <a:ext cx="2309545" cy="1340511"/>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Draft a parent-facing explanation of one procedure at a reading level your families actually use.</a:t>
            </a:r>
          </a:p>
        </p:txBody>
      </p:sp>
      <p:sp>
        <p:nvSpPr>
          <p:cNvPr id="24" name="Rounded Rectangle 23"/>
          <p:cNvSpPr/>
          <p:nvPr/>
        </p:nvSpPr>
        <p:spPr>
          <a:xfrm>
            <a:off x="6210147" y="2011680"/>
            <a:ext cx="260215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56451" y="2139696"/>
            <a:ext cx="2309545" cy="228600"/>
          </a:xfrm>
          <a:prstGeom prst="rect">
            <a:avLst/>
          </a:prstGeom>
          <a:noFill/>
        </p:spPr>
        <p:txBody>
          <a:bodyPr wrap="square" anchor="t" lIns="0" rIns="0" tIns="0" bIns="0"/>
          <a:lstStyle/>
          <a:p>
            <a:pPr algn="l">
              <a:lnSpc>
                <a:spcPct val="100000"/>
              </a:lnSpc>
              <a:spcAft>
                <a:spcPts val="0"/>
              </a:spcAft>
            </a:pPr>
            <a:r>
              <a:rPr sz="900" b="1" i="0">
                <a:solidFill>
                  <a:srgbClr val="00695C"/>
                </a:solidFill>
                <a:latin typeface="Calibri"/>
              </a:rPr>
              <a:t>MONDAY</a:t>
            </a:r>
          </a:p>
        </p:txBody>
      </p:sp>
      <p:sp>
        <p:nvSpPr>
          <p:cNvPr id="26" name="TextBox 25"/>
          <p:cNvSpPr txBox="1"/>
          <p:nvPr/>
        </p:nvSpPr>
        <p:spPr>
          <a:xfrm>
            <a:off x="6356451" y="2359152"/>
            <a:ext cx="2309545" cy="329184"/>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Pharmacists</a:t>
            </a:r>
          </a:p>
        </p:txBody>
      </p:sp>
      <p:sp>
        <p:nvSpPr>
          <p:cNvPr id="27" name="TextBox 26"/>
          <p:cNvSpPr txBox="1"/>
          <p:nvPr/>
        </p:nvSpPr>
        <p:spPr>
          <a:xfrm>
            <a:off x="6356451" y="2777947"/>
            <a:ext cx="2309545" cy="1340511"/>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Turn one dosing protocol into an interactive artifact; see if it catches the recurring error.</a:t>
            </a:r>
          </a:p>
        </p:txBody>
      </p:sp>
      <p:sp>
        <p:nvSpPr>
          <p:cNvPr id="28" name="Rounded Rectangle 27"/>
          <p:cNvSpPr/>
          <p:nvPr/>
        </p:nvSpPr>
        <p:spPr>
          <a:xfrm>
            <a:off x="9040901" y="2011680"/>
            <a:ext cx="2602153" cy="219456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87205" y="2139696"/>
            <a:ext cx="2309545" cy="228600"/>
          </a:xfrm>
          <a:prstGeom prst="rect">
            <a:avLst/>
          </a:prstGeom>
          <a:noFill/>
        </p:spPr>
        <p:txBody>
          <a:bodyPr wrap="square" anchor="t" lIns="0" rIns="0" tIns="0" bIns="0"/>
          <a:lstStyle/>
          <a:p>
            <a:pPr algn="l">
              <a:lnSpc>
                <a:spcPct val="100000"/>
              </a:lnSpc>
              <a:spcAft>
                <a:spcPts val="0"/>
              </a:spcAft>
            </a:pPr>
            <a:r>
              <a:rPr sz="900" b="1" i="0">
                <a:solidFill>
                  <a:srgbClr val="00695C"/>
                </a:solidFill>
                <a:latin typeface="Calibri"/>
              </a:rPr>
              <a:t>MONDAY</a:t>
            </a:r>
          </a:p>
        </p:txBody>
      </p:sp>
      <p:sp>
        <p:nvSpPr>
          <p:cNvPr id="30" name="TextBox 29"/>
          <p:cNvSpPr txBox="1"/>
          <p:nvPr/>
        </p:nvSpPr>
        <p:spPr>
          <a:xfrm>
            <a:off x="9187205" y="2359152"/>
            <a:ext cx="2309545" cy="658368"/>
          </a:xfrm>
          <a:prstGeom prst="rect">
            <a:avLst/>
          </a:prstGeom>
          <a:noFill/>
        </p:spPr>
        <p:txBody>
          <a:bodyPr wrap="square" anchor="t" lIns="0" rIns="0" tIns="0" bIns="0"/>
          <a:lstStyle/>
          <a:p>
            <a:pPr algn="l">
              <a:lnSpc>
                <a:spcPct val="100000"/>
              </a:lnSpc>
              <a:spcAft>
                <a:spcPts val="0"/>
              </a:spcAft>
            </a:pPr>
            <a:r>
              <a:rPr sz="1700" b="1" i="0">
                <a:solidFill>
                  <a:srgbClr val="1B2A4A"/>
                </a:solidFill>
                <a:latin typeface="Calibri"/>
              </a:rPr>
              <a:t>Data managers &amp; researchers</a:t>
            </a:r>
          </a:p>
        </p:txBody>
      </p:sp>
      <p:sp>
        <p:nvSpPr>
          <p:cNvPr id="31" name="TextBox 30"/>
          <p:cNvSpPr txBox="1"/>
          <p:nvPr/>
        </p:nvSpPr>
        <p:spPr>
          <a:xfrm>
            <a:off x="9187205" y="3151022"/>
            <a:ext cx="2309545" cy="967436"/>
          </a:xfrm>
          <a:prstGeom prst="rect">
            <a:avLst/>
          </a:prstGeom>
          <a:noFill/>
        </p:spPr>
        <p:txBody>
          <a:bodyPr wrap="square" anchor="t" lIns="0" rIns="0" tIns="0" bIns="0"/>
          <a:lstStyle/>
          <a:p>
            <a:pPr algn="l">
              <a:lnSpc>
                <a:spcPct val="112000"/>
              </a:lnSpc>
              <a:spcAft>
                <a:spcPts val="300"/>
              </a:spcAft>
            </a:pPr>
            <a:r>
              <a:rPr sz="1400" b="0" i="0">
                <a:solidFill>
                  <a:srgbClr val="607D8B"/>
                </a:solidFill>
                <a:latin typeface="Calibri"/>
              </a:rPr>
              <a:t>Hand a de-identified extract to a model and ask for the table-one you keep postponing.</a:t>
            </a:r>
          </a:p>
        </p:txBody>
      </p:sp>
      <p:sp>
        <p:nvSpPr>
          <p:cNvPr id="32" name="Rounded Rectangle 31"/>
          <p:cNvSpPr/>
          <p:nvPr/>
        </p:nvSpPr>
        <p:spPr>
          <a:xfrm>
            <a:off x="548640" y="4434840"/>
            <a:ext cx="11094415" cy="5486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48640" y="4434840"/>
            <a:ext cx="73152" cy="54864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7240" y="4434840"/>
            <a:ext cx="10774375" cy="54864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Skills today. Lives tomorrow. The pictures are drawings. The Monday task is real.</a:t>
            </a:r>
          </a:p>
        </p:txBody>
      </p:sp>
      <p:sp>
        <p:nvSpPr>
          <p:cNvPr id="35" name="Rounded Rectangle 34"/>
          <p:cNvSpPr/>
          <p:nvPr/>
        </p:nvSpPr>
        <p:spPr>
          <a:xfrm>
            <a:off x="548640" y="5971032"/>
            <a:ext cx="11094415" cy="329184"/>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lnSpc>
                <a:spcPct val="115000"/>
              </a:lnSpc>
              <a:spcAft>
                <a:spcPts val="400"/>
              </a:spcAft>
            </a:pPr>
            <a:r>
              <a:rPr sz="1200" b="1" i="0">
                <a:solidFill>
                  <a:srgbClr val="C62828"/>
                </a:solidFill>
                <a:latin typeface="Calibri"/>
              </a:rPr>
              <a:t>Everyone — never paste patient-identifiable data into a consumer AI tool.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66928"/>
            <a:ext cx="12191695" cy="4572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siop-2026-icon.png"/>
          <p:cNvPicPr>
            <a:picLocks noChangeAspect="1"/>
          </p:cNvPicPr>
          <p:nvPr/>
        </p:nvPicPr>
        <p:blipFill>
          <a:blip r:embed="rId2"/>
          <a:stretch>
            <a:fillRect/>
          </a:stretch>
        </p:blipFill>
        <p:spPr>
          <a:xfrm>
            <a:off x="548640" y="91440"/>
            <a:ext cx="384048" cy="384048"/>
          </a:xfrm>
          <a:prstGeom prst="rect">
            <a:avLst/>
          </a:prstGeom>
        </p:spPr>
      </p:pic>
      <p:sp>
        <p:nvSpPr>
          <p:cNvPr id="5" name="TextBox 4"/>
          <p:cNvSpPr txBox="1"/>
          <p:nvPr/>
        </p:nvSpPr>
        <p:spPr>
          <a:xfrm>
            <a:off x="1024128" y="45720"/>
            <a:ext cx="4572000" cy="274320"/>
          </a:xfrm>
          <a:prstGeom prst="rect">
            <a:avLst/>
          </a:prstGeom>
          <a:noFill/>
        </p:spPr>
        <p:txBody>
          <a:bodyPr wrap="square" anchor="t" lIns="0" rIns="0" tIns="0" bIns="0"/>
          <a:lstStyle/>
          <a:p>
            <a:pPr algn="l">
              <a:lnSpc>
                <a:spcPct val="100000"/>
              </a:lnSpc>
              <a:spcAft>
                <a:spcPts val="0"/>
              </a:spcAft>
            </a:pPr>
            <a:r>
              <a:rPr sz="1400" b="1" i="0">
                <a:solidFill>
                  <a:srgbClr val="FFFFFF"/>
                </a:solidFill>
                <a:latin typeface="Calibri"/>
              </a:rPr>
              <a:t>AI at the Bedside</a:t>
            </a:r>
          </a:p>
        </p:txBody>
      </p:sp>
      <p:sp>
        <p:nvSpPr>
          <p:cNvPr id="6" name="TextBox 5"/>
          <p:cNvSpPr txBox="1"/>
          <p:nvPr/>
        </p:nvSpPr>
        <p:spPr>
          <a:xfrm>
            <a:off x="1024128" y="292608"/>
            <a:ext cx="4572000" cy="228600"/>
          </a:xfrm>
          <a:prstGeom prst="rect">
            <a:avLst/>
          </a:prstGeom>
          <a:noFill/>
        </p:spPr>
        <p:txBody>
          <a:bodyPr wrap="square" anchor="t" lIns="0" rIns="0" tIns="0" bIns="0"/>
          <a:lstStyle/>
          <a:p>
            <a:pPr algn="l">
              <a:lnSpc>
                <a:spcPct val="100000"/>
              </a:lnSpc>
              <a:spcAft>
                <a:spcPts val="0"/>
              </a:spcAft>
            </a:pPr>
            <a:r>
              <a:rPr sz="800" b="1" i="0">
                <a:solidFill>
                  <a:srgbClr val="FFC20E"/>
                </a:solidFill>
                <a:latin typeface="Calibri"/>
              </a:rPr>
              <a:t>SIOP 2026 · GLOBAL HEALTH SESSION · KHCC</a:t>
            </a:r>
          </a:p>
        </p:txBody>
      </p:sp>
      <p:sp>
        <p:nvSpPr>
          <p:cNvPr id="7" name="TextBox 6"/>
          <p:cNvSpPr txBox="1"/>
          <p:nvPr/>
        </p:nvSpPr>
        <p:spPr>
          <a:xfrm>
            <a:off x="7985455" y="128016"/>
            <a:ext cx="3657600" cy="310896"/>
          </a:xfrm>
          <a:prstGeom prst="rect">
            <a:avLst/>
          </a:prstGeom>
          <a:noFill/>
        </p:spPr>
        <p:txBody>
          <a:bodyPr wrap="square" anchor="ctr" lIns="0" rIns="0" tIns="0" bIns="0"/>
          <a:lstStyle/>
          <a:p>
            <a:pPr algn="r">
              <a:lnSpc>
                <a:spcPct val="100000"/>
              </a:lnSpc>
              <a:spcAft>
                <a:spcPts val="0"/>
              </a:spcAft>
            </a:pPr>
            <a:r>
              <a:rPr sz="1100" b="1" i="0">
                <a:solidFill>
                  <a:srgbClr val="FFFFFF"/>
                </a:solidFill>
                <a:latin typeface="Calibri"/>
              </a:rPr>
              <a:t>COMPANION SESSIONS</a:t>
            </a:r>
          </a:p>
        </p:txBody>
      </p:sp>
      <p:sp>
        <p:nvSpPr>
          <p:cNvPr id="8" name="Rounded Rectangle 7"/>
          <p:cNvSpPr/>
          <p:nvPr/>
        </p:nvSpPr>
        <p:spPr>
          <a:xfrm>
            <a:off x="11222431" y="658368"/>
            <a:ext cx="822960" cy="347472"/>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204143" y="713232"/>
            <a:ext cx="859536" cy="237744"/>
          </a:xfrm>
          <a:prstGeom prst="rect">
            <a:avLst/>
          </a:prstGeom>
          <a:noFill/>
        </p:spPr>
        <p:txBody>
          <a:bodyPr wrap="none" anchor="ctr" lIns="0" rIns="0" tIns="0" bIns="0"/>
          <a:lstStyle/>
          <a:p>
            <a:pPr algn="ctr"/>
            <a:fld id="{b4c8f6e2-dd9c-4ce0-af4a-f5bac7b0c5ea}" type="datetime9">
              <a:rPr lang="en-US" sz="1400" b="1" dirty="0" smtClean="0">
                <a:solidFill>
                  <a:srgbClr val="21409A"/>
                </a:solidFill>
                <a:latin typeface="Calibri"/>
              </a:rPr>
              <a:t>1:04 AM</a:t>
            </a:fld>
          </a:p>
        </p:txBody>
      </p:sp>
      <p:sp>
        <p:nvSpPr>
          <p:cNvPr id="10" name="TextBox 9"/>
          <p:cNvSpPr txBox="1"/>
          <p:nvPr/>
        </p:nvSpPr>
        <p:spPr>
          <a:xfrm>
            <a:off x="548640" y="6492240"/>
            <a:ext cx="5486400" cy="256032"/>
          </a:xfrm>
          <a:prstGeom prst="rect">
            <a:avLst/>
          </a:prstGeom>
          <a:noFill/>
        </p:spPr>
        <p:txBody>
          <a:bodyPr wrap="square" anchor="t" lIns="0" rIns="0" tIns="0" bIns="0"/>
          <a:lstStyle/>
          <a:p>
            <a:pPr algn="l">
              <a:lnSpc>
                <a:spcPct val="100000"/>
              </a:lnSpc>
              <a:spcAft>
                <a:spcPts val="0"/>
              </a:spcAft>
            </a:pPr>
            <a:r>
              <a:rPr sz="900" b="0" i="0">
                <a:solidFill>
                  <a:srgbClr val="90A4AE"/>
                </a:solidFill>
                <a:latin typeface="Calibri"/>
              </a:rPr>
              <a:t>aibedside.io  ·  https://iyadsultan.github.io/AIBedside.io/</a:t>
            </a:r>
          </a:p>
        </p:txBody>
      </p:sp>
      <p:sp>
        <p:nvSpPr>
          <p:cNvPr id="11" name="TextBox 10"/>
          <p:cNvSpPr txBox="1"/>
          <p:nvPr/>
        </p:nvSpPr>
        <p:spPr>
          <a:xfrm>
            <a:off x="10271455" y="6492240"/>
            <a:ext cx="1371600" cy="256032"/>
          </a:xfrm>
          <a:prstGeom prst="rect">
            <a:avLst/>
          </a:prstGeom>
          <a:noFill/>
        </p:spPr>
        <p:txBody>
          <a:bodyPr wrap="square" anchor="t" lIns="0" rIns="0" tIns="0" bIns="0"/>
          <a:lstStyle/>
          <a:p>
            <a:pPr algn="r">
              <a:lnSpc>
                <a:spcPct val="100000"/>
              </a:lnSpc>
              <a:spcAft>
                <a:spcPts val="0"/>
              </a:spcAft>
            </a:pPr>
            <a:r>
              <a:rPr sz="900" b="0" i="0">
                <a:solidFill>
                  <a:srgbClr val="90A4AE"/>
                </a:solidFill>
                <a:latin typeface="Calibri"/>
              </a:rPr>
              <a:t>87</a:t>
            </a:r>
          </a:p>
        </p:txBody>
      </p:sp>
      <p:sp>
        <p:nvSpPr>
          <p:cNvPr id="12" name="TextBox 11"/>
          <p:cNvSpPr txBox="1"/>
          <p:nvPr/>
        </p:nvSpPr>
        <p:spPr>
          <a:xfrm>
            <a:off x="548640" y="941832"/>
            <a:ext cx="11094415" cy="256032"/>
          </a:xfrm>
          <a:prstGeom prst="rect">
            <a:avLst/>
          </a:prstGeom>
          <a:noFill/>
        </p:spPr>
        <p:txBody>
          <a:bodyPr wrap="square" anchor="t" lIns="0" rIns="0" tIns="0" bIns="0"/>
          <a:lstStyle/>
          <a:p>
            <a:pPr algn="l">
              <a:lnSpc>
                <a:spcPct val="100000"/>
              </a:lnSpc>
              <a:spcAft>
                <a:spcPts val="0"/>
              </a:spcAft>
            </a:pPr>
            <a:r>
              <a:rPr sz="1100" b="1" i="0">
                <a:solidFill>
                  <a:srgbClr val="607D8B"/>
                </a:solidFill>
                <a:latin typeface="Calibri"/>
              </a:rPr>
              <a:t>THE 30 MINUTES THAT FOLLOW THE CORE HOUR</a:t>
            </a:r>
          </a:p>
        </p:txBody>
      </p:sp>
      <p:sp>
        <p:nvSpPr>
          <p:cNvPr id="13" name="TextBox 12"/>
          <p:cNvSpPr txBox="1"/>
          <p:nvPr/>
        </p:nvSpPr>
        <p:spPr>
          <a:xfrm>
            <a:off x="548640" y="1234440"/>
            <a:ext cx="11094415" cy="548640"/>
          </a:xfrm>
          <a:prstGeom prst="rect">
            <a:avLst/>
          </a:prstGeom>
          <a:noFill/>
        </p:spPr>
        <p:txBody>
          <a:bodyPr wrap="square" anchor="t" lIns="0" rIns="0" tIns="0" bIns="0"/>
          <a:lstStyle/>
          <a:p>
            <a:pPr algn="l">
              <a:lnSpc>
                <a:spcPct val="100000"/>
              </a:lnSpc>
              <a:spcAft>
                <a:spcPts val="0"/>
              </a:spcAft>
            </a:pPr>
            <a:r>
              <a:rPr sz="3000" b="1" i="0">
                <a:solidFill>
                  <a:srgbClr val="21409A"/>
                </a:solidFill>
                <a:latin typeface="Calibri"/>
              </a:rPr>
              <a:t>Companion sessions</a:t>
            </a:r>
          </a:p>
        </p:txBody>
      </p:sp>
      <p:sp>
        <p:nvSpPr>
          <p:cNvPr id="14" name="Rounded Rectangle 13"/>
          <p:cNvSpPr/>
          <p:nvPr/>
        </p:nvSpPr>
        <p:spPr>
          <a:xfrm>
            <a:off x="548640" y="2011680"/>
            <a:ext cx="5410047" cy="164592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139696"/>
            <a:ext cx="5117439" cy="228600"/>
          </a:xfrm>
          <a:prstGeom prst="rect">
            <a:avLst/>
          </a:prstGeom>
          <a:noFill/>
        </p:spPr>
        <p:txBody>
          <a:bodyPr wrap="square" anchor="t" lIns="0" rIns="0" tIns="0" bIns="0"/>
          <a:lstStyle/>
          <a:p>
            <a:pPr algn="l">
              <a:lnSpc>
                <a:spcPct val="100000"/>
              </a:lnSpc>
              <a:spcAft>
                <a:spcPts val="0"/>
              </a:spcAft>
            </a:pPr>
            <a:r>
              <a:rPr sz="900" b="1" i="0">
                <a:solidFill>
                  <a:srgbClr val="F4511E"/>
                </a:solidFill>
                <a:latin typeface="Calibri"/>
              </a:rPr>
              <a:t>01:00 – 01:15</a:t>
            </a:r>
          </a:p>
        </p:txBody>
      </p:sp>
      <p:sp>
        <p:nvSpPr>
          <p:cNvPr id="16" name="TextBox 15"/>
          <p:cNvSpPr txBox="1"/>
          <p:nvPr/>
        </p:nvSpPr>
        <p:spPr>
          <a:xfrm>
            <a:off x="694944" y="2359152"/>
            <a:ext cx="5117439"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Precision medicine tool for all — Capricorn</a:t>
            </a:r>
          </a:p>
        </p:txBody>
      </p:sp>
      <p:sp>
        <p:nvSpPr>
          <p:cNvPr id="17" name="Rounded Rectangle 16"/>
          <p:cNvSpPr/>
          <p:nvPr/>
        </p:nvSpPr>
        <p:spPr>
          <a:xfrm>
            <a:off x="6233007" y="2011680"/>
            <a:ext cx="5410047" cy="1645920"/>
          </a:xfrm>
          <a:prstGeom prst="roundRect">
            <a:avLst>
              <a:gd name="adj" fmla="val 6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79311" y="2139696"/>
            <a:ext cx="5117439" cy="228600"/>
          </a:xfrm>
          <a:prstGeom prst="rect">
            <a:avLst/>
          </a:prstGeom>
          <a:noFill/>
        </p:spPr>
        <p:txBody>
          <a:bodyPr wrap="square" anchor="t" lIns="0" rIns="0" tIns="0" bIns="0"/>
          <a:lstStyle/>
          <a:p>
            <a:pPr algn="l">
              <a:lnSpc>
                <a:spcPct val="100000"/>
              </a:lnSpc>
              <a:spcAft>
                <a:spcPts val="0"/>
              </a:spcAft>
            </a:pPr>
            <a:r>
              <a:rPr sz="900" b="1" i="0">
                <a:solidFill>
                  <a:srgbClr val="F4511E"/>
                </a:solidFill>
                <a:latin typeface="Calibri"/>
              </a:rPr>
              <a:t>01:15 – 01:30</a:t>
            </a:r>
          </a:p>
        </p:txBody>
      </p:sp>
      <p:sp>
        <p:nvSpPr>
          <p:cNvPr id="19" name="TextBox 18"/>
          <p:cNvSpPr txBox="1"/>
          <p:nvPr/>
        </p:nvSpPr>
        <p:spPr>
          <a:xfrm>
            <a:off x="6379311" y="2359152"/>
            <a:ext cx="5117439" cy="329184"/>
          </a:xfrm>
          <a:prstGeom prst="rect">
            <a:avLst/>
          </a:prstGeom>
          <a:noFill/>
        </p:spPr>
        <p:txBody>
          <a:bodyPr wrap="square" anchor="t" lIns="0" rIns="0" tIns="0" bIns="0"/>
          <a:lstStyle/>
          <a:p>
            <a:pPr algn="l">
              <a:lnSpc>
                <a:spcPct val="100000"/>
              </a:lnSpc>
              <a:spcAft>
                <a:spcPts val="0"/>
              </a:spcAft>
            </a:pPr>
            <a:r>
              <a:rPr sz="1800" b="1" i="0">
                <a:solidFill>
                  <a:srgbClr val="1B2A4A"/>
                </a:solidFill>
                <a:latin typeface="Calibri"/>
              </a:rPr>
              <a:t>Q&amp;A with an AI avatar</a:t>
            </a:r>
          </a:p>
        </p:txBody>
      </p:sp>
      <p:sp>
        <p:nvSpPr>
          <p:cNvPr id="20" name="TextBox 19"/>
          <p:cNvSpPr txBox="1"/>
          <p:nvPr/>
        </p:nvSpPr>
        <p:spPr>
          <a:xfrm>
            <a:off x="6379311" y="2799892"/>
            <a:ext cx="5117439" cy="769926"/>
          </a:xfrm>
          <a:prstGeom prst="rect">
            <a:avLst/>
          </a:prstGeom>
          <a:noFill/>
        </p:spPr>
        <p:txBody>
          <a:bodyPr wrap="square" anchor="t" lIns="0" rIns="0" tIns="0" bIns="0"/>
          <a:lstStyle/>
          <a:p>
            <a:pPr algn="l">
              <a:lnSpc>
                <a:spcPct val="112000"/>
              </a:lnSpc>
              <a:spcAft>
                <a:spcPts val="300"/>
              </a:spcAft>
            </a:pPr>
            <a:r>
              <a:rPr sz="1300" b="0" i="0">
                <a:solidFill>
                  <a:srgbClr val="607D8B"/>
                </a:solidFill>
                <a:latin typeface="Calibri"/>
              </a:rPr>
              <a:t>An AI avatar of Uri Ilan (Princess Máxima), moderated by Jorge Campos — answers the room and is itself the closing demonstration.</a:t>
            </a:r>
          </a:p>
        </p:txBody>
      </p:sp>
      <p:sp>
        <p:nvSpPr>
          <p:cNvPr id="21" name="Rounded Rectangle 20"/>
          <p:cNvSpPr/>
          <p:nvPr/>
        </p:nvSpPr>
        <p:spPr>
          <a:xfrm>
            <a:off x="548640" y="3931920"/>
            <a:ext cx="11094415" cy="5486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3931920"/>
            <a:ext cx="73152" cy="548640"/>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3931920"/>
            <a:ext cx="10774375" cy="548640"/>
          </a:xfrm>
          <a:prstGeom prst="rect">
            <a:avLst/>
          </a:prstGeom>
          <a:noFill/>
        </p:spPr>
        <p:txBody>
          <a:bodyPr wrap="square" anchor="ctr" lIns="54864" rIns="54864" tIns="54864" bIns="54864"/>
          <a:lstStyle/>
          <a:p>
            <a:pPr algn="l">
              <a:lnSpc>
                <a:spcPct val="115000"/>
              </a:lnSpc>
              <a:spcAft>
                <a:spcPts val="400"/>
              </a:spcAft>
            </a:pPr>
            <a:r>
              <a:rPr sz="1400" b="0" i="0">
                <a:solidFill>
                  <a:srgbClr val="1B2A4A"/>
                </a:solidFill>
                <a:latin typeface="Calibri"/>
              </a:rPr>
              <a:t>Confirm likeness approval; rehearse on venue AV and network; keep a pre-recorded fallback.</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4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48272"/>
            <a:ext cx="12191695" cy="109728"/>
          </a:xfrm>
          <a:prstGeom prst="rect">
            <a:avLst/>
          </a:prstGeom>
          <a:solidFill>
            <a:srgbClr val="EC0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914400"/>
            <a:ext cx="6858000" cy="365760"/>
          </a:xfrm>
          <a:prstGeom prst="rect">
            <a:avLst/>
          </a:prstGeom>
          <a:noFill/>
        </p:spPr>
        <p:txBody>
          <a:bodyPr wrap="square" anchor="t" lIns="0" rIns="0" tIns="0" bIns="0"/>
          <a:lstStyle/>
          <a:p>
            <a:pPr algn="l">
              <a:lnSpc>
                <a:spcPct val="115000"/>
              </a:lnSpc>
              <a:spcAft>
                <a:spcPts val="400"/>
              </a:spcAft>
            </a:pPr>
            <a:r>
              <a:rPr sz="1300" b="1" i="0">
                <a:solidFill>
                  <a:srgbClr val="FFC20E"/>
                </a:solidFill>
                <a:latin typeface="Calibri"/>
              </a:rPr>
              <a:t>AIBEDSIDE.IO — THE COMPANION SITE</a:t>
            </a:r>
          </a:p>
        </p:txBody>
      </p:sp>
      <p:sp>
        <p:nvSpPr>
          <p:cNvPr id="5" name="TextBox 4"/>
          <p:cNvSpPr txBox="1"/>
          <p:nvPr/>
        </p:nvSpPr>
        <p:spPr>
          <a:xfrm>
            <a:off x="548640" y="1371600"/>
            <a:ext cx="6858000" cy="1828800"/>
          </a:xfrm>
          <a:prstGeom prst="rect">
            <a:avLst/>
          </a:prstGeom>
          <a:noFill/>
        </p:spPr>
        <p:txBody>
          <a:bodyPr wrap="square" anchor="t" lIns="0" rIns="0" tIns="0" bIns="0"/>
          <a:lstStyle/>
          <a:p>
            <a:pPr algn="l">
              <a:lnSpc>
                <a:spcPct val="105000"/>
              </a:lnSpc>
              <a:spcAft>
                <a:spcPts val="400"/>
              </a:spcAft>
            </a:pPr>
            <a:r>
              <a:rPr sz="4000" b="1" i="0">
                <a:solidFill>
                  <a:srgbClr val="FFFFFF"/>
                </a:solidFill>
                <a:latin typeface="Calibri"/>
              </a:rPr>
              <a:t>Every demo in this deck is runnable at home.</a:t>
            </a:r>
          </a:p>
        </p:txBody>
      </p:sp>
      <p:sp>
        <p:nvSpPr>
          <p:cNvPr id="6" name="TextBox 5"/>
          <p:cNvSpPr txBox="1"/>
          <p:nvPr/>
        </p:nvSpPr>
        <p:spPr>
          <a:xfrm>
            <a:off x="548640" y="3291840"/>
            <a:ext cx="6858000" cy="2194560"/>
          </a:xfrm>
          <a:prstGeom prst="rect">
            <a:avLst/>
          </a:prstGeom>
          <a:noFill/>
        </p:spPr>
        <p:txBody>
          <a:bodyPr wrap="square" lIns="73152" rIns="73152" tIns="73152" bIns="73152"/>
          <a:lstStyle/>
          <a:p>
            <a:pPr marL="256032" indent="-256032">
              <a:lnSpc>
                <a:spcPct val="112000"/>
              </a:lnSpc>
              <a:spcAft>
                <a:spcPts val="800"/>
              </a:spcAft>
              <a:buClr>
                <a:srgbClr val="FFC20E"/>
              </a:buClr>
              <a:buFont typeface="Arial"/>
              <a:buChar char="•"/>
            </a:pPr>
            <a:r>
              <a:rPr sz="1600" b="0" i="0">
                <a:solidFill>
                  <a:srgbClr val="FFFFFF"/>
                </a:solidFill>
                <a:latin typeface="Calibri"/>
              </a:rPr>
              <a:t>The four .skill files, the PRD, the CLAUDE.md folder, the wiki, and the governance brief.</a:t>
            </a:r>
          </a:p>
          <a:p>
            <a:pPr marL="256032" indent="-256032">
              <a:lnSpc>
                <a:spcPct val="112000"/>
              </a:lnSpc>
              <a:spcAft>
                <a:spcPts val="800"/>
              </a:spcAft>
              <a:buClr>
                <a:srgbClr val="FFC20E"/>
              </a:buClr>
              <a:buFont typeface="Arial"/>
              <a:buChar char="•"/>
            </a:pPr>
            <a:r>
              <a:rPr sz="1600" b="0" i="0">
                <a:solidFill>
                  <a:srgbClr val="FFFFFF"/>
                </a:solidFill>
                <a:latin typeface="Calibri"/>
              </a:rPr>
              <a:t>The live demos: prompt builder, Haiku with and without MCP, Bonsai in the browser.</a:t>
            </a:r>
          </a:p>
          <a:p>
            <a:pPr marL="256032" indent="-256032">
              <a:lnSpc>
                <a:spcPct val="112000"/>
              </a:lnSpc>
              <a:spcAft>
                <a:spcPts val="800"/>
              </a:spcAft>
              <a:buClr>
                <a:srgbClr val="FFC20E"/>
              </a:buClr>
              <a:buFont typeface="Arial"/>
              <a:buChar char="•"/>
            </a:pPr>
            <a:r>
              <a:rPr sz="1600" b="0" i="0">
                <a:solidFill>
                  <a:srgbClr val="FFFFFF"/>
                </a:solidFill>
                <a:latin typeface="Calibri"/>
              </a:rPr>
              <a:t>The closing page is the handout — Save as PDF.</a:t>
            </a:r>
          </a:p>
        </p:txBody>
      </p:sp>
      <p:sp>
        <p:nvSpPr>
          <p:cNvPr id="7" name="TextBox 6"/>
          <p:cNvSpPr txBox="1"/>
          <p:nvPr/>
        </p:nvSpPr>
        <p:spPr>
          <a:xfrm>
            <a:off x="548640" y="5669280"/>
            <a:ext cx="7315200" cy="457200"/>
          </a:xfrm>
          <a:prstGeom prst="rect">
            <a:avLst/>
          </a:prstGeom>
          <a:noFill/>
        </p:spPr>
        <p:txBody>
          <a:bodyPr wrap="square" anchor="t" lIns="0" rIns="0" tIns="0" bIns="0"/>
          <a:lstStyle/>
          <a:p>
            <a:pPr algn="l">
              <a:lnSpc>
                <a:spcPct val="115000"/>
              </a:lnSpc>
              <a:spcAft>
                <a:spcPts val="400"/>
              </a:spcAft>
            </a:pPr>
            <a:r>
              <a:rPr sz="1600" b="0" i="0">
                <a:solidFill>
                  <a:srgbClr val="C5D3EE"/>
                </a:solidFill>
                <a:latin typeface="Consolas"/>
              </a:rPr>
              <a:t>https://iyadsultan.github.io/AIBedside.io/</a:t>
            </a:r>
          </a:p>
        </p:txBody>
      </p:sp>
      <p:sp>
        <p:nvSpPr>
          <p:cNvPr id="8" name="Rounded Rectangle 7"/>
          <p:cNvSpPr/>
          <p:nvPr/>
        </p:nvSpPr>
        <p:spPr>
          <a:xfrm>
            <a:off x="8396935" y="1280160"/>
            <a:ext cx="3383280"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r-home.png"/>
          <p:cNvPicPr>
            <a:picLocks noChangeAspect="1"/>
          </p:cNvPicPr>
          <p:nvPr/>
        </p:nvPicPr>
        <p:blipFill>
          <a:blip r:embed="rId2"/>
          <a:stretch>
            <a:fillRect/>
          </a:stretch>
        </p:blipFill>
        <p:spPr>
          <a:xfrm>
            <a:off x="8534095" y="1417320"/>
            <a:ext cx="3108960" cy="3108960"/>
          </a:xfrm>
          <a:prstGeom prst="rect">
            <a:avLst/>
          </a:prstGeom>
        </p:spPr>
      </p:pic>
      <p:sp>
        <p:nvSpPr>
          <p:cNvPr id="10" name="TextBox 9"/>
          <p:cNvSpPr txBox="1"/>
          <p:nvPr/>
        </p:nvSpPr>
        <p:spPr>
          <a:xfrm>
            <a:off x="8534095" y="4572000"/>
            <a:ext cx="3108960" cy="438912"/>
          </a:xfrm>
          <a:prstGeom prst="rect">
            <a:avLst/>
          </a:prstGeom>
          <a:noFill/>
        </p:spPr>
        <p:txBody>
          <a:bodyPr wrap="square" anchor="t" lIns="0" rIns="0" tIns="0" bIns="0"/>
          <a:lstStyle/>
          <a:p>
            <a:pPr algn="ctr">
              <a:lnSpc>
                <a:spcPct val="115000"/>
              </a:lnSpc>
              <a:spcAft>
                <a:spcPts val="400"/>
              </a:spcAft>
            </a:pPr>
            <a:r>
              <a:rPr sz="1300" b="1" i="0">
                <a:solidFill>
                  <a:srgbClr val="1B2A4A"/>
                </a:solidFill>
                <a:latin typeface="Calibri"/>
              </a:rPr>
              <a:t>Scan to open the site.
Save to your home screen.</a:t>
            </a:r>
          </a:p>
        </p:txBody>
      </p:sp>
      <p:sp>
        <p:nvSpPr>
          <p:cNvPr id="11" name="TextBox 10"/>
          <p:cNvSpPr txBox="1"/>
          <p:nvPr/>
        </p:nvSpPr>
        <p:spPr>
          <a:xfrm>
            <a:off x="8534095" y="5010912"/>
            <a:ext cx="3108960" cy="256032"/>
          </a:xfrm>
          <a:prstGeom prst="rect">
            <a:avLst/>
          </a:prstGeom>
          <a:noFill/>
        </p:spPr>
        <p:txBody>
          <a:bodyPr wrap="none" anchor="ctr" lIns="0" rIns="0" tIns="0" bIns="0"/>
          <a:lstStyle/>
          <a:p>
            <a:pPr algn="ctr"/>
            <a:fld id="{e5d80cc9-2f5f-49e5-86eb-d2995fbf21ae}" type="datetime9">
              <a:rPr lang="en-US" sz="1600" b="1" dirty="0" smtClean="0">
                <a:solidFill>
                  <a:srgbClr val="21409A"/>
                </a:solidFill>
                <a:latin typeface="Calibri"/>
              </a:rPr>
              <a:t>1:04 AM</a:t>
            </a:fld>
          </a:p>
        </p:txBody>
      </p:sp>
      <p:sp>
        <p:nvSpPr>
          <p:cNvPr id="12" name="TextBox 11"/>
          <p:cNvSpPr txBox="1"/>
          <p:nvPr/>
        </p:nvSpPr>
        <p:spPr>
          <a:xfrm>
            <a:off x="548640" y="6309360"/>
            <a:ext cx="8229600" cy="320040"/>
          </a:xfrm>
          <a:prstGeom prst="rect">
            <a:avLst/>
          </a:prstGeom>
          <a:noFill/>
        </p:spPr>
        <p:txBody>
          <a:bodyPr wrap="square" anchor="t" lIns="0" rIns="0" tIns="0" bIns="0"/>
          <a:lstStyle/>
          <a:p>
            <a:pPr algn="l">
              <a:lnSpc>
                <a:spcPct val="115000"/>
              </a:lnSpc>
              <a:spcAft>
                <a:spcPts val="400"/>
              </a:spcAft>
            </a:pPr>
            <a:r>
              <a:rPr sz="1100" b="0" i="0">
                <a:solidFill>
                  <a:srgbClr val="C5D3EE"/>
                </a:solidFill>
                <a:latin typeface="Calibri"/>
              </a:rPr>
              <a:t>Iyad Sultan, MD · King Hussein Cancer Center · SIOP 2026, San Antonio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